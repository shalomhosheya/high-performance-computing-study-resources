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300" r:id="rId12"/>
    <p:sldId id="293" r:id="rId13"/>
    <p:sldId id="295" r:id="rId14"/>
    <p:sldId id="294" r:id="rId15"/>
    <p:sldId id="298" r:id="rId16"/>
    <p:sldId id="299" r:id="rId17"/>
    <p:sldId id="301" r:id="rId18"/>
    <p:sldId id="302" r:id="rId19"/>
    <p:sldId id="303" r:id="rId20"/>
    <p:sldId id="296" r:id="rId21"/>
    <p:sldId id="297" r:id="rId22"/>
    <p:sldId id="283" r:id="rId23"/>
  </p:sldIdLst>
  <p:sldSz cx="12192000" cy="6858000"/>
  <p:notesSz cx="6797675" cy="9926638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8CF475-34CE-4AF9-BFC0-AADEC6D930FD}">
          <p14:sldIdLst>
            <p14:sldId id="256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300"/>
            <p14:sldId id="293"/>
            <p14:sldId id="295"/>
            <p14:sldId id="294"/>
            <p14:sldId id="298"/>
            <p14:sldId id="299"/>
            <p14:sldId id="301"/>
            <p14:sldId id="302"/>
            <p14:sldId id="303"/>
            <p14:sldId id="296"/>
            <p14:sldId id="297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098">
          <p15:clr>
            <a:srgbClr val="A4A3A4"/>
          </p15:clr>
        </p15:guide>
        <p15:guide id="3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B18"/>
    <a:srgbClr val="FEE814"/>
    <a:srgbClr val="660066"/>
    <a:srgbClr val="CC0099"/>
    <a:srgbClr val="200029"/>
    <a:srgbClr val="1A0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FBB5D5-04C5-4D43-AA32-F72DF2B3E2F5}" v="6" dt="2022-11-21T02:13:44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97" autoAdjust="0"/>
    <p:restoredTop sz="91379" autoAdjust="0"/>
  </p:normalViewPr>
  <p:slideViewPr>
    <p:cSldViewPr>
      <p:cViewPr varScale="1">
        <p:scale>
          <a:sx n="114" d="100"/>
          <a:sy n="114" d="100"/>
        </p:scale>
        <p:origin x="204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76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406" y="-90"/>
      </p:cViewPr>
      <p:guideLst>
        <p:guide orient="horz" pos="3126"/>
        <p:guide pos="2098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14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911" y="0"/>
            <a:ext cx="2946144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164"/>
            <a:ext cx="294614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DFF9B02-B511-41B7-B86E-BB5F034020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052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14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911" y="0"/>
            <a:ext cx="2946144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164"/>
            <a:ext cx="294614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C91629A-89CF-4C2C-9865-CC6C32D549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8705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27381" y="2512922"/>
            <a:ext cx="10363200" cy="1470025"/>
          </a:xfrm>
        </p:spPr>
        <p:txBody>
          <a:bodyPr/>
          <a:lstStyle>
            <a:lvl1pPr algn="l">
              <a:defRPr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7381" y="4268688"/>
            <a:ext cx="8534400" cy="1752600"/>
          </a:xfrm>
        </p:spPr>
        <p:txBody>
          <a:bodyPr/>
          <a:lstStyle>
            <a:lvl1pPr marL="0" indent="0" algn="l">
              <a:buFontTx/>
              <a:buNone/>
              <a:defRPr baseline="0">
                <a:solidFill>
                  <a:srgbClr val="FFC000"/>
                </a:solidFill>
                <a:latin typeface="Rockwell" pitchFamily="18" charset="0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158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690" y="188639"/>
            <a:ext cx="7063769" cy="576064"/>
          </a:xfrm>
        </p:spPr>
        <p:txBody>
          <a:bodyPr/>
          <a:lstStyle>
            <a:lvl1pPr>
              <a:defRPr sz="2800" baseline="0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350" y="1052737"/>
            <a:ext cx="11713301" cy="56166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1542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800"/>
            </a:lvl2pPr>
            <a:lvl3pPr marL="914355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4" indent="0">
              <a:buNone/>
              <a:defRPr sz="1400"/>
            </a:lvl7pPr>
            <a:lvl8pPr marL="3200240" indent="0">
              <a:buNone/>
              <a:defRPr sz="1400"/>
            </a:lvl8pPr>
            <a:lvl9pPr marL="3657418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873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17" y="1940981"/>
            <a:ext cx="1123315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1800" y="2852248"/>
            <a:ext cx="5513917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8934" y="2852248"/>
            <a:ext cx="551603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27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13913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774390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414149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2774390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3414149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58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748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30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7" y="1594874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59488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7" y="275693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9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604803"/>
            <a:ext cx="7315200" cy="3122777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5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4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6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65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38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58267" y="990603"/>
            <a:ext cx="2806700" cy="5462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1800" y="990603"/>
            <a:ext cx="8223251" cy="5462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258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60126"/>
            <a:ext cx="10515600" cy="637198"/>
          </a:xfrm>
        </p:spPr>
        <p:txBody>
          <a:bodyPr anchor="b">
            <a:noAutofit/>
          </a:bodyPr>
          <a:lstStyle>
            <a:lvl1pPr>
              <a:defRPr sz="2700" b="1" i="0" cap="none" normalizeH="0" baseline="0">
                <a:solidFill>
                  <a:srgbClr val="000000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4163"/>
            <a:ext cx="10515600" cy="4532801"/>
          </a:xfrm>
        </p:spPr>
        <p:txBody>
          <a:bodyPr/>
          <a:lstStyle>
            <a:lvl1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2594" y="6356351"/>
            <a:ext cx="47068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levelaccess.com   </a:t>
            </a:r>
            <a:r>
              <a:rPr lang="en-US" b="1"/>
              <a:t> </a:t>
            </a:r>
            <a:r>
              <a:rPr lang="en-US" b="1">
                <a:solidFill>
                  <a:srgbClr val="5CD344"/>
                </a:solidFill>
              </a:rPr>
              <a:t>|</a:t>
            </a:r>
            <a:r>
              <a:rPr lang="en-US" b="1">
                <a:solidFill>
                  <a:srgbClr val="00D81A"/>
                </a:solidFill>
              </a:rPr>
              <a:t> </a:t>
            </a:r>
            <a:r>
              <a:rPr lang="en-US" b="1"/>
              <a:t>   </a:t>
            </a:r>
            <a:r>
              <a:rPr lang="en-US"/>
              <a:t>(</a:t>
            </a:r>
            <a:r>
              <a:rPr lang="de-DE"/>
              <a:t>800) 899-9659    </a:t>
            </a:r>
            <a:r>
              <a:rPr lang="en-US" b="1">
                <a:solidFill>
                  <a:srgbClr val="5CD344"/>
                </a:solidFill>
              </a:rPr>
              <a:t>|</a:t>
            </a:r>
            <a:r>
              <a:rPr lang="en-US"/>
              <a:t>    info@levelaccess.com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0EA8A-DA75-3443-B9EE-A63E33F4F2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10"/>
          </p:nvPr>
        </p:nvSpPr>
        <p:spPr>
          <a:xfrm>
            <a:off x="838200" y="1107373"/>
            <a:ext cx="10515600" cy="369276"/>
          </a:xfrm>
        </p:spPr>
        <p:txBody>
          <a:bodyPr anchor="ctr"/>
          <a:lstStyle>
            <a:lvl1pPr marL="0" indent="0" algn="l">
              <a:buNone/>
              <a:defRPr sz="1800" b="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 descr="Level Access Logo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05537" y="6302169"/>
            <a:ext cx="1048265" cy="419306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718038" y="1474177"/>
            <a:ext cx="10755927" cy="45719"/>
          </a:xfrm>
          <a:prstGeom prst="rect">
            <a:avLst/>
          </a:prstGeom>
          <a:solidFill>
            <a:srgbClr val="5DD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371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5906"/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953"/>
              <a:t>Body Level One</a:t>
            </a:r>
          </a:p>
          <a:p>
            <a:pPr lvl="1">
              <a:defRPr sz="1800"/>
            </a:pPr>
            <a:r>
              <a:rPr sz="2953"/>
              <a:t>Body Level Two</a:t>
            </a:r>
          </a:p>
          <a:p>
            <a:pPr lvl="2">
              <a:defRPr sz="1800"/>
            </a:pPr>
            <a:r>
              <a:rPr sz="2953"/>
              <a:t>Body Level Three</a:t>
            </a:r>
          </a:p>
          <a:p>
            <a:pPr lvl="3">
              <a:defRPr sz="1800"/>
            </a:pPr>
            <a:r>
              <a:rPr sz="2953"/>
              <a:t>Body Level Four</a:t>
            </a:r>
          </a:p>
          <a:p>
            <a:pPr lvl="4">
              <a:defRPr sz="1800"/>
            </a:pPr>
            <a:r>
              <a:rPr sz="2953"/>
              <a:t>Body Level Five</a:t>
            </a:r>
          </a:p>
        </p:txBody>
      </p:sp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720595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17" y="1628801"/>
            <a:ext cx="11233151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4" r:id="rId12"/>
    <p:sldLayoutId id="2147483985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5pPr>
      <a:lvl6pPr marL="457178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6pPr>
      <a:lvl7pPr marL="914355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7pPr>
      <a:lvl8pPr marL="1371532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9pPr>
    </p:titleStyle>
    <p:bodyStyle>
      <a:lvl1pPr marL="342884" indent="-34288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6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944" indent="-228588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120" indent="-228588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297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474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652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829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006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kumimoji="1" lang="en-GB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6CS005 High Performance Computing</a:t>
            </a:r>
            <a:endParaRPr lang="en-GB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/>
              <a:t>Week 9A </a:t>
            </a:r>
            <a:r>
              <a:rPr lang="en-GB" dirty="0"/>
              <a:t>More OpenMP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98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1041-74CD-4F49-BD3C-23B46621A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0" y="188639"/>
            <a:ext cx="7063769" cy="576064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Averaging Program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4576D5-A7C8-4D59-AA51-C90227568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424" y="1052737"/>
            <a:ext cx="7279916" cy="5616625"/>
          </a:xfr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270A83-E25F-4F23-85BF-6BBE0A3DD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152" y="3933056"/>
            <a:ext cx="457793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744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348BE81-7575-43DA-AEAD-AECD9F376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0" y="188639"/>
            <a:ext cx="7063769" cy="576064"/>
          </a:xfrm>
        </p:spPr>
        <p:txBody>
          <a:bodyPr/>
          <a:lstStyle/>
          <a:p>
            <a:r>
              <a:rPr lang="en-US" dirty="0"/>
              <a:t>OpenMP Averaging Program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DFEC41-9AB4-4F81-AFD8-ADB6A14A29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432" y="1052737"/>
            <a:ext cx="6939502" cy="5616625"/>
          </a:xfr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0D42E9-E54C-4ADE-9DE8-F556CB3F6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0" y="3217168"/>
            <a:ext cx="5392575" cy="82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097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4D106-0800-4193-9A0E-566E46A09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happen?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7886-38B9-40B0-BF7E-44520860B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thread tries to update the shared variable </a:t>
            </a:r>
            <a:r>
              <a:rPr lang="en-GB" i="1" dirty="0"/>
              <a:t>average</a:t>
            </a:r>
            <a:r>
              <a:rPr lang="en-GB" dirty="0"/>
              <a:t> at the same time creating a race condition</a:t>
            </a:r>
          </a:p>
          <a:p>
            <a:r>
              <a:rPr lang="en-GB" dirty="0"/>
              <a:t>Can be solved with a critical section but this slows down the execution</a:t>
            </a:r>
          </a:p>
          <a:p>
            <a:r>
              <a:rPr lang="en-GB" dirty="0"/>
              <a:t>Faster solution is for each thread to create it's own copy of the variable </a:t>
            </a:r>
            <a:r>
              <a:rPr lang="en-GB" i="1" dirty="0"/>
              <a:t>average</a:t>
            </a:r>
            <a:r>
              <a:rPr lang="en-GB" dirty="0"/>
              <a:t> and then combine them all at the end</a:t>
            </a:r>
          </a:p>
          <a:p>
            <a:r>
              <a:rPr lang="en-GB" dirty="0"/>
              <a:t>This is called reduction</a:t>
            </a:r>
          </a:p>
        </p:txBody>
      </p:sp>
    </p:spTree>
    <p:extLst>
      <p:ext uri="{BB962C8B-B14F-4D97-AF65-F5344CB8AC3E}">
        <p14:creationId xmlns:p14="http://schemas.microsoft.com/office/powerpoint/2010/main" val="3118381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DA9C8-E60F-4601-9E95-370E7FB47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0" y="188639"/>
            <a:ext cx="7063769" cy="576064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OpenMP Reduction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8AFFE6-7BFB-421C-8E9F-42C5B706C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098" y="1052737"/>
            <a:ext cx="8290222" cy="5616625"/>
          </a:xfr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07C5FB-2CB5-48C9-AA6F-4F457ED7D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4" y="3068960"/>
            <a:ext cx="5846357" cy="92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7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960B-F65E-4541-B890-D878D9990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DE1CD-D5FD-46E2-BDA3-B738B6677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OpenMP reduction clause:  </a:t>
            </a:r>
          </a:p>
          <a:p>
            <a:pPr marL="457177" lvl="1" indent="0">
              <a:buNone/>
            </a:pPr>
            <a:r>
              <a:rPr lang="en-GB" dirty="0"/>
              <a:t>reduction (op : list)</a:t>
            </a:r>
          </a:p>
          <a:p>
            <a:r>
              <a:rPr lang="en-GB" dirty="0"/>
              <a:t>Inside a parallel or a work-sharing construct:</a:t>
            </a:r>
          </a:p>
          <a:p>
            <a:pPr lvl="1"/>
            <a:r>
              <a:rPr lang="en-GB" dirty="0"/>
              <a:t>A local copy of each list variable is made and initialized  depending on the “op” (e.g. 0 for “+”).</a:t>
            </a:r>
          </a:p>
          <a:p>
            <a:pPr lvl="1"/>
            <a:r>
              <a:rPr lang="en-GB" dirty="0"/>
              <a:t>Updates occur on the local copy.</a:t>
            </a:r>
          </a:p>
          <a:p>
            <a:pPr lvl="1"/>
            <a:r>
              <a:rPr lang="en-GB" dirty="0"/>
              <a:t>Local copies are reduced into a single value and  combined with the original global value.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7817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C5307-C9ED-48DF-8DE0-700754AF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OpenMP: Reduction operands/initial-values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F9A91-00AF-4F7E-9517-25B61CE14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016" y="1052737"/>
            <a:ext cx="5712635" cy="5616625"/>
          </a:xfrm>
        </p:spPr>
        <p:txBody>
          <a:bodyPr/>
          <a:lstStyle/>
          <a:p>
            <a:r>
              <a:rPr lang="en-GB" dirty="0"/>
              <a:t>Many different associative operands can be used with reduction - Initial values are the ones that make sense mathematically.</a:t>
            </a:r>
          </a:p>
          <a:p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E4BCA7-58BD-41FC-B080-B94968806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224482"/>
              </p:ext>
            </p:extLst>
          </p:nvPr>
        </p:nvGraphicFramePr>
        <p:xfrm>
          <a:off x="551384" y="1124744"/>
          <a:ext cx="5256584" cy="5040563"/>
        </p:xfrm>
        <a:graphic>
          <a:graphicData uri="http://schemas.openxmlformats.org/drawingml/2006/table">
            <a:tbl>
              <a:tblPr firstRow="1" bandRow="1"/>
              <a:tblGrid>
                <a:gridCol w="2269509">
                  <a:extLst>
                    <a:ext uri="{9D8B030D-6E8A-4147-A177-3AD203B41FA5}">
                      <a16:colId xmlns:a16="http://schemas.microsoft.com/office/drawing/2014/main" val="2978473984"/>
                    </a:ext>
                  </a:extLst>
                </a:gridCol>
                <a:gridCol w="2987075">
                  <a:extLst>
                    <a:ext uri="{9D8B030D-6E8A-4147-A177-3AD203B41FA5}">
                      <a16:colId xmlns:a16="http://schemas.microsoft.com/office/drawing/2014/main" val="2702750426"/>
                    </a:ext>
                  </a:extLst>
                </a:gridCol>
              </a:tblGrid>
              <a:tr h="4582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Initial value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790851"/>
                  </a:ext>
                </a:extLst>
              </a:tr>
              <a:tr h="4582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845734"/>
                  </a:ext>
                </a:extLst>
              </a:tr>
              <a:tr h="4582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52788"/>
                  </a:ext>
                </a:extLst>
              </a:tr>
              <a:tr h="4582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58010"/>
                  </a:ext>
                </a:extLst>
              </a:tr>
              <a:tr h="4582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min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Largest pos. number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19685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498728"/>
                  </a:ext>
                </a:extLst>
              </a:tr>
              <a:tr h="4582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Most neg. number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19685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014505"/>
                  </a:ext>
                </a:extLst>
              </a:tr>
              <a:tr h="4582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~0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19685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48409"/>
                  </a:ext>
                </a:extLst>
              </a:tr>
              <a:tr h="4582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|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19685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236456"/>
                  </a:ext>
                </a:extLst>
              </a:tr>
              <a:tr h="4582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^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19685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182193"/>
                  </a:ext>
                </a:extLst>
              </a:tr>
              <a:tr h="4582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&amp;&amp;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19685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992951"/>
                  </a:ext>
                </a:extLst>
              </a:tr>
              <a:tr h="4582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||</a:t>
                      </a:r>
                      <a:endParaRPr lang="en-GB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19685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767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073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B79D-47F7-4385-9A71-1552AA2EB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0" y="188639"/>
            <a:ext cx="7063769" cy="576064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Matrix Multiplication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9D282-D763-4AEC-A94E-4670923ED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079" y="1066470"/>
            <a:ext cx="7063768" cy="552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52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AC5E0-9CB9-4FA2-82AF-647AC897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0" y="188639"/>
            <a:ext cx="7063769" cy="576064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OpenMP Parallel For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28425-D163-4902-ADCB-C116827CB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1082447"/>
            <a:ext cx="6749973" cy="5626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112C65-64C7-46B3-9C17-D2BD65DD6343}"/>
              </a:ext>
            </a:extLst>
          </p:cNvPr>
          <p:cNvSpPr txBox="1"/>
          <p:nvPr/>
        </p:nvSpPr>
        <p:spPr>
          <a:xfrm>
            <a:off x="6600056" y="3625860"/>
            <a:ext cx="3743332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sz="2800" dirty="0"/>
              <a:t>Limited by size of loop</a:t>
            </a:r>
          </a:p>
        </p:txBody>
      </p:sp>
    </p:spTree>
    <p:extLst>
      <p:ext uri="{BB962C8B-B14F-4D97-AF65-F5344CB8AC3E}">
        <p14:creationId xmlns:p14="http://schemas.microsoft.com/office/powerpoint/2010/main" val="2883940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4FEB273-BF76-4335-A7E8-A9EC6A1DB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0" y="188639"/>
            <a:ext cx="7063769" cy="576064"/>
          </a:xfrm>
        </p:spPr>
        <p:txBody>
          <a:bodyPr/>
          <a:lstStyle/>
          <a:p>
            <a:r>
              <a:rPr lang="en-US" dirty="0"/>
              <a:t>Collapsing loops in OpenMP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7C0934-67DC-4A60-8382-666DD7ABA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1052737"/>
            <a:ext cx="6642637" cy="5616625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C306A4-228C-4926-8A05-591216DAAE74}"/>
              </a:ext>
            </a:extLst>
          </p:cNvPr>
          <p:cNvSpPr txBox="1"/>
          <p:nvPr/>
        </p:nvSpPr>
        <p:spPr>
          <a:xfrm>
            <a:off x="7375976" y="3284984"/>
            <a:ext cx="3544560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sz="2800" dirty="0"/>
              <a:t>Collapse the 3 loops </a:t>
            </a:r>
            <a:br>
              <a:rPr lang="en-GB" sz="2800" dirty="0"/>
            </a:br>
            <a:r>
              <a:rPr lang="en-GB" sz="2800" dirty="0"/>
              <a:t>into one internally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C0576C-DD7C-407A-B440-ADD8FF2ABB22}"/>
              </a:ext>
            </a:extLst>
          </p:cNvPr>
          <p:cNvSpPr txBox="1"/>
          <p:nvPr/>
        </p:nvSpPr>
        <p:spPr>
          <a:xfrm>
            <a:off x="4151784" y="386104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900181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42AC2-9260-5E8A-FC72-8A2D4600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Limitations of the "for" 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A672B-6163-58C1-4A60-5B2DBE445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Some 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GB"/>
              <a:t> loops cannot be parallelised.</a:t>
            </a:r>
          </a:p>
          <a:p>
            <a:r>
              <a:rPr lang="en-GB"/>
              <a:t>OpenMP can only parallelise 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GB"/>
              <a:t> loops that have pre-determined iterations</a:t>
            </a:r>
          </a:p>
          <a:p>
            <a:r>
              <a:rPr lang="en-GB"/>
              <a:t>It cannot work with 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GB"/>
              <a:t> loops that may terminate early, e.g.</a:t>
            </a:r>
          </a:p>
          <a:p>
            <a:pPr marL="400029" lvl="1" indent="0">
              <a:buNone/>
            </a:pPr>
            <a:r>
              <a:rPr lang="en-GB" sz="3200" b="1">
                <a:latin typeface="Courier New" panose="02070309020205020404" pitchFamily="49" charset="0"/>
                <a:cs typeface="Courier New" panose="02070309020205020404" pitchFamily="49" charset="0"/>
              </a:rPr>
              <a:t>for (i = 0; i &lt; n; i++) {</a:t>
            </a:r>
          </a:p>
          <a:p>
            <a:pPr marL="400029" lvl="1" indent="0">
              <a:buNone/>
            </a:pPr>
            <a:r>
              <a:rPr lang="en-GB" sz="3200" b="1">
                <a:latin typeface="Courier New" panose="02070309020205020404" pitchFamily="49" charset="0"/>
                <a:cs typeface="Courier New" panose="02070309020205020404" pitchFamily="49" charset="0"/>
              </a:rPr>
              <a:t>  if ( . . . ) break;</a:t>
            </a:r>
          </a:p>
          <a:p>
            <a:pPr marL="400029" lvl="1" indent="0">
              <a:buNone/>
            </a:pPr>
            <a:r>
              <a:rPr lang="en-GB" sz="3200" b="1">
                <a:latin typeface="Courier New" panose="02070309020205020404" pitchFamily="49" charset="0"/>
                <a:cs typeface="Courier New" panose="02070309020205020404" pitchFamily="49" charset="0"/>
              </a:rPr>
              <a:t>  . . .</a:t>
            </a:r>
          </a:p>
          <a:p>
            <a:pPr marL="400029" lvl="1" indent="0">
              <a:buNone/>
            </a:pPr>
            <a:r>
              <a:rPr lang="en-GB" sz="32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GB" sz="32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94519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7F6C-7670-411B-A846-70AE6531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 Simple 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9941A-C8EE-47AF-8E0C-65EC49B8D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Directly comparable to </a:t>
            </a:r>
            <a:r>
              <a:rPr lang="en-GB" dirty="0" err="1"/>
              <a:t>pthread</a:t>
            </a:r>
            <a:r>
              <a:rPr lang="en-GB" dirty="0"/>
              <a:t> mutexes:</a:t>
            </a:r>
          </a:p>
          <a:p>
            <a:pPr lvl="1"/>
            <a:r>
              <a:rPr lang="en-GB" dirty="0" err="1"/>
              <a:t>omp_init_lock</a:t>
            </a:r>
            <a:r>
              <a:rPr lang="en-GB" dirty="0"/>
              <a:t>() initializes a simple lock</a:t>
            </a:r>
          </a:p>
          <a:p>
            <a:pPr lvl="1"/>
            <a:r>
              <a:rPr lang="en-GB" dirty="0" err="1"/>
              <a:t>omp_destroy_lock</a:t>
            </a:r>
            <a:r>
              <a:rPr lang="en-GB" dirty="0"/>
              <a:t>() </a:t>
            </a:r>
            <a:r>
              <a:rPr lang="en-GB" dirty="0" err="1"/>
              <a:t>uninitializes</a:t>
            </a:r>
            <a:r>
              <a:rPr lang="en-GB" dirty="0"/>
              <a:t> a simple lock</a:t>
            </a:r>
          </a:p>
          <a:p>
            <a:pPr lvl="1"/>
            <a:r>
              <a:rPr lang="en-GB" dirty="0" err="1"/>
              <a:t>omp_set_lock</a:t>
            </a:r>
            <a:r>
              <a:rPr lang="en-GB" dirty="0"/>
              <a:t>() waits until a simple lock is available and then sets it</a:t>
            </a:r>
          </a:p>
          <a:p>
            <a:pPr lvl="1"/>
            <a:r>
              <a:rPr lang="en-GB" dirty="0" err="1"/>
              <a:t>omp_unset_lock</a:t>
            </a:r>
            <a:r>
              <a:rPr lang="en-GB" dirty="0"/>
              <a:t>() </a:t>
            </a:r>
            <a:r>
              <a:rPr lang="en-GB" dirty="0" err="1"/>
              <a:t>unsets</a:t>
            </a:r>
            <a:r>
              <a:rPr lang="en-GB" dirty="0"/>
              <a:t> a simple lock</a:t>
            </a:r>
          </a:p>
          <a:p>
            <a:pPr lvl="1"/>
            <a:r>
              <a:rPr lang="en-GB" dirty="0" err="1"/>
              <a:t>omp_test_lock</a:t>
            </a:r>
            <a:r>
              <a:rPr lang="en-GB" dirty="0"/>
              <a:t>() tests a simple lock and sets it if it is available</a:t>
            </a:r>
          </a:p>
          <a:p>
            <a:pPr lvl="1"/>
            <a:r>
              <a:rPr lang="en-GB" dirty="0" err="1"/>
              <a:t>omp_lock_t</a:t>
            </a:r>
            <a:r>
              <a:rPr lang="en-GB" dirty="0"/>
              <a:t> represents a simple lock type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5065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C201-1F8B-49D9-B413-160D23C1F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Pthread</a:t>
            </a:r>
            <a:r>
              <a:rPr lang="en-GB" dirty="0"/>
              <a:t> Mutex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7864CF-075D-45B4-BF66-24761900C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" y="1359550"/>
            <a:ext cx="5730087" cy="4229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4CFD17-F85B-44CC-AA64-D00ECF604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871" y="1375520"/>
            <a:ext cx="5215665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1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7731C-3CCF-4E24-88FD-82529FCAB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0" y="188639"/>
            <a:ext cx="7063769" cy="576064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OpenMP Equivalent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5F75E7-FA00-4841-9D12-7C9DE6D72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052736"/>
            <a:ext cx="8173591" cy="55157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45EC60-A2C8-47BF-8138-7E6B4562E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048" y="3501008"/>
            <a:ext cx="6130472" cy="198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907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3B4AE-AE12-5DD9-498C-79A71E529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OpenMP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CB253-2B9A-0C13-871B-B7DB4C92A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The OpenMP sections are a set of structured blocks that are to be distributed among and executed by the threads in a team. </a:t>
            </a:r>
          </a:p>
          <a:p>
            <a:r>
              <a:rPr lang="en-GB"/>
              <a:t>Each structured block is executed </a:t>
            </a:r>
            <a:r>
              <a:rPr lang="en-GB" b="1"/>
              <a:t>once</a:t>
            </a:r>
            <a:r>
              <a:rPr lang="en-GB"/>
              <a:t> by any one of the threads in the team</a:t>
            </a:r>
          </a:p>
        </p:txBody>
      </p:sp>
    </p:spTree>
    <p:extLst>
      <p:ext uri="{BB962C8B-B14F-4D97-AF65-F5344CB8AC3E}">
        <p14:creationId xmlns:p14="http://schemas.microsoft.com/office/powerpoint/2010/main" val="1137668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753D-BEA3-1162-B326-199140717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OpenMP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C24D8-05C5-E8AC-6C5B-8DA90082C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void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#pragma omp parallel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#pragma omp sections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 #pragma omp section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   printf ("Section 1 Thread ID = %d\n", omp_get_thread_num());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 #pragma omp section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   printf ("Section 2 Thread ID = %d\n", omp_get_thread_num());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 #pragma omp section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   printf ("Section 3 Thread ID = %d\n", omp_get_thread_num());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  }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83781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39817-0A3D-B489-25DF-91E3E24F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OpenMP master 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9E91-BE94-D304-3BC6-53E8D5258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4100"/>
              <a:t>The master directive denotes a structured block that is only executed by the master thread.</a:t>
            </a:r>
          </a:p>
          <a:p>
            <a:r>
              <a:rPr lang="en-GB" sz="4100"/>
              <a:t>The other threads just skip it </a:t>
            </a:r>
            <a:br>
              <a:rPr lang="en-GB"/>
            </a:br>
            <a:endParaRPr lang="en-GB"/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#pragma omp parallel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#pragma omp master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  printf ("Line 1 Thread ID = %d***\n", omp_get_thread_num()); 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printf ("Line 2 Thread ID = %d\n", omp_get_thread_num()); 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printf ("Line 3 Thread ID = %d\n", omp_get_thread_num()); 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printf ("Line 4 Thread ID = %d\n", omp_get_thread_num()); 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</a:p>
        </p:txBody>
      </p:sp>
    </p:spTree>
    <p:extLst>
      <p:ext uri="{BB962C8B-B14F-4D97-AF65-F5344CB8AC3E}">
        <p14:creationId xmlns:p14="http://schemas.microsoft.com/office/powerpoint/2010/main" val="1330625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39817-0A3D-B489-25DF-91E3E24F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OpenMP single 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9E91-BE94-D304-3BC6-53E8D5258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4100"/>
              <a:t>The single directive denotes a structured block that is only executed by just any one thread.</a:t>
            </a:r>
          </a:p>
          <a:p>
            <a:r>
              <a:rPr lang="en-GB" sz="4100"/>
              <a:t>A barrier is implied at the end of the "single" block</a:t>
            </a:r>
            <a:br>
              <a:rPr lang="en-GB"/>
            </a:br>
            <a:endParaRPr lang="en-GB"/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#pragma omp parallel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printf ("Line 1 Thread ID = %d\n", omp_get_thread_num()); 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#pragma omp single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  printf ("Line 2 Thread ID = %d***\n", omp_get_thread_num());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printf ("Line 3 Thread ID = %d\n", omp_get_thread_num()); 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  printf ("Line 4 Thread ID = %d\n", omp_get_thread_num()); </a:t>
            </a:r>
          </a:p>
          <a:p>
            <a:pPr marL="0" indent="0">
              <a:buNone/>
            </a:pPr>
            <a:r>
              <a:rPr lang="en-GB" sz="2900" b="1"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</a:p>
        </p:txBody>
      </p:sp>
    </p:spTree>
    <p:extLst>
      <p:ext uri="{BB962C8B-B14F-4D97-AF65-F5344CB8AC3E}">
        <p14:creationId xmlns:p14="http://schemas.microsoft.com/office/powerpoint/2010/main" val="1802088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AF5F-07AB-5E7C-E08F-534CD4B8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Common OpenMP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A008-6986-15D9-8C63-1D645DF98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void omp_set_num_threads(int num_threads)</a:t>
            </a:r>
          </a:p>
          <a:p>
            <a:pPr lvl="1"/>
            <a:r>
              <a:rPr lang="en-GB"/>
              <a:t>Sets the number of threads to be used in the next parallel block</a:t>
            </a:r>
          </a:p>
          <a:p>
            <a:r>
              <a:rPr lang="en-GB"/>
              <a:t>int omp_get_num_threads()</a:t>
            </a:r>
          </a:p>
          <a:p>
            <a:pPr lvl="1"/>
            <a:r>
              <a:rPr lang="en-GB"/>
              <a:t>Gets the current number of threads</a:t>
            </a:r>
          </a:p>
          <a:p>
            <a:r>
              <a:rPr lang="en-GB"/>
              <a:t>int omp_get_thread_num()</a:t>
            </a:r>
          </a:p>
          <a:p>
            <a:pPr lvl="1"/>
            <a:r>
              <a:rPr lang="en-GB"/>
              <a:t>Gets the current thread ID</a:t>
            </a:r>
          </a:p>
          <a:p>
            <a:r>
              <a:rPr lang="en-GB"/>
              <a:t>int omp_get_max_threads()</a:t>
            </a:r>
          </a:p>
          <a:p>
            <a:pPr lvl="1"/>
            <a:r>
              <a:rPr lang="en-GB"/>
              <a:t>Gets the maximum number of threads available</a:t>
            </a:r>
          </a:p>
          <a:p>
            <a:r>
              <a:rPr lang="en-GB"/>
              <a:t>int omp_get_num_procs()</a:t>
            </a:r>
          </a:p>
          <a:p>
            <a:pPr lvl="1"/>
            <a:r>
              <a:rPr lang="en-GB"/>
              <a:t>Gets the number of processors in the system</a:t>
            </a:r>
          </a:p>
          <a:p>
            <a:r>
              <a:rPr lang="en-GB"/>
              <a:t>int omp_in_parallel()</a:t>
            </a:r>
          </a:p>
          <a:p>
            <a:pPr lvl="1"/>
            <a:r>
              <a:rPr lang="en-GB"/>
              <a:t>Are we in an active parallel region?</a:t>
            </a:r>
          </a:p>
        </p:txBody>
      </p:sp>
    </p:spTree>
    <p:extLst>
      <p:ext uri="{BB962C8B-B14F-4D97-AF65-F5344CB8AC3E}">
        <p14:creationId xmlns:p14="http://schemas.microsoft.com/office/powerpoint/2010/main" val="1830916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17E74-7A75-FA21-5164-262ED1E2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OpenMP Pros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4AE87-7357-088E-B326-8DD156DF4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/>
              <a:t>Portable multithreading code.</a:t>
            </a:r>
          </a:p>
          <a:p>
            <a:r>
              <a:rPr lang="en-GB"/>
              <a:t>Data layout and decomposition is handled automatically by directives.</a:t>
            </a:r>
          </a:p>
          <a:p>
            <a:r>
              <a:rPr lang="en-GB"/>
              <a:t>Incremental parallelism: can work on one part of the program at one time, no dramatic change to code is needed.</a:t>
            </a:r>
          </a:p>
          <a:p>
            <a:r>
              <a:rPr lang="en-GB"/>
              <a:t>Unified code for both serial and parallel applications: OpenMP constructs are treated as comments when sequential compilers are used.</a:t>
            </a:r>
          </a:p>
          <a:p>
            <a:r>
              <a:rPr lang="en-GB"/>
              <a:t>Original (serial) code statements need not, in general, be modified when parallelized with OpenMP.</a:t>
            </a:r>
          </a:p>
          <a:p>
            <a:r>
              <a:rPr lang="en-GB"/>
              <a:t>Both coarse-grained and fine-grained parallelism are possible.</a:t>
            </a:r>
          </a:p>
          <a:p>
            <a:r>
              <a:rPr lang="en-GB"/>
              <a:t>Can be used on various accelerators such as GPGPU and FPGAs</a:t>
            </a:r>
          </a:p>
        </p:txBody>
      </p:sp>
    </p:spTree>
    <p:extLst>
      <p:ext uri="{BB962C8B-B14F-4D97-AF65-F5344CB8AC3E}">
        <p14:creationId xmlns:p14="http://schemas.microsoft.com/office/powerpoint/2010/main" val="7059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4E0D8-7C86-BFCC-A2B7-869E9B94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OpenMPI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1F134-7303-B3A7-036A-548008D0E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Risk of introducing difficult to debug synchronization bugs and race conditions.</a:t>
            </a:r>
          </a:p>
          <a:p>
            <a:r>
              <a:rPr lang="en-GB"/>
              <a:t>Only runs efficiently in shared-memory multiprocessor platforms.</a:t>
            </a:r>
          </a:p>
          <a:p>
            <a:r>
              <a:rPr lang="en-GB"/>
              <a:t>Requires a compiler that supports OpenMP.</a:t>
            </a:r>
          </a:p>
          <a:p>
            <a:r>
              <a:rPr lang="en-GB"/>
              <a:t>Scalability is limited by memory architecture.</a:t>
            </a:r>
          </a:p>
          <a:p>
            <a:r>
              <a:rPr lang="en-GB"/>
              <a:t>Reliable error handling is missing.</a:t>
            </a:r>
          </a:p>
          <a:p>
            <a:r>
              <a:rPr lang="en-GB"/>
              <a:t>Lacks fine-grained mechanisms to control thread-processor mapping.</a:t>
            </a:r>
          </a:p>
          <a:p>
            <a:r>
              <a:rPr lang="en-GB"/>
              <a:t>High chance of accidentally writing false sharing code.</a:t>
            </a:r>
          </a:p>
        </p:txBody>
      </p:sp>
    </p:spTree>
    <p:extLst>
      <p:ext uri="{BB962C8B-B14F-4D97-AF65-F5344CB8AC3E}">
        <p14:creationId xmlns:p14="http://schemas.microsoft.com/office/powerpoint/2010/main" val="3283701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2691FF-2F06-4AE6-9F21-6ED76FA9AC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End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B9D748A-B42E-4284-B700-E323C8A0F3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244208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Standard">
  <a:themeElements>
    <a:clrScheme name="uow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ow2">
      <a:majorFont>
        <a:latin typeface="Rockwel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ow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1061</Words>
  <Application>Microsoft Office PowerPoint</Application>
  <PresentationFormat>Widescreen</PresentationFormat>
  <Paragraphs>146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Arial Regular</vt:lpstr>
      <vt:lpstr>Calibri</vt:lpstr>
      <vt:lpstr>Courier New</vt:lpstr>
      <vt:lpstr>Helvetica</vt:lpstr>
      <vt:lpstr>Rockwell</vt:lpstr>
      <vt:lpstr>University Standard</vt:lpstr>
      <vt:lpstr>6CS005 High Performance Computing</vt:lpstr>
      <vt:lpstr>Averaging Program</vt:lpstr>
      <vt:lpstr>OpenMP Averaging Program</vt:lpstr>
      <vt:lpstr>What happen?</vt:lpstr>
      <vt:lpstr>OpenMP Reduction</vt:lpstr>
      <vt:lpstr>OpenMP Reduction</vt:lpstr>
      <vt:lpstr>OpenMP: Reduction operands/initial-values</vt:lpstr>
      <vt:lpstr>Matrix Multiplication</vt:lpstr>
      <vt:lpstr>OpenMP Parallel For</vt:lpstr>
      <vt:lpstr>Collapsing loops in OpenMP</vt:lpstr>
      <vt:lpstr>Limitations of the "for" directive</vt:lpstr>
      <vt:lpstr>OpenMP Simple Locks</vt:lpstr>
      <vt:lpstr>Pthread Mutex</vt:lpstr>
      <vt:lpstr>OpenMP Equivalent</vt:lpstr>
      <vt:lpstr>OpenMP Sections</vt:lpstr>
      <vt:lpstr>OpenMP Sections</vt:lpstr>
      <vt:lpstr>OpenMP master directive</vt:lpstr>
      <vt:lpstr>OpenMP single directive</vt:lpstr>
      <vt:lpstr>Common OpenMP Functions</vt:lpstr>
      <vt:lpstr>OpenMP Pros</vt:lpstr>
      <vt:lpstr>OpenMPI Cons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2020-10-20T01:36:00Z</dcterms:created>
  <dcterms:modified xsi:type="dcterms:W3CDTF">2022-11-21T02:13:55Z</dcterms:modified>
</cp:coreProperties>
</file>