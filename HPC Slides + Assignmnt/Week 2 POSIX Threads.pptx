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handoutMasterIdLst>
    <p:handoutMasterId r:id="rId36"/>
  </p:handoutMasterIdLst>
  <p:sldIdLst>
    <p:sldId id="256" r:id="rId2"/>
    <p:sldId id="291" r:id="rId3"/>
    <p:sldId id="329" r:id="rId4"/>
    <p:sldId id="275" r:id="rId5"/>
    <p:sldId id="276" r:id="rId6"/>
    <p:sldId id="293" r:id="rId7"/>
    <p:sldId id="278" r:id="rId8"/>
    <p:sldId id="277" r:id="rId9"/>
    <p:sldId id="294" r:id="rId10"/>
    <p:sldId id="279" r:id="rId11"/>
    <p:sldId id="420" r:id="rId12"/>
    <p:sldId id="280" r:id="rId13"/>
    <p:sldId id="421" r:id="rId14"/>
    <p:sldId id="281" r:id="rId15"/>
    <p:sldId id="282" r:id="rId16"/>
    <p:sldId id="419" r:id="rId17"/>
    <p:sldId id="295" r:id="rId18"/>
    <p:sldId id="296" r:id="rId19"/>
    <p:sldId id="297" r:id="rId20"/>
    <p:sldId id="298" r:id="rId21"/>
    <p:sldId id="299" r:id="rId22"/>
    <p:sldId id="300" r:id="rId23"/>
    <p:sldId id="301" r:id="rId24"/>
    <p:sldId id="422" r:id="rId25"/>
    <p:sldId id="303" r:id="rId26"/>
    <p:sldId id="304" r:id="rId27"/>
    <p:sldId id="305" r:id="rId28"/>
    <p:sldId id="423" r:id="rId29"/>
    <p:sldId id="314" r:id="rId30"/>
    <p:sldId id="414" r:id="rId31"/>
    <p:sldId id="416" r:id="rId32"/>
    <p:sldId id="418" r:id="rId33"/>
    <p:sldId id="283" r:id="rId34"/>
  </p:sldIdLst>
  <p:sldSz cx="12192000" cy="6858000"/>
  <p:notesSz cx="6797675" cy="9926638"/>
  <p:defaultTextStyle>
    <a:defPPr>
      <a:defRPr lang="en-GB"/>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2C8CF475-34CE-4AF9-BFC0-AADEC6D930FD}">
          <p14:sldIdLst>
            <p14:sldId id="256"/>
            <p14:sldId id="291"/>
            <p14:sldId id="329"/>
            <p14:sldId id="275"/>
            <p14:sldId id="276"/>
            <p14:sldId id="293"/>
            <p14:sldId id="278"/>
            <p14:sldId id="277"/>
            <p14:sldId id="294"/>
            <p14:sldId id="279"/>
            <p14:sldId id="420"/>
            <p14:sldId id="280"/>
            <p14:sldId id="421"/>
            <p14:sldId id="281"/>
            <p14:sldId id="282"/>
            <p14:sldId id="419"/>
            <p14:sldId id="295"/>
            <p14:sldId id="296"/>
            <p14:sldId id="297"/>
            <p14:sldId id="298"/>
            <p14:sldId id="299"/>
            <p14:sldId id="300"/>
            <p14:sldId id="301"/>
            <p14:sldId id="422"/>
            <p14:sldId id="303"/>
            <p14:sldId id="304"/>
            <p14:sldId id="305"/>
            <p14:sldId id="423"/>
            <p14:sldId id="314"/>
            <p14:sldId id="414"/>
            <p14:sldId id="416"/>
            <p14:sldId id="418"/>
            <p14:sldId id="283"/>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26">
          <p15:clr>
            <a:srgbClr val="A4A3A4"/>
          </p15:clr>
        </p15:guide>
        <p15:guide id="2" pos="2098">
          <p15:clr>
            <a:srgbClr val="A4A3A4"/>
          </p15:clr>
        </p15:guide>
        <p15:guide id="3" pos="21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CB18"/>
    <a:srgbClr val="FEE814"/>
    <a:srgbClr val="660066"/>
    <a:srgbClr val="CC0099"/>
    <a:srgbClr val="200029"/>
    <a:srgbClr val="1A00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2C341D-87B1-4EF9-8D24-4708072DEA6A}" v="987" dt="2022-11-07T08:54:45.9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069" autoAdjust="0"/>
    <p:restoredTop sz="79572" autoAdjust="0"/>
  </p:normalViewPr>
  <p:slideViewPr>
    <p:cSldViewPr>
      <p:cViewPr varScale="1">
        <p:scale>
          <a:sx n="51" d="100"/>
          <a:sy n="51" d="100"/>
        </p:scale>
        <p:origin x="1536" y="66"/>
      </p:cViewPr>
      <p:guideLst>
        <p:guide orient="horz" pos="2160"/>
        <p:guide pos="3840"/>
      </p:guideLst>
    </p:cSldViewPr>
  </p:slideViewPr>
  <p:outlineViewPr>
    <p:cViewPr>
      <p:scale>
        <a:sx n="33" d="100"/>
        <a:sy n="33" d="100"/>
      </p:scale>
      <p:origin x="0" y="17664"/>
    </p:cViewPr>
  </p:outlineViewPr>
  <p:notesTextViewPr>
    <p:cViewPr>
      <p:scale>
        <a:sx n="100" d="100"/>
        <a:sy n="100" d="100"/>
      </p:scale>
      <p:origin x="0" y="-3516"/>
    </p:cViewPr>
  </p:notesTextViewPr>
  <p:sorterViewPr>
    <p:cViewPr>
      <p:scale>
        <a:sx n="66" d="100"/>
        <a:sy n="66" d="100"/>
      </p:scale>
      <p:origin x="0" y="0"/>
    </p:cViewPr>
  </p:sorterViewPr>
  <p:notesViewPr>
    <p:cSldViewPr>
      <p:cViewPr varScale="1">
        <p:scale>
          <a:sx n="52" d="100"/>
          <a:sy n="52" d="100"/>
        </p:scale>
        <p:origin x="-2406" y="-90"/>
      </p:cViewPr>
      <p:guideLst>
        <p:guide orient="horz" pos="3126"/>
        <p:guide pos="2098"/>
        <p:guide pos="214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1" y="0"/>
            <a:ext cx="2946145" cy="496888"/>
          </a:xfrm>
          <a:prstGeom prst="rect">
            <a:avLst/>
          </a:prstGeom>
          <a:noFill/>
          <a:ln>
            <a:noFill/>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46083" name="Rectangle 3"/>
          <p:cNvSpPr>
            <a:spLocks noGrp="1" noChangeArrowheads="1"/>
          </p:cNvSpPr>
          <p:nvPr>
            <p:ph type="dt" sz="quarter" idx="1"/>
          </p:nvPr>
        </p:nvSpPr>
        <p:spPr bwMode="auto">
          <a:xfrm>
            <a:off x="3849911" y="0"/>
            <a:ext cx="2946144" cy="496888"/>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46084" name="Rectangle 4"/>
          <p:cNvSpPr>
            <a:spLocks noGrp="1" noChangeArrowheads="1"/>
          </p:cNvSpPr>
          <p:nvPr>
            <p:ph type="ftr" sz="quarter" idx="2"/>
          </p:nvPr>
        </p:nvSpPr>
        <p:spPr bwMode="auto">
          <a:xfrm>
            <a:off x="1" y="9428164"/>
            <a:ext cx="2946145" cy="496887"/>
          </a:xfrm>
          <a:prstGeom prst="rect">
            <a:avLst/>
          </a:prstGeom>
          <a:noFill/>
          <a:ln>
            <a:noFill/>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46085" name="Rectangle 5"/>
          <p:cNvSpPr>
            <a:spLocks noGrp="1" noChangeArrowheads="1"/>
          </p:cNvSpPr>
          <p:nvPr>
            <p:ph type="sldNum" sz="quarter" idx="3"/>
          </p:nvPr>
        </p:nvSpPr>
        <p:spPr bwMode="auto">
          <a:xfrm>
            <a:off x="3849911" y="9428164"/>
            <a:ext cx="2946144" cy="496887"/>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3DFF9B02-B511-41B7-B86E-BB5F03402011}" type="slidenum">
              <a:rPr lang="en-GB"/>
              <a:pPr>
                <a:defRPr/>
              </a:pPr>
              <a:t>‹#›</a:t>
            </a:fld>
            <a:endParaRPr lang="en-GB"/>
          </a:p>
        </p:txBody>
      </p:sp>
    </p:spTree>
    <p:extLst>
      <p:ext uri="{BB962C8B-B14F-4D97-AF65-F5344CB8AC3E}">
        <p14:creationId xmlns:p14="http://schemas.microsoft.com/office/powerpoint/2010/main" val="20000521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bwMode="auto">
          <a:xfrm>
            <a:off x="1" y="0"/>
            <a:ext cx="2946145" cy="496888"/>
          </a:xfrm>
          <a:prstGeom prst="rect">
            <a:avLst/>
          </a:prstGeom>
          <a:noFill/>
          <a:ln>
            <a:noFill/>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51203" name="Rectangle 3"/>
          <p:cNvSpPr>
            <a:spLocks noGrp="1" noChangeArrowheads="1"/>
          </p:cNvSpPr>
          <p:nvPr>
            <p:ph type="dt" idx="1"/>
          </p:nvPr>
        </p:nvSpPr>
        <p:spPr bwMode="auto">
          <a:xfrm>
            <a:off x="3849911" y="0"/>
            <a:ext cx="2946144" cy="496888"/>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14340" name="Rectangle 4"/>
          <p:cNvSpPr>
            <a:spLocks noGrp="1" noRot="1" noChangeAspect="1" noChangeArrowheads="1" noTextEdit="1"/>
          </p:cNvSpPr>
          <p:nvPr>
            <p:ph type="sldImg" idx="2"/>
          </p:nvPr>
        </p:nvSpPr>
        <p:spPr bwMode="auto">
          <a:xfrm>
            <a:off x="90488" y="744538"/>
            <a:ext cx="6616700"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5" name="Rectangle 5"/>
          <p:cNvSpPr>
            <a:spLocks noGrp="1" noChangeArrowheads="1"/>
          </p:cNvSpPr>
          <p:nvPr>
            <p:ph type="body" sz="quarter" idx="3"/>
          </p:nvPr>
        </p:nvSpPr>
        <p:spPr bwMode="auto">
          <a:xfrm>
            <a:off x="680254" y="4714876"/>
            <a:ext cx="5437168" cy="4467225"/>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51206" name="Rectangle 6"/>
          <p:cNvSpPr>
            <a:spLocks noGrp="1" noChangeArrowheads="1"/>
          </p:cNvSpPr>
          <p:nvPr>
            <p:ph type="ftr" sz="quarter" idx="4"/>
          </p:nvPr>
        </p:nvSpPr>
        <p:spPr bwMode="auto">
          <a:xfrm>
            <a:off x="1" y="9428164"/>
            <a:ext cx="2946145" cy="496887"/>
          </a:xfrm>
          <a:prstGeom prst="rect">
            <a:avLst/>
          </a:prstGeom>
          <a:noFill/>
          <a:ln>
            <a:noFill/>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51207" name="Rectangle 7"/>
          <p:cNvSpPr>
            <a:spLocks noGrp="1" noChangeArrowheads="1"/>
          </p:cNvSpPr>
          <p:nvPr>
            <p:ph type="sldNum" sz="quarter" idx="5"/>
          </p:nvPr>
        </p:nvSpPr>
        <p:spPr bwMode="auto">
          <a:xfrm>
            <a:off x="3849911" y="9428164"/>
            <a:ext cx="2946144" cy="496887"/>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8C91629A-89CF-4C2C-9865-CC6C32D5498C}" type="slidenum">
              <a:rPr lang="en-GB"/>
              <a:pPr>
                <a:defRPr/>
              </a:pPr>
              <a:t>‹#›</a:t>
            </a:fld>
            <a:endParaRPr lang="en-GB"/>
          </a:p>
        </p:txBody>
      </p:sp>
    </p:spTree>
    <p:extLst>
      <p:ext uri="{BB962C8B-B14F-4D97-AF65-F5344CB8AC3E}">
        <p14:creationId xmlns:p14="http://schemas.microsoft.com/office/powerpoint/2010/main" val="407887050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#include &lt;</a:t>
            </a:r>
            <a:r>
              <a:rPr lang="en-US" dirty="0" err="1"/>
              <a:t>pthread.h</a:t>
            </a:r>
            <a:r>
              <a:rPr lang="en-US" dirty="0"/>
              <a:t>&gt;</a:t>
            </a:r>
          </a:p>
          <a:p>
            <a:r>
              <a:rPr lang="en-US" dirty="0"/>
              <a:t>#include &lt;</a:t>
            </a:r>
            <a:r>
              <a:rPr lang="en-US" dirty="0" err="1"/>
              <a:t>semaphore.h</a:t>
            </a:r>
            <a:r>
              <a:rPr lang="en-US" dirty="0"/>
              <a:t>&gt;</a:t>
            </a:r>
          </a:p>
          <a:p>
            <a:r>
              <a:rPr lang="en-US" dirty="0"/>
              <a:t>#include &lt;</a:t>
            </a:r>
            <a:r>
              <a:rPr lang="en-US" dirty="0" err="1"/>
              <a:t>unistd.h</a:t>
            </a:r>
            <a:r>
              <a:rPr lang="en-US" dirty="0"/>
              <a:t>&gt;</a:t>
            </a:r>
          </a:p>
          <a:p>
            <a:r>
              <a:rPr lang="en-US" dirty="0"/>
              <a:t>#include &lt;</a:t>
            </a:r>
            <a:r>
              <a:rPr lang="en-US" dirty="0" err="1"/>
              <a:t>stdio.h</a:t>
            </a:r>
            <a:r>
              <a:rPr lang="en-US" dirty="0"/>
              <a:t>&gt;</a:t>
            </a:r>
          </a:p>
          <a:p>
            <a:endParaRPr lang="en-US" dirty="0"/>
          </a:p>
          <a:p>
            <a:r>
              <a:rPr lang="en-US" dirty="0"/>
              <a:t>int </a:t>
            </a:r>
            <a:r>
              <a:rPr lang="en-US" dirty="0" err="1"/>
              <a:t>threadcount</a:t>
            </a:r>
            <a:r>
              <a:rPr lang="en-US" dirty="0"/>
              <a:t>=5;</a:t>
            </a:r>
          </a:p>
          <a:p>
            <a:r>
              <a:rPr lang="en-US" dirty="0" err="1"/>
              <a:t>sem_t</a:t>
            </a:r>
            <a:r>
              <a:rPr lang="en-US" dirty="0"/>
              <a:t> </a:t>
            </a:r>
            <a:r>
              <a:rPr lang="en-US" dirty="0" err="1"/>
              <a:t>semaBarrier</a:t>
            </a:r>
            <a:r>
              <a:rPr lang="en-US" dirty="0"/>
              <a:t>; </a:t>
            </a:r>
          </a:p>
          <a:p>
            <a:r>
              <a:rPr lang="en-US" dirty="0" err="1"/>
              <a:t>sem_t</a:t>
            </a:r>
            <a:r>
              <a:rPr lang="en-US" dirty="0"/>
              <a:t> </a:t>
            </a:r>
            <a:r>
              <a:rPr lang="en-US" dirty="0" err="1"/>
              <a:t>semaCounter</a:t>
            </a:r>
            <a:r>
              <a:rPr lang="en-US" dirty="0"/>
              <a:t>; </a:t>
            </a:r>
          </a:p>
          <a:p>
            <a:endParaRPr lang="en-US" dirty="0"/>
          </a:p>
          <a:p>
            <a:r>
              <a:rPr lang="en-US" dirty="0"/>
              <a:t>void *</a:t>
            </a:r>
            <a:r>
              <a:rPr lang="en-US" dirty="0" err="1"/>
              <a:t>threadmain</a:t>
            </a:r>
            <a:r>
              <a:rPr lang="en-US" dirty="0"/>
              <a:t>(void *p)</a:t>
            </a:r>
          </a:p>
          <a:p>
            <a:r>
              <a:rPr lang="en-US" dirty="0"/>
              <a:t>{</a:t>
            </a:r>
          </a:p>
          <a:p>
            <a:r>
              <a:rPr lang="en-US" dirty="0"/>
              <a:t>    int </a:t>
            </a:r>
            <a:r>
              <a:rPr lang="en-US" dirty="0" err="1"/>
              <a:t>semaValue</a:t>
            </a:r>
            <a:r>
              <a:rPr lang="en-US" dirty="0"/>
              <a:t>;</a:t>
            </a:r>
          </a:p>
          <a:p>
            <a:r>
              <a:rPr lang="en-US" dirty="0"/>
              <a:t>    </a:t>
            </a:r>
            <a:r>
              <a:rPr lang="en-US" dirty="0" err="1"/>
              <a:t>usleep</a:t>
            </a:r>
            <a:r>
              <a:rPr lang="en-US" dirty="0"/>
              <a:t>((long)p * 100000);</a:t>
            </a:r>
          </a:p>
          <a:p>
            <a:r>
              <a:rPr lang="en-US" dirty="0"/>
              <a:t>    </a:t>
            </a:r>
            <a:r>
              <a:rPr lang="en-US" dirty="0" err="1"/>
              <a:t>printf</a:t>
            </a:r>
            <a:r>
              <a:rPr lang="en-US" dirty="0"/>
              <a:t>("Thread %</a:t>
            </a:r>
            <a:r>
              <a:rPr lang="en-US" dirty="0" err="1"/>
              <a:t>ld</a:t>
            </a:r>
            <a:r>
              <a:rPr lang="en-US" dirty="0"/>
              <a:t> reach barrier\n", p);</a:t>
            </a:r>
          </a:p>
          <a:p>
            <a:r>
              <a:rPr lang="en-US" dirty="0"/>
              <a:t>    </a:t>
            </a:r>
            <a:r>
              <a:rPr lang="en-US" dirty="0" err="1"/>
              <a:t>sem_post</a:t>
            </a:r>
            <a:r>
              <a:rPr lang="en-US" dirty="0"/>
              <a:t>(&amp;</a:t>
            </a:r>
            <a:r>
              <a:rPr lang="en-US" dirty="0" err="1"/>
              <a:t>semaCounter</a:t>
            </a:r>
            <a:r>
              <a:rPr lang="en-US" dirty="0"/>
              <a:t>);</a:t>
            </a:r>
          </a:p>
          <a:p>
            <a:r>
              <a:rPr lang="en-US" dirty="0"/>
              <a:t>    </a:t>
            </a:r>
            <a:r>
              <a:rPr lang="en-US" dirty="0" err="1"/>
              <a:t>sem_getvalue</a:t>
            </a:r>
            <a:r>
              <a:rPr lang="en-US" dirty="0"/>
              <a:t>(&amp;</a:t>
            </a:r>
            <a:r>
              <a:rPr lang="en-US" dirty="0" err="1"/>
              <a:t>semaCounter</a:t>
            </a:r>
            <a:r>
              <a:rPr lang="en-US" dirty="0"/>
              <a:t>, &amp;</a:t>
            </a:r>
            <a:r>
              <a:rPr lang="en-US" dirty="0" err="1"/>
              <a:t>semaValue</a:t>
            </a:r>
            <a:r>
              <a:rPr lang="en-US" dirty="0"/>
              <a:t>);</a:t>
            </a:r>
          </a:p>
          <a:p>
            <a:r>
              <a:rPr lang="en-US" dirty="0"/>
              <a:t>    if(</a:t>
            </a:r>
            <a:r>
              <a:rPr lang="en-US" dirty="0" err="1"/>
              <a:t>semaValue</a:t>
            </a:r>
            <a:r>
              <a:rPr lang="en-US" dirty="0"/>
              <a:t> == </a:t>
            </a:r>
            <a:r>
              <a:rPr lang="en-US" dirty="0" err="1"/>
              <a:t>threadcount</a:t>
            </a:r>
            <a:r>
              <a:rPr lang="en-US" dirty="0"/>
              <a:t>)</a:t>
            </a:r>
          </a:p>
          <a:p>
            <a:r>
              <a:rPr lang="en-US" dirty="0"/>
              <a:t>        for(int </a:t>
            </a:r>
            <a:r>
              <a:rPr lang="en-US" dirty="0" err="1"/>
              <a:t>i</a:t>
            </a:r>
            <a:r>
              <a:rPr lang="en-US" dirty="0"/>
              <a:t> =0; </a:t>
            </a:r>
            <a:r>
              <a:rPr lang="en-US" dirty="0" err="1"/>
              <a:t>i</a:t>
            </a:r>
            <a:r>
              <a:rPr lang="en-US" dirty="0"/>
              <a:t> &lt; </a:t>
            </a:r>
            <a:r>
              <a:rPr lang="en-US" dirty="0" err="1"/>
              <a:t>threadcount</a:t>
            </a:r>
            <a:r>
              <a:rPr lang="en-US" dirty="0"/>
              <a:t>; </a:t>
            </a:r>
            <a:r>
              <a:rPr lang="en-US" dirty="0" err="1"/>
              <a:t>i</a:t>
            </a:r>
            <a:r>
              <a:rPr lang="en-US" dirty="0"/>
              <a:t>++)</a:t>
            </a:r>
          </a:p>
          <a:p>
            <a:r>
              <a:rPr lang="en-US" dirty="0"/>
              <a:t>            </a:t>
            </a:r>
            <a:r>
              <a:rPr lang="en-US" dirty="0" err="1"/>
              <a:t>sem_post</a:t>
            </a:r>
            <a:r>
              <a:rPr lang="en-US" dirty="0"/>
              <a:t>(&amp;</a:t>
            </a:r>
            <a:r>
              <a:rPr lang="en-US" dirty="0" err="1"/>
              <a:t>semaBarrier</a:t>
            </a:r>
            <a:r>
              <a:rPr lang="en-US" dirty="0"/>
              <a:t>);</a:t>
            </a:r>
          </a:p>
          <a:p>
            <a:r>
              <a:rPr lang="en-US" dirty="0"/>
              <a:t>    else</a:t>
            </a:r>
          </a:p>
          <a:p>
            <a:r>
              <a:rPr lang="en-US" dirty="0"/>
              <a:t>        </a:t>
            </a:r>
            <a:r>
              <a:rPr lang="en-US" dirty="0" err="1"/>
              <a:t>sem_wait</a:t>
            </a:r>
            <a:r>
              <a:rPr lang="en-US" dirty="0"/>
              <a:t>(&amp;</a:t>
            </a:r>
            <a:r>
              <a:rPr lang="en-US" dirty="0" err="1"/>
              <a:t>semaBarrier</a:t>
            </a:r>
            <a:r>
              <a:rPr lang="en-US" dirty="0"/>
              <a:t>);</a:t>
            </a:r>
          </a:p>
          <a:p>
            <a:r>
              <a:rPr lang="en-US" dirty="0"/>
              <a:t>    </a:t>
            </a:r>
            <a:r>
              <a:rPr lang="en-US" dirty="0" err="1"/>
              <a:t>printf</a:t>
            </a:r>
            <a:r>
              <a:rPr lang="en-US" dirty="0"/>
              <a:t>("Thread %</a:t>
            </a:r>
            <a:r>
              <a:rPr lang="en-US" dirty="0" err="1"/>
              <a:t>ld</a:t>
            </a:r>
            <a:r>
              <a:rPr lang="en-US" dirty="0"/>
              <a:t> passed barrier\n", p);</a:t>
            </a:r>
          </a:p>
          <a:p>
            <a:r>
              <a:rPr lang="en-US" dirty="0"/>
              <a:t>    return NULL;</a:t>
            </a:r>
          </a:p>
          <a:p>
            <a:r>
              <a:rPr lang="en-US" dirty="0"/>
              <a:t>}</a:t>
            </a:r>
          </a:p>
          <a:p>
            <a:r>
              <a:rPr lang="en-US" dirty="0"/>
              <a:t>void main()</a:t>
            </a:r>
          </a:p>
          <a:p>
            <a:r>
              <a:rPr lang="en-US" dirty="0"/>
              <a:t>{</a:t>
            </a:r>
          </a:p>
          <a:p>
            <a:r>
              <a:rPr lang="en-US" dirty="0"/>
              <a:t>  </a:t>
            </a:r>
            <a:r>
              <a:rPr lang="en-US" dirty="0" err="1"/>
              <a:t>pthread_t</a:t>
            </a:r>
            <a:r>
              <a:rPr lang="en-US" dirty="0"/>
              <a:t> </a:t>
            </a:r>
            <a:r>
              <a:rPr lang="en-US" dirty="0" err="1"/>
              <a:t>thrID</a:t>
            </a:r>
            <a:r>
              <a:rPr lang="en-US" dirty="0"/>
              <a:t>[</a:t>
            </a:r>
            <a:r>
              <a:rPr lang="en-US" dirty="0" err="1"/>
              <a:t>threadcount</a:t>
            </a:r>
            <a:r>
              <a:rPr lang="en-US" dirty="0"/>
              <a:t>];</a:t>
            </a:r>
          </a:p>
          <a:p>
            <a:r>
              <a:rPr lang="en-US" dirty="0"/>
              <a:t>  </a:t>
            </a:r>
            <a:r>
              <a:rPr lang="en-US" dirty="0" err="1"/>
              <a:t>sem_init</a:t>
            </a:r>
            <a:r>
              <a:rPr lang="en-US" dirty="0"/>
              <a:t>(&amp;</a:t>
            </a:r>
            <a:r>
              <a:rPr lang="en-US" dirty="0" err="1"/>
              <a:t>semaCounter</a:t>
            </a:r>
            <a:r>
              <a:rPr lang="en-US" dirty="0"/>
              <a:t>, 0, 0 ); </a:t>
            </a:r>
          </a:p>
          <a:p>
            <a:r>
              <a:rPr lang="en-US" dirty="0"/>
              <a:t>  </a:t>
            </a:r>
            <a:r>
              <a:rPr lang="en-US" dirty="0" err="1"/>
              <a:t>sem_init</a:t>
            </a:r>
            <a:r>
              <a:rPr lang="en-US" dirty="0"/>
              <a:t>(&amp;</a:t>
            </a:r>
            <a:r>
              <a:rPr lang="en-US" dirty="0" err="1"/>
              <a:t>semaBarrier</a:t>
            </a:r>
            <a:r>
              <a:rPr lang="en-US" dirty="0"/>
              <a:t>, 0, 0 ); </a:t>
            </a:r>
          </a:p>
          <a:p>
            <a:r>
              <a:rPr lang="en-US" dirty="0"/>
              <a:t>  for(int </a:t>
            </a:r>
            <a:r>
              <a:rPr lang="en-US" dirty="0" err="1"/>
              <a:t>i</a:t>
            </a:r>
            <a:r>
              <a:rPr lang="en-US" dirty="0"/>
              <a:t>=0; </a:t>
            </a:r>
            <a:r>
              <a:rPr lang="en-US" dirty="0" err="1"/>
              <a:t>i</a:t>
            </a:r>
            <a:r>
              <a:rPr lang="en-US" dirty="0"/>
              <a:t> &lt; </a:t>
            </a:r>
            <a:r>
              <a:rPr lang="en-US" dirty="0" err="1"/>
              <a:t>threadcount</a:t>
            </a:r>
            <a:r>
              <a:rPr lang="en-US" dirty="0"/>
              <a:t>; </a:t>
            </a:r>
            <a:r>
              <a:rPr lang="en-US" dirty="0" err="1"/>
              <a:t>i</a:t>
            </a:r>
            <a:r>
              <a:rPr lang="en-US" dirty="0"/>
              <a:t>++)</a:t>
            </a:r>
          </a:p>
          <a:p>
            <a:r>
              <a:rPr lang="en-US" dirty="0"/>
              <a:t>      </a:t>
            </a:r>
            <a:r>
              <a:rPr lang="en-US" dirty="0" err="1"/>
              <a:t>pthread_create</a:t>
            </a:r>
            <a:r>
              <a:rPr lang="en-US" dirty="0"/>
              <a:t>(&amp;</a:t>
            </a:r>
            <a:r>
              <a:rPr lang="en-US" dirty="0" err="1"/>
              <a:t>thrID</a:t>
            </a:r>
            <a:r>
              <a:rPr lang="en-US" dirty="0"/>
              <a:t>[</a:t>
            </a:r>
            <a:r>
              <a:rPr lang="en-US" dirty="0" err="1"/>
              <a:t>i</a:t>
            </a:r>
            <a:r>
              <a:rPr lang="en-US" dirty="0"/>
              <a:t>], NULL, </a:t>
            </a:r>
            <a:r>
              <a:rPr lang="en-US" dirty="0" err="1"/>
              <a:t>threadmain</a:t>
            </a:r>
            <a:r>
              <a:rPr lang="en-US" dirty="0"/>
              <a:t>, (void *)(</a:t>
            </a:r>
            <a:r>
              <a:rPr lang="en-US" dirty="0" err="1"/>
              <a:t>intptr_t</a:t>
            </a:r>
            <a:r>
              <a:rPr lang="en-US" dirty="0"/>
              <a:t>)</a:t>
            </a:r>
            <a:r>
              <a:rPr lang="en-US" dirty="0" err="1"/>
              <a:t>i</a:t>
            </a:r>
            <a:r>
              <a:rPr lang="en-US" dirty="0"/>
              <a:t>);</a:t>
            </a:r>
          </a:p>
          <a:p>
            <a:r>
              <a:rPr lang="en-US" dirty="0"/>
              <a:t>  for(int </a:t>
            </a:r>
            <a:r>
              <a:rPr lang="en-US" dirty="0" err="1"/>
              <a:t>i</a:t>
            </a:r>
            <a:r>
              <a:rPr lang="en-US" dirty="0"/>
              <a:t>=0; </a:t>
            </a:r>
            <a:r>
              <a:rPr lang="en-US" dirty="0" err="1"/>
              <a:t>i</a:t>
            </a:r>
            <a:r>
              <a:rPr lang="en-US" dirty="0"/>
              <a:t> &lt; </a:t>
            </a:r>
            <a:r>
              <a:rPr lang="en-US" dirty="0" err="1"/>
              <a:t>threadcount</a:t>
            </a:r>
            <a:r>
              <a:rPr lang="en-US" dirty="0"/>
              <a:t>; </a:t>
            </a:r>
            <a:r>
              <a:rPr lang="en-US" dirty="0" err="1"/>
              <a:t>i</a:t>
            </a:r>
            <a:r>
              <a:rPr lang="en-US" dirty="0"/>
              <a:t>++)</a:t>
            </a:r>
          </a:p>
          <a:p>
            <a:r>
              <a:rPr lang="en-US" dirty="0"/>
              <a:t>      </a:t>
            </a:r>
            <a:r>
              <a:rPr lang="en-US" dirty="0" err="1"/>
              <a:t>pthread_join</a:t>
            </a:r>
            <a:r>
              <a:rPr lang="en-US" dirty="0"/>
              <a:t>(</a:t>
            </a:r>
            <a:r>
              <a:rPr lang="en-US" dirty="0" err="1"/>
              <a:t>thrID</a:t>
            </a:r>
            <a:r>
              <a:rPr lang="en-US" dirty="0"/>
              <a:t>[</a:t>
            </a:r>
            <a:r>
              <a:rPr lang="en-US" dirty="0" err="1"/>
              <a:t>i</a:t>
            </a:r>
            <a:r>
              <a:rPr lang="en-US" dirty="0"/>
              <a:t>], NULL);</a:t>
            </a:r>
          </a:p>
          <a:p>
            <a:r>
              <a:rPr lang="en-US" dirty="0"/>
              <a:t>  </a:t>
            </a:r>
            <a:r>
              <a:rPr lang="en-US" dirty="0" err="1"/>
              <a:t>sem_destroy</a:t>
            </a:r>
            <a:r>
              <a:rPr lang="en-US" dirty="0"/>
              <a:t>(&amp;</a:t>
            </a:r>
            <a:r>
              <a:rPr lang="en-US" dirty="0" err="1"/>
              <a:t>semaCounter</a:t>
            </a:r>
            <a:r>
              <a:rPr lang="en-US" dirty="0"/>
              <a:t>);</a:t>
            </a:r>
          </a:p>
          <a:p>
            <a:r>
              <a:rPr lang="en-US" dirty="0"/>
              <a:t>  </a:t>
            </a:r>
            <a:r>
              <a:rPr lang="en-US" dirty="0" err="1"/>
              <a:t>sem_destroy</a:t>
            </a:r>
            <a:r>
              <a:rPr lang="en-US" dirty="0"/>
              <a:t>(&amp;</a:t>
            </a:r>
            <a:r>
              <a:rPr lang="en-US" dirty="0" err="1"/>
              <a:t>semaBarrier</a:t>
            </a:r>
            <a:r>
              <a:rPr lang="en-US" dirty="0"/>
              <a:t>);</a:t>
            </a:r>
          </a:p>
          <a:p>
            <a:endParaRPr lang="en-US" dirty="0"/>
          </a:p>
          <a:p>
            <a:r>
              <a:rPr lang="en-US" dirty="0"/>
              <a:t>}</a:t>
            </a:r>
          </a:p>
          <a:p>
            <a:endParaRPr lang="en-US" dirty="0"/>
          </a:p>
        </p:txBody>
      </p:sp>
      <p:sp>
        <p:nvSpPr>
          <p:cNvPr id="4" name="Slide Number Placeholder 3"/>
          <p:cNvSpPr>
            <a:spLocks noGrp="1"/>
          </p:cNvSpPr>
          <p:nvPr>
            <p:ph type="sldNum" sz="quarter" idx="5"/>
          </p:nvPr>
        </p:nvSpPr>
        <p:spPr/>
        <p:txBody>
          <a:bodyPr/>
          <a:lstStyle/>
          <a:p>
            <a:pPr>
              <a:defRPr/>
            </a:pPr>
            <a:fld id="{8C91629A-89CF-4C2C-9865-CC6C32D5498C}" type="slidenum">
              <a:rPr lang="en-GB" smtClean="0"/>
              <a:pPr>
                <a:defRPr/>
              </a:pPr>
              <a:t>22</a:t>
            </a:fld>
            <a:endParaRPr lang="en-GB"/>
          </a:p>
        </p:txBody>
      </p:sp>
    </p:spTree>
    <p:extLst>
      <p:ext uri="{BB962C8B-B14F-4D97-AF65-F5344CB8AC3E}">
        <p14:creationId xmlns:p14="http://schemas.microsoft.com/office/powerpoint/2010/main" val="7049561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#include &lt;</a:t>
            </a:r>
            <a:r>
              <a:rPr lang="en-US" dirty="0" err="1"/>
              <a:t>pthread.h</a:t>
            </a:r>
            <a:r>
              <a:rPr lang="en-US" dirty="0"/>
              <a:t>&gt;</a:t>
            </a:r>
          </a:p>
          <a:p>
            <a:r>
              <a:rPr lang="en-US" dirty="0"/>
              <a:t>#include &lt;</a:t>
            </a:r>
            <a:r>
              <a:rPr lang="en-US" dirty="0" err="1"/>
              <a:t>semaphore.h</a:t>
            </a:r>
            <a:r>
              <a:rPr lang="en-US" dirty="0"/>
              <a:t>&gt;</a:t>
            </a:r>
          </a:p>
          <a:p>
            <a:r>
              <a:rPr lang="en-US" dirty="0"/>
              <a:t>#include &lt;</a:t>
            </a:r>
            <a:r>
              <a:rPr lang="en-US" dirty="0" err="1"/>
              <a:t>unistd.h</a:t>
            </a:r>
            <a:r>
              <a:rPr lang="en-US" dirty="0"/>
              <a:t>&gt;</a:t>
            </a:r>
          </a:p>
          <a:p>
            <a:r>
              <a:rPr lang="en-US" dirty="0"/>
              <a:t>#include &lt;</a:t>
            </a:r>
            <a:r>
              <a:rPr lang="en-US" dirty="0" err="1"/>
              <a:t>stdio.h</a:t>
            </a:r>
            <a:r>
              <a:rPr lang="en-US" dirty="0"/>
              <a:t>&gt;</a:t>
            </a:r>
          </a:p>
          <a:p>
            <a:endParaRPr lang="en-US" dirty="0"/>
          </a:p>
          <a:p>
            <a:r>
              <a:rPr lang="en-US" dirty="0"/>
              <a:t>int counter=0;</a:t>
            </a:r>
          </a:p>
          <a:p>
            <a:r>
              <a:rPr lang="en-US" dirty="0"/>
              <a:t>int </a:t>
            </a:r>
            <a:r>
              <a:rPr lang="en-US" dirty="0" err="1"/>
              <a:t>threadcount</a:t>
            </a:r>
            <a:r>
              <a:rPr lang="en-US" dirty="0"/>
              <a:t>=5;</a:t>
            </a:r>
          </a:p>
          <a:p>
            <a:r>
              <a:rPr lang="en-US" dirty="0" err="1"/>
              <a:t>pthread_cond_t</a:t>
            </a:r>
            <a:r>
              <a:rPr lang="en-US" dirty="0"/>
              <a:t> </a:t>
            </a:r>
            <a:r>
              <a:rPr lang="en-US" dirty="0" err="1"/>
              <a:t>cond</a:t>
            </a:r>
            <a:r>
              <a:rPr lang="en-US" dirty="0"/>
              <a:t>;  </a:t>
            </a:r>
          </a:p>
          <a:p>
            <a:r>
              <a:rPr lang="en-US" dirty="0" err="1"/>
              <a:t>pthread_mutex_t</a:t>
            </a:r>
            <a:r>
              <a:rPr lang="en-US" dirty="0"/>
              <a:t> mutex;</a:t>
            </a:r>
          </a:p>
          <a:p>
            <a:endParaRPr lang="en-US" dirty="0"/>
          </a:p>
          <a:p>
            <a:r>
              <a:rPr lang="en-US" dirty="0"/>
              <a:t>void *</a:t>
            </a:r>
            <a:r>
              <a:rPr lang="en-US" dirty="0" err="1"/>
              <a:t>threadmain</a:t>
            </a:r>
            <a:r>
              <a:rPr lang="en-US" dirty="0"/>
              <a:t>(void *p)</a:t>
            </a:r>
          </a:p>
          <a:p>
            <a:r>
              <a:rPr lang="en-US" dirty="0"/>
              <a:t>{</a:t>
            </a:r>
          </a:p>
          <a:p>
            <a:r>
              <a:rPr lang="en-US" dirty="0"/>
              <a:t>  </a:t>
            </a:r>
            <a:r>
              <a:rPr lang="en-US" dirty="0" err="1"/>
              <a:t>usleep</a:t>
            </a:r>
            <a:r>
              <a:rPr lang="en-US" dirty="0"/>
              <a:t>((long)p * 1000000);</a:t>
            </a:r>
          </a:p>
          <a:p>
            <a:r>
              <a:rPr lang="en-US" dirty="0"/>
              <a:t>  </a:t>
            </a:r>
            <a:r>
              <a:rPr lang="en-US" dirty="0" err="1"/>
              <a:t>printf</a:t>
            </a:r>
            <a:r>
              <a:rPr lang="en-US" dirty="0"/>
              <a:t>("Thread %</a:t>
            </a:r>
            <a:r>
              <a:rPr lang="en-US" dirty="0" err="1"/>
              <a:t>ld</a:t>
            </a:r>
            <a:r>
              <a:rPr lang="en-US" dirty="0"/>
              <a:t> reach barrier\</a:t>
            </a:r>
            <a:r>
              <a:rPr lang="en-US" dirty="0" err="1"/>
              <a:t>n",p</a:t>
            </a:r>
            <a:r>
              <a:rPr lang="en-US" dirty="0"/>
              <a:t>);</a:t>
            </a:r>
          </a:p>
          <a:p>
            <a:r>
              <a:rPr lang="en-US" dirty="0"/>
              <a:t>  </a:t>
            </a:r>
            <a:r>
              <a:rPr lang="en-US" dirty="0" err="1"/>
              <a:t>pthread_mutex_lock</a:t>
            </a:r>
            <a:r>
              <a:rPr lang="en-US" dirty="0"/>
              <a:t>(&amp;mutex);</a:t>
            </a:r>
          </a:p>
          <a:p>
            <a:r>
              <a:rPr lang="en-US" dirty="0"/>
              <a:t>  counter++;</a:t>
            </a:r>
          </a:p>
          <a:p>
            <a:r>
              <a:rPr lang="en-US" dirty="0"/>
              <a:t>  if(counter == </a:t>
            </a:r>
            <a:r>
              <a:rPr lang="en-US" dirty="0" err="1"/>
              <a:t>threadcount</a:t>
            </a:r>
            <a:r>
              <a:rPr lang="en-US" dirty="0"/>
              <a:t>)</a:t>
            </a:r>
          </a:p>
          <a:p>
            <a:r>
              <a:rPr lang="en-US" dirty="0"/>
              <a:t>    </a:t>
            </a:r>
            <a:r>
              <a:rPr lang="en-US" dirty="0" err="1"/>
              <a:t>pthread_cond_broadcast</a:t>
            </a:r>
            <a:r>
              <a:rPr lang="en-US" dirty="0"/>
              <a:t>(&amp;</a:t>
            </a:r>
            <a:r>
              <a:rPr lang="en-US" dirty="0" err="1"/>
              <a:t>cond</a:t>
            </a:r>
            <a:r>
              <a:rPr lang="en-US" dirty="0"/>
              <a:t>);</a:t>
            </a:r>
          </a:p>
          <a:p>
            <a:r>
              <a:rPr lang="en-US" dirty="0"/>
              <a:t>  else</a:t>
            </a:r>
          </a:p>
          <a:p>
            <a:r>
              <a:rPr lang="en-US" dirty="0"/>
              <a:t>    </a:t>
            </a:r>
            <a:r>
              <a:rPr lang="en-US" dirty="0" err="1"/>
              <a:t>pthread_cond_wait</a:t>
            </a:r>
            <a:r>
              <a:rPr lang="en-US" dirty="0"/>
              <a:t>(&amp;</a:t>
            </a:r>
            <a:r>
              <a:rPr lang="en-US" dirty="0" err="1"/>
              <a:t>cond</a:t>
            </a:r>
            <a:r>
              <a:rPr lang="en-US" dirty="0"/>
              <a:t>,&amp;mutex); </a:t>
            </a:r>
          </a:p>
          <a:p>
            <a:r>
              <a:rPr lang="en-US" dirty="0"/>
              <a:t>  </a:t>
            </a:r>
            <a:r>
              <a:rPr lang="en-US" dirty="0" err="1"/>
              <a:t>pthread_mutex_unlock</a:t>
            </a:r>
            <a:r>
              <a:rPr lang="en-US" dirty="0"/>
              <a:t>(&amp;mutex);</a:t>
            </a:r>
          </a:p>
          <a:p>
            <a:r>
              <a:rPr lang="en-US" dirty="0"/>
              <a:t>  </a:t>
            </a:r>
            <a:r>
              <a:rPr lang="en-US" dirty="0" err="1"/>
              <a:t>printf</a:t>
            </a:r>
            <a:r>
              <a:rPr lang="en-US" dirty="0"/>
              <a:t>("Thread %</a:t>
            </a:r>
            <a:r>
              <a:rPr lang="en-US" dirty="0" err="1"/>
              <a:t>ld</a:t>
            </a:r>
            <a:r>
              <a:rPr lang="en-US" dirty="0"/>
              <a:t> passed barrier\</a:t>
            </a:r>
            <a:r>
              <a:rPr lang="en-US" dirty="0" err="1"/>
              <a:t>n",p</a:t>
            </a:r>
            <a:r>
              <a:rPr lang="en-US" dirty="0"/>
              <a:t>);</a:t>
            </a:r>
          </a:p>
          <a:p>
            <a:r>
              <a:rPr lang="en-US" dirty="0"/>
              <a:t>  return NULL;</a:t>
            </a:r>
          </a:p>
          <a:p>
            <a:r>
              <a:rPr lang="en-US" dirty="0"/>
              <a:t>}</a:t>
            </a:r>
          </a:p>
          <a:p>
            <a:r>
              <a:rPr lang="en-US" dirty="0"/>
              <a:t>void main()</a:t>
            </a:r>
          </a:p>
          <a:p>
            <a:r>
              <a:rPr lang="en-US" dirty="0"/>
              <a:t>{</a:t>
            </a:r>
          </a:p>
          <a:p>
            <a:r>
              <a:rPr lang="en-US" dirty="0"/>
              <a:t>  </a:t>
            </a:r>
            <a:r>
              <a:rPr lang="en-US" dirty="0" err="1"/>
              <a:t>pthread_t</a:t>
            </a:r>
            <a:r>
              <a:rPr lang="en-US" dirty="0"/>
              <a:t> </a:t>
            </a:r>
            <a:r>
              <a:rPr lang="en-US" dirty="0" err="1"/>
              <a:t>thrID</a:t>
            </a:r>
            <a:r>
              <a:rPr lang="en-US" dirty="0"/>
              <a:t>[</a:t>
            </a:r>
            <a:r>
              <a:rPr lang="en-US" dirty="0" err="1"/>
              <a:t>threadcount</a:t>
            </a:r>
            <a:r>
              <a:rPr lang="en-US" dirty="0"/>
              <a:t>];</a:t>
            </a:r>
          </a:p>
          <a:p>
            <a:endParaRPr lang="en-US" dirty="0"/>
          </a:p>
          <a:p>
            <a:r>
              <a:rPr lang="en-US" dirty="0"/>
              <a:t>  </a:t>
            </a:r>
            <a:r>
              <a:rPr lang="en-US" dirty="0" err="1"/>
              <a:t>pthread_cond_init</a:t>
            </a:r>
            <a:r>
              <a:rPr lang="en-US" dirty="0"/>
              <a:t>(&amp;</a:t>
            </a:r>
            <a:r>
              <a:rPr lang="en-US" dirty="0" err="1"/>
              <a:t>cond</a:t>
            </a:r>
            <a:r>
              <a:rPr lang="en-US" dirty="0"/>
              <a:t>, NULL);</a:t>
            </a:r>
          </a:p>
          <a:p>
            <a:r>
              <a:rPr lang="en-US" dirty="0"/>
              <a:t>  </a:t>
            </a:r>
            <a:r>
              <a:rPr lang="en-US" dirty="0" err="1"/>
              <a:t>pthread_mutex_init</a:t>
            </a:r>
            <a:r>
              <a:rPr lang="en-US" dirty="0"/>
              <a:t>(&amp;</a:t>
            </a:r>
            <a:r>
              <a:rPr lang="en-US" dirty="0" err="1"/>
              <a:t>mutex,NULL</a:t>
            </a:r>
            <a:r>
              <a:rPr lang="en-US" dirty="0"/>
              <a:t>);</a:t>
            </a:r>
          </a:p>
          <a:p>
            <a:r>
              <a:rPr lang="en-US" dirty="0"/>
              <a:t>  for(int </a:t>
            </a:r>
            <a:r>
              <a:rPr lang="en-US" dirty="0" err="1"/>
              <a:t>i</a:t>
            </a:r>
            <a:r>
              <a:rPr lang="en-US" dirty="0"/>
              <a:t>=0; </a:t>
            </a:r>
            <a:r>
              <a:rPr lang="en-US" dirty="0" err="1"/>
              <a:t>i</a:t>
            </a:r>
            <a:r>
              <a:rPr lang="en-US" dirty="0"/>
              <a:t> &lt; </a:t>
            </a:r>
            <a:r>
              <a:rPr lang="en-US" dirty="0" err="1"/>
              <a:t>threadcount</a:t>
            </a:r>
            <a:r>
              <a:rPr lang="en-US" dirty="0"/>
              <a:t>; </a:t>
            </a:r>
            <a:r>
              <a:rPr lang="en-US" dirty="0" err="1"/>
              <a:t>i</a:t>
            </a:r>
            <a:r>
              <a:rPr lang="en-US" dirty="0"/>
              <a:t>++)</a:t>
            </a:r>
          </a:p>
          <a:p>
            <a:r>
              <a:rPr lang="en-US" dirty="0"/>
              <a:t>    </a:t>
            </a:r>
            <a:r>
              <a:rPr lang="en-US" dirty="0" err="1"/>
              <a:t>pthread_create</a:t>
            </a:r>
            <a:r>
              <a:rPr lang="en-US" dirty="0"/>
              <a:t>(&amp;</a:t>
            </a:r>
            <a:r>
              <a:rPr lang="en-US" dirty="0" err="1"/>
              <a:t>thrID</a:t>
            </a:r>
            <a:r>
              <a:rPr lang="en-US" dirty="0"/>
              <a:t>[</a:t>
            </a:r>
            <a:r>
              <a:rPr lang="en-US" dirty="0" err="1"/>
              <a:t>i</a:t>
            </a:r>
            <a:r>
              <a:rPr lang="en-US" dirty="0"/>
              <a:t>],</a:t>
            </a:r>
            <a:r>
              <a:rPr lang="en-US" dirty="0" err="1"/>
              <a:t>NULL,threadmain</a:t>
            </a:r>
            <a:r>
              <a:rPr lang="en-US" dirty="0"/>
              <a:t>, (void *)(</a:t>
            </a:r>
            <a:r>
              <a:rPr lang="en-US" dirty="0" err="1"/>
              <a:t>intptr_t</a:t>
            </a:r>
            <a:r>
              <a:rPr lang="en-US" dirty="0"/>
              <a:t>)</a:t>
            </a:r>
            <a:r>
              <a:rPr lang="en-US" dirty="0" err="1"/>
              <a:t>i</a:t>
            </a:r>
            <a:r>
              <a:rPr lang="en-US" dirty="0"/>
              <a:t>);</a:t>
            </a:r>
          </a:p>
          <a:p>
            <a:r>
              <a:rPr lang="en-US" dirty="0"/>
              <a:t>  for(int </a:t>
            </a:r>
            <a:r>
              <a:rPr lang="en-US" dirty="0" err="1"/>
              <a:t>i</a:t>
            </a:r>
            <a:r>
              <a:rPr lang="en-US" dirty="0"/>
              <a:t>=0; </a:t>
            </a:r>
            <a:r>
              <a:rPr lang="en-US" dirty="0" err="1"/>
              <a:t>i</a:t>
            </a:r>
            <a:r>
              <a:rPr lang="en-US" dirty="0"/>
              <a:t> &lt; </a:t>
            </a:r>
            <a:r>
              <a:rPr lang="en-US" dirty="0" err="1"/>
              <a:t>threadcount</a:t>
            </a:r>
            <a:r>
              <a:rPr lang="en-US" dirty="0"/>
              <a:t>; </a:t>
            </a:r>
            <a:r>
              <a:rPr lang="en-US" dirty="0" err="1"/>
              <a:t>i</a:t>
            </a:r>
            <a:r>
              <a:rPr lang="en-US" dirty="0"/>
              <a:t>++)</a:t>
            </a:r>
          </a:p>
          <a:p>
            <a:r>
              <a:rPr lang="en-US" dirty="0"/>
              <a:t>    </a:t>
            </a:r>
            <a:r>
              <a:rPr lang="en-US" dirty="0" err="1"/>
              <a:t>pthread_join</a:t>
            </a:r>
            <a:r>
              <a:rPr lang="en-US" dirty="0"/>
              <a:t>(</a:t>
            </a:r>
            <a:r>
              <a:rPr lang="en-US" dirty="0" err="1"/>
              <a:t>thrID</a:t>
            </a:r>
            <a:r>
              <a:rPr lang="en-US" dirty="0"/>
              <a:t>[</a:t>
            </a:r>
            <a:r>
              <a:rPr lang="en-US" dirty="0" err="1"/>
              <a:t>i</a:t>
            </a:r>
            <a:r>
              <a:rPr lang="en-US" dirty="0"/>
              <a:t>], NULL);</a:t>
            </a:r>
          </a:p>
          <a:p>
            <a:r>
              <a:rPr lang="en-US" dirty="0"/>
              <a:t>  </a:t>
            </a:r>
            <a:r>
              <a:rPr lang="en-US" dirty="0" err="1"/>
              <a:t>pthread_cond_destroy</a:t>
            </a:r>
            <a:r>
              <a:rPr lang="en-US" dirty="0"/>
              <a:t>(&amp;</a:t>
            </a:r>
            <a:r>
              <a:rPr lang="en-US" dirty="0" err="1"/>
              <a:t>cond</a:t>
            </a:r>
            <a:r>
              <a:rPr lang="en-US" dirty="0"/>
              <a:t>);</a:t>
            </a:r>
          </a:p>
          <a:p>
            <a:r>
              <a:rPr lang="en-US" dirty="0"/>
              <a:t>}</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pPr>
              <a:defRPr/>
            </a:pPr>
            <a:fld id="{8C91629A-89CF-4C2C-9865-CC6C32D5498C}" type="slidenum">
              <a:rPr lang="en-GB" smtClean="0"/>
              <a:pPr>
                <a:defRPr/>
              </a:pPr>
              <a:t>25</a:t>
            </a:fld>
            <a:endParaRPr lang="en-GB"/>
          </a:p>
        </p:txBody>
      </p:sp>
    </p:spTree>
    <p:extLst>
      <p:ext uri="{BB962C8B-B14F-4D97-AF65-F5344CB8AC3E}">
        <p14:creationId xmlns:p14="http://schemas.microsoft.com/office/powerpoint/2010/main" val="528788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cstate="print">
            <a:lum/>
          </a:blip>
          <a:srcRect/>
          <a:stretch>
            <a:fillRect/>
          </a:stretch>
        </a:blip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527381" y="2512922"/>
            <a:ext cx="10363200" cy="1470025"/>
          </a:xfrm>
        </p:spPr>
        <p:txBody>
          <a:bodyPr/>
          <a:lstStyle>
            <a:lvl1pPr algn="l">
              <a:defRPr b="1" baseline="0">
                <a:solidFill>
                  <a:srgbClr val="FFC000"/>
                </a:solidFill>
              </a:defRPr>
            </a:lvl1pPr>
          </a:lstStyle>
          <a:p>
            <a:pPr lvl="0"/>
            <a:r>
              <a:rPr lang="en-US" noProof="0" dirty="0"/>
              <a:t>Click to edit Master title style</a:t>
            </a:r>
            <a:endParaRPr lang="en-GB" noProof="0" dirty="0"/>
          </a:p>
        </p:txBody>
      </p:sp>
      <p:sp>
        <p:nvSpPr>
          <p:cNvPr id="4099" name="Rectangle 3"/>
          <p:cNvSpPr>
            <a:spLocks noGrp="1" noChangeArrowheads="1"/>
          </p:cNvSpPr>
          <p:nvPr>
            <p:ph type="subTitle" idx="1"/>
          </p:nvPr>
        </p:nvSpPr>
        <p:spPr>
          <a:xfrm>
            <a:off x="527381" y="4268688"/>
            <a:ext cx="8534400" cy="1752600"/>
          </a:xfrm>
        </p:spPr>
        <p:txBody>
          <a:bodyPr/>
          <a:lstStyle>
            <a:lvl1pPr marL="0" indent="0" algn="l">
              <a:buFontTx/>
              <a:buNone/>
              <a:defRPr baseline="0">
                <a:solidFill>
                  <a:srgbClr val="FFC000"/>
                </a:solidFill>
                <a:latin typeface="Rockwell" pitchFamily="18" charset="0"/>
              </a:defRPr>
            </a:lvl1pPr>
          </a:lstStyle>
          <a:p>
            <a:pPr lvl="0"/>
            <a:r>
              <a:rPr lang="en-US" noProof="0" dirty="0"/>
              <a:t>Click to edit Master subtitle style</a:t>
            </a:r>
            <a:endParaRPr lang="en-GB" noProof="0" dirty="0"/>
          </a:p>
        </p:txBody>
      </p:sp>
    </p:spTree>
    <p:extLst>
      <p:ext uri="{BB962C8B-B14F-4D97-AF65-F5344CB8AC3E}">
        <p14:creationId xmlns:p14="http://schemas.microsoft.com/office/powerpoint/2010/main" val="231582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311690" y="188639"/>
            <a:ext cx="7063769" cy="576064"/>
          </a:xfrm>
        </p:spPr>
        <p:txBody>
          <a:bodyPr/>
          <a:lstStyle>
            <a:lvl1pPr>
              <a:defRPr sz="2800" baseline="0">
                <a:solidFill>
                  <a:srgbClr val="FFC000"/>
                </a:solidFill>
              </a:defRPr>
            </a:lvl1pPr>
          </a:lstStyle>
          <a:p>
            <a:r>
              <a:rPr lang="en-US" dirty="0"/>
              <a:t>Click to edit Master title style</a:t>
            </a:r>
            <a:endParaRPr lang="en-GB" dirty="0"/>
          </a:p>
        </p:txBody>
      </p:sp>
      <p:sp>
        <p:nvSpPr>
          <p:cNvPr id="3" name="Content Placeholder 2"/>
          <p:cNvSpPr>
            <a:spLocks noGrp="1"/>
          </p:cNvSpPr>
          <p:nvPr>
            <p:ph idx="1"/>
          </p:nvPr>
        </p:nvSpPr>
        <p:spPr>
          <a:xfrm>
            <a:off x="239350" y="1052737"/>
            <a:ext cx="11713301" cy="561662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861542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2"/>
            <a:ext cx="103632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178" indent="0">
              <a:buNone/>
              <a:defRPr sz="1800"/>
            </a:lvl2pPr>
            <a:lvl3pPr marL="914355" indent="0">
              <a:buNone/>
              <a:defRPr sz="1600"/>
            </a:lvl3pPr>
            <a:lvl4pPr marL="1371532" indent="0">
              <a:buNone/>
              <a:defRPr sz="1400"/>
            </a:lvl4pPr>
            <a:lvl5pPr marL="1828709" indent="0">
              <a:buNone/>
              <a:defRPr sz="1400"/>
            </a:lvl5pPr>
            <a:lvl6pPr marL="2285886" indent="0">
              <a:buNone/>
              <a:defRPr sz="1400"/>
            </a:lvl6pPr>
            <a:lvl7pPr marL="2743064" indent="0">
              <a:buNone/>
              <a:defRPr sz="1400"/>
            </a:lvl7pPr>
            <a:lvl8pPr marL="3200240" indent="0">
              <a:buNone/>
              <a:defRPr sz="1400"/>
            </a:lvl8pPr>
            <a:lvl9pPr marL="3657418" indent="0">
              <a:buNone/>
              <a:defRPr sz="1400"/>
            </a:lvl9pPr>
          </a:lstStyle>
          <a:p>
            <a:pPr lvl="0"/>
            <a:r>
              <a:rPr lang="en-US"/>
              <a:t>Click to edit Master text styles</a:t>
            </a:r>
          </a:p>
        </p:txBody>
      </p:sp>
    </p:spTree>
    <p:extLst>
      <p:ext uri="{BB962C8B-B14F-4D97-AF65-F5344CB8AC3E}">
        <p14:creationId xmlns:p14="http://schemas.microsoft.com/office/powerpoint/2010/main" val="2348730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31817" y="1940981"/>
            <a:ext cx="11233151" cy="1143000"/>
          </a:xfrm>
        </p:spPr>
        <p:txBody>
          <a:bodyPr/>
          <a:lstStyle/>
          <a:p>
            <a:r>
              <a:rPr lang="en-US"/>
              <a:t>Click to edit Master title style</a:t>
            </a:r>
            <a:endParaRPr lang="en-GB"/>
          </a:p>
        </p:txBody>
      </p:sp>
      <p:sp>
        <p:nvSpPr>
          <p:cNvPr id="3" name="Content Placeholder 2"/>
          <p:cNvSpPr>
            <a:spLocks noGrp="1"/>
          </p:cNvSpPr>
          <p:nvPr>
            <p:ph sz="half" idx="1"/>
          </p:nvPr>
        </p:nvSpPr>
        <p:spPr>
          <a:xfrm>
            <a:off x="431800" y="2852248"/>
            <a:ext cx="5513917" cy="4321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48934" y="2852248"/>
            <a:ext cx="5516033" cy="4321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391278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1513913"/>
            <a:ext cx="109728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2774390"/>
            <a:ext cx="5386917" cy="639763"/>
          </a:xfrm>
        </p:spPr>
        <p:txBody>
          <a:bodyPr anchor="b"/>
          <a:lstStyle>
            <a:lvl1pPr marL="0" indent="0">
              <a:buNone/>
              <a:defRPr sz="2400" b="1"/>
            </a:lvl1pPr>
            <a:lvl2pPr marL="457178"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4"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3414149"/>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78" y="2774390"/>
            <a:ext cx="5389033" cy="639763"/>
          </a:xfrm>
        </p:spPr>
        <p:txBody>
          <a:bodyPr anchor="b"/>
          <a:lstStyle>
            <a:lvl1pPr marL="0" indent="0">
              <a:buNone/>
              <a:defRPr sz="2400" b="1"/>
            </a:lvl1pPr>
            <a:lvl2pPr marL="457178"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4"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8" y="3414149"/>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117584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317748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453050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17" y="1594874"/>
            <a:ext cx="4011084" cy="1162051"/>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6733" y="159488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17" y="2756932"/>
            <a:ext cx="4011084" cy="4691063"/>
          </a:xfrm>
        </p:spPr>
        <p:txBody>
          <a:bodyPr/>
          <a:lstStyle>
            <a:lvl1pPr marL="0" indent="0">
              <a:buNone/>
              <a:defRPr sz="1400"/>
            </a:lvl1pPr>
            <a:lvl2pPr marL="457178" indent="0">
              <a:buNone/>
              <a:defRPr sz="1200"/>
            </a:lvl2pPr>
            <a:lvl3pPr marL="914355" indent="0">
              <a:buNone/>
              <a:defRPr sz="1000"/>
            </a:lvl3pPr>
            <a:lvl4pPr marL="1371532" indent="0">
              <a:buNone/>
              <a:defRPr sz="900"/>
            </a:lvl4pPr>
            <a:lvl5pPr marL="1828709" indent="0">
              <a:buNone/>
              <a:defRPr sz="900"/>
            </a:lvl5pPr>
            <a:lvl6pPr marL="2285886" indent="0">
              <a:buNone/>
              <a:defRPr sz="900"/>
            </a:lvl6pPr>
            <a:lvl7pPr marL="2743064" indent="0">
              <a:buNone/>
              <a:defRPr sz="900"/>
            </a:lvl7pPr>
            <a:lvl8pPr marL="3200240" indent="0">
              <a:buNone/>
              <a:defRPr sz="900"/>
            </a:lvl8pPr>
            <a:lvl9pPr marL="3657418" indent="0">
              <a:buNone/>
              <a:defRPr sz="900"/>
            </a:lvl9pPr>
          </a:lstStyle>
          <a:p>
            <a:pPr lvl="0"/>
            <a:r>
              <a:rPr lang="en-US"/>
              <a:t>Click to edit Master text styles</a:t>
            </a:r>
          </a:p>
        </p:txBody>
      </p:sp>
    </p:spTree>
    <p:extLst>
      <p:ext uri="{BB962C8B-B14F-4D97-AF65-F5344CB8AC3E}">
        <p14:creationId xmlns:p14="http://schemas.microsoft.com/office/powerpoint/2010/main" val="344096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2"/>
            <a:ext cx="7315200" cy="566739"/>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1604803"/>
            <a:ext cx="7315200" cy="3122777"/>
          </a:xfrm>
        </p:spPr>
        <p:txBody>
          <a:bodyPr/>
          <a:lstStyle>
            <a:lvl1pPr marL="0" indent="0">
              <a:buNone/>
              <a:defRPr sz="3200"/>
            </a:lvl1pPr>
            <a:lvl2pPr marL="457178" indent="0">
              <a:buNone/>
              <a:defRPr sz="2800"/>
            </a:lvl2pPr>
            <a:lvl3pPr marL="914355" indent="0">
              <a:buNone/>
              <a:defRPr sz="2400"/>
            </a:lvl3pPr>
            <a:lvl4pPr marL="1371532" indent="0">
              <a:buNone/>
              <a:defRPr sz="2000"/>
            </a:lvl4pPr>
            <a:lvl5pPr marL="1828709" indent="0">
              <a:buNone/>
              <a:defRPr sz="2000"/>
            </a:lvl5pPr>
            <a:lvl6pPr marL="2285886" indent="0">
              <a:buNone/>
              <a:defRPr sz="2000"/>
            </a:lvl6pPr>
            <a:lvl7pPr marL="2743064" indent="0">
              <a:buNone/>
              <a:defRPr sz="2000"/>
            </a:lvl7pPr>
            <a:lvl8pPr marL="3200240" indent="0">
              <a:buNone/>
              <a:defRPr sz="2000"/>
            </a:lvl8pPr>
            <a:lvl9pPr marL="3657418" indent="0">
              <a:buNone/>
              <a:defRPr sz="20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2389717" y="5367346"/>
            <a:ext cx="7315200" cy="804863"/>
          </a:xfrm>
        </p:spPr>
        <p:txBody>
          <a:bodyPr/>
          <a:lstStyle>
            <a:lvl1pPr marL="0" indent="0">
              <a:buNone/>
              <a:defRPr sz="1400"/>
            </a:lvl1pPr>
            <a:lvl2pPr marL="457178" indent="0">
              <a:buNone/>
              <a:defRPr sz="1200"/>
            </a:lvl2pPr>
            <a:lvl3pPr marL="914355" indent="0">
              <a:buNone/>
              <a:defRPr sz="1000"/>
            </a:lvl3pPr>
            <a:lvl4pPr marL="1371532" indent="0">
              <a:buNone/>
              <a:defRPr sz="900"/>
            </a:lvl4pPr>
            <a:lvl5pPr marL="1828709" indent="0">
              <a:buNone/>
              <a:defRPr sz="900"/>
            </a:lvl5pPr>
            <a:lvl6pPr marL="2285886" indent="0">
              <a:buNone/>
              <a:defRPr sz="900"/>
            </a:lvl6pPr>
            <a:lvl7pPr marL="2743064" indent="0">
              <a:buNone/>
              <a:defRPr sz="900"/>
            </a:lvl7pPr>
            <a:lvl8pPr marL="3200240" indent="0">
              <a:buNone/>
              <a:defRPr sz="900"/>
            </a:lvl8pPr>
            <a:lvl9pPr marL="3657418" indent="0">
              <a:buNone/>
              <a:defRPr sz="900"/>
            </a:lvl9pPr>
          </a:lstStyle>
          <a:p>
            <a:pPr lvl="0"/>
            <a:r>
              <a:rPr lang="en-US"/>
              <a:t>Click to edit Master text styles</a:t>
            </a:r>
          </a:p>
        </p:txBody>
      </p:sp>
    </p:spTree>
    <p:extLst>
      <p:ext uri="{BB962C8B-B14F-4D97-AF65-F5344CB8AC3E}">
        <p14:creationId xmlns:p14="http://schemas.microsoft.com/office/powerpoint/2010/main" val="3166532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911389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58267" y="990603"/>
            <a:ext cx="2806700" cy="546258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31800" y="990603"/>
            <a:ext cx="8223251" cy="54625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5602589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460126"/>
            <a:ext cx="10515600" cy="637198"/>
          </a:xfrm>
        </p:spPr>
        <p:txBody>
          <a:bodyPr anchor="b">
            <a:noAutofit/>
          </a:bodyPr>
          <a:lstStyle>
            <a:lvl1pPr>
              <a:defRPr sz="2700" b="1" i="0" cap="none" normalizeH="0" baseline="0">
                <a:solidFill>
                  <a:srgbClr val="000000"/>
                </a:solidFill>
                <a:latin typeface="Arial Black" charset="0"/>
                <a:ea typeface="Arial Black" charset="0"/>
                <a:cs typeface="Arial Black" charset="0"/>
              </a:defRPr>
            </a:lvl1pPr>
          </a:lstStyle>
          <a:p>
            <a:r>
              <a:rPr lang="en-US"/>
              <a:t>CLICK TO EDIT MASTER TITLE STYLE</a:t>
            </a:r>
          </a:p>
        </p:txBody>
      </p:sp>
      <p:sp>
        <p:nvSpPr>
          <p:cNvPr id="3" name="Content Placeholder 2"/>
          <p:cNvSpPr>
            <a:spLocks noGrp="1"/>
          </p:cNvSpPr>
          <p:nvPr>
            <p:ph idx="1"/>
          </p:nvPr>
        </p:nvSpPr>
        <p:spPr>
          <a:xfrm>
            <a:off x="838200" y="1644163"/>
            <a:ext cx="10515600" cy="4532801"/>
          </a:xfrm>
        </p:spPr>
        <p:txBody>
          <a:bodyPr/>
          <a:lstStyle>
            <a:lvl1pPr>
              <a:spcBef>
                <a:spcPts val="750"/>
              </a:spcBef>
              <a:buClr>
                <a:srgbClr val="3359EC"/>
              </a:buClr>
              <a:defRPr b="0" i="0">
                <a:solidFill>
                  <a:srgbClr val="000000"/>
                </a:solidFill>
                <a:latin typeface="Arial" charset="0"/>
                <a:ea typeface="Arial" charset="0"/>
                <a:cs typeface="Arial" charset="0"/>
              </a:defRPr>
            </a:lvl1pPr>
            <a:lvl2pPr>
              <a:spcBef>
                <a:spcPts val="750"/>
              </a:spcBef>
              <a:buClr>
                <a:srgbClr val="3359EC"/>
              </a:buClr>
              <a:defRPr b="0" i="0">
                <a:solidFill>
                  <a:srgbClr val="000000"/>
                </a:solidFill>
                <a:latin typeface="Arial" charset="0"/>
                <a:ea typeface="Arial" charset="0"/>
                <a:cs typeface="Arial" charset="0"/>
              </a:defRPr>
            </a:lvl2pPr>
            <a:lvl3pPr>
              <a:spcBef>
                <a:spcPts val="750"/>
              </a:spcBef>
              <a:buClr>
                <a:srgbClr val="3359EC"/>
              </a:buClr>
              <a:defRPr b="0" i="0">
                <a:solidFill>
                  <a:srgbClr val="000000"/>
                </a:solidFill>
                <a:latin typeface="Arial" charset="0"/>
                <a:ea typeface="Arial" charset="0"/>
                <a:cs typeface="Arial" charset="0"/>
              </a:defRPr>
            </a:lvl3pPr>
            <a:lvl4pPr>
              <a:spcBef>
                <a:spcPts val="750"/>
              </a:spcBef>
              <a:buClr>
                <a:srgbClr val="3359EC"/>
              </a:buClr>
              <a:defRPr b="0" i="0">
                <a:solidFill>
                  <a:srgbClr val="000000"/>
                </a:solidFill>
                <a:latin typeface="Arial" charset="0"/>
                <a:ea typeface="Arial" charset="0"/>
                <a:cs typeface="Arial" charset="0"/>
              </a:defRPr>
            </a:lvl4pPr>
            <a:lvl5pPr>
              <a:spcBef>
                <a:spcPts val="750"/>
              </a:spcBef>
              <a:buClr>
                <a:srgbClr val="3359EC"/>
              </a:buClr>
              <a:defRPr b="0" i="0">
                <a:solidFill>
                  <a:srgbClr val="000000"/>
                </a:solidFill>
                <a:latin typeface="Arial" charset="0"/>
                <a:ea typeface="Arial" charset="0"/>
                <a:cs typeface="Arial"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p:cNvSpPr>
            <a:spLocks noGrp="1"/>
          </p:cNvSpPr>
          <p:nvPr>
            <p:ph type="ftr" sz="quarter" idx="3"/>
          </p:nvPr>
        </p:nvSpPr>
        <p:spPr>
          <a:xfrm>
            <a:off x="3742594" y="6356351"/>
            <a:ext cx="4706815"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levelaccess.com   </a:t>
            </a:r>
            <a:r>
              <a:rPr lang="en-US" b="1"/>
              <a:t> </a:t>
            </a:r>
            <a:r>
              <a:rPr lang="en-US" b="1">
                <a:solidFill>
                  <a:srgbClr val="5CD344"/>
                </a:solidFill>
              </a:rPr>
              <a:t>|</a:t>
            </a:r>
            <a:r>
              <a:rPr lang="en-US" b="1">
                <a:solidFill>
                  <a:srgbClr val="00D81A"/>
                </a:solidFill>
              </a:rPr>
              <a:t> </a:t>
            </a:r>
            <a:r>
              <a:rPr lang="en-US" b="1"/>
              <a:t>   </a:t>
            </a:r>
            <a:r>
              <a:rPr lang="en-US"/>
              <a:t>(</a:t>
            </a:r>
            <a:r>
              <a:rPr lang="de-DE"/>
              <a:t>800) 899-9659    </a:t>
            </a:r>
            <a:r>
              <a:rPr lang="en-US" b="1">
                <a:solidFill>
                  <a:srgbClr val="5CD344"/>
                </a:solidFill>
              </a:rPr>
              <a:t>|</a:t>
            </a:r>
            <a:r>
              <a:rPr lang="en-US"/>
              <a:t>    info@levelaccess.com</a:t>
            </a:r>
          </a:p>
        </p:txBody>
      </p:sp>
      <p:sp>
        <p:nvSpPr>
          <p:cNvPr id="8" name="Slide Number Placeholder 5"/>
          <p:cNvSpPr>
            <a:spLocks noGrp="1"/>
          </p:cNvSpPr>
          <p:nvPr>
            <p:ph type="sldNum" sz="quarter" idx="4"/>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030EA8A-DA75-3443-B9EE-A63E33F4F203}" type="slidenum">
              <a:rPr lang="en-US" smtClean="0"/>
              <a:pPr/>
              <a:t>‹#›</a:t>
            </a:fld>
            <a:endParaRPr lang="en-US"/>
          </a:p>
        </p:txBody>
      </p:sp>
      <p:sp>
        <p:nvSpPr>
          <p:cNvPr id="11" name="Subtitle 2"/>
          <p:cNvSpPr>
            <a:spLocks noGrp="1"/>
          </p:cNvSpPr>
          <p:nvPr>
            <p:ph type="subTitle" idx="10"/>
          </p:nvPr>
        </p:nvSpPr>
        <p:spPr>
          <a:xfrm>
            <a:off x="838200" y="1107373"/>
            <a:ext cx="10515600" cy="369276"/>
          </a:xfrm>
        </p:spPr>
        <p:txBody>
          <a:bodyPr anchor="ctr"/>
          <a:lstStyle>
            <a:lvl1pPr marL="0" indent="0" algn="l">
              <a:buNone/>
              <a:defRPr sz="1800" b="0" i="1">
                <a:solidFill>
                  <a:srgbClr val="00000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pic>
        <p:nvPicPr>
          <p:cNvPr id="12" name="Picture 11" descr="Level Access Logo"/>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05537" y="6302169"/>
            <a:ext cx="1048265" cy="419306"/>
          </a:xfrm>
          <a:prstGeom prst="rect">
            <a:avLst/>
          </a:prstGeom>
        </p:spPr>
      </p:pic>
      <p:sp>
        <p:nvSpPr>
          <p:cNvPr id="9" name="Rectangle 8"/>
          <p:cNvSpPr/>
          <p:nvPr userDrawn="1"/>
        </p:nvSpPr>
        <p:spPr>
          <a:xfrm>
            <a:off x="718038" y="1474177"/>
            <a:ext cx="10755927" cy="45719"/>
          </a:xfrm>
          <a:prstGeom prst="rect">
            <a:avLst/>
          </a:prstGeom>
          <a:solidFill>
            <a:srgbClr val="5DD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Regular" charset="0"/>
            </a:endParaRPr>
          </a:p>
        </p:txBody>
      </p:sp>
    </p:spTree>
    <p:extLst>
      <p:ext uri="{BB962C8B-B14F-4D97-AF65-F5344CB8AC3E}">
        <p14:creationId xmlns:p14="http://schemas.microsoft.com/office/powerpoint/2010/main" val="1376371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cstate="print">
            <a:lum/>
          </a:blip>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31817" y="980728"/>
            <a:ext cx="9984664"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endParaRPr lang="en-GB" dirty="0"/>
          </a:p>
        </p:txBody>
      </p:sp>
      <p:sp>
        <p:nvSpPr>
          <p:cNvPr id="2051" name="Rectangle 3"/>
          <p:cNvSpPr>
            <a:spLocks noGrp="1" noChangeArrowheads="1"/>
          </p:cNvSpPr>
          <p:nvPr>
            <p:ph type="body" idx="1"/>
          </p:nvPr>
        </p:nvSpPr>
        <p:spPr bwMode="auto">
          <a:xfrm>
            <a:off x="431817" y="1628801"/>
            <a:ext cx="11233151" cy="5040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cSld>
  <p:clrMap bg1="lt1" tx1="dk1" bg2="lt2" tx2="dk2" accent1="accent1" accent2="accent2" accent3="accent3" accent4="accent4" accent5="accent5" accent6="accent6" hlink="hlink" folHlink="folHlink"/>
  <p:sldLayoutIdLst>
    <p:sldLayoutId id="2147483983" r:id="rId1"/>
    <p:sldLayoutId id="2147483973" r:id="rId2"/>
    <p:sldLayoutId id="2147483974" r:id="rId3"/>
    <p:sldLayoutId id="2147483975" r:id="rId4"/>
    <p:sldLayoutId id="2147483976" r:id="rId5"/>
    <p:sldLayoutId id="2147483977" r:id="rId6"/>
    <p:sldLayoutId id="2147483978" r:id="rId7"/>
    <p:sldLayoutId id="2147483979" r:id="rId8"/>
    <p:sldLayoutId id="2147483980" r:id="rId9"/>
    <p:sldLayoutId id="2147483981" r:id="rId10"/>
    <p:sldLayoutId id="2147483982" r:id="rId11"/>
    <p:sldLayoutId id="2147483984" r:id="rId12"/>
  </p:sldLayoutIdLst>
  <p:txStyles>
    <p:titleStyle>
      <a:lvl1pPr algn="l" rtl="0" eaLnBrk="1" fontAlgn="base" hangingPunct="1">
        <a:spcBef>
          <a:spcPct val="0"/>
        </a:spcBef>
        <a:spcAft>
          <a:spcPct val="0"/>
        </a:spcAft>
        <a:defRPr sz="3600">
          <a:solidFill>
            <a:schemeClr val="tx2"/>
          </a:solidFill>
          <a:latin typeface="+mj-lt"/>
          <a:ea typeface="+mj-ea"/>
          <a:cs typeface="+mj-cs"/>
        </a:defRPr>
      </a:lvl1pPr>
      <a:lvl2pPr algn="l" rtl="0" eaLnBrk="1" fontAlgn="base" hangingPunct="1">
        <a:spcBef>
          <a:spcPct val="0"/>
        </a:spcBef>
        <a:spcAft>
          <a:spcPct val="0"/>
        </a:spcAft>
        <a:defRPr sz="3600">
          <a:solidFill>
            <a:schemeClr val="tx2"/>
          </a:solidFill>
          <a:latin typeface="Rockwell" pitchFamily="18" charset="0"/>
        </a:defRPr>
      </a:lvl2pPr>
      <a:lvl3pPr algn="l" rtl="0" eaLnBrk="1" fontAlgn="base" hangingPunct="1">
        <a:spcBef>
          <a:spcPct val="0"/>
        </a:spcBef>
        <a:spcAft>
          <a:spcPct val="0"/>
        </a:spcAft>
        <a:defRPr sz="3600">
          <a:solidFill>
            <a:schemeClr val="tx2"/>
          </a:solidFill>
          <a:latin typeface="Rockwell" pitchFamily="18" charset="0"/>
        </a:defRPr>
      </a:lvl3pPr>
      <a:lvl4pPr algn="l" rtl="0" eaLnBrk="1" fontAlgn="base" hangingPunct="1">
        <a:spcBef>
          <a:spcPct val="0"/>
        </a:spcBef>
        <a:spcAft>
          <a:spcPct val="0"/>
        </a:spcAft>
        <a:defRPr sz="3600">
          <a:solidFill>
            <a:schemeClr val="tx2"/>
          </a:solidFill>
          <a:latin typeface="Rockwell" pitchFamily="18" charset="0"/>
        </a:defRPr>
      </a:lvl4pPr>
      <a:lvl5pPr algn="l" rtl="0" eaLnBrk="1" fontAlgn="base" hangingPunct="1">
        <a:spcBef>
          <a:spcPct val="0"/>
        </a:spcBef>
        <a:spcAft>
          <a:spcPct val="0"/>
        </a:spcAft>
        <a:defRPr sz="3600">
          <a:solidFill>
            <a:schemeClr val="tx2"/>
          </a:solidFill>
          <a:latin typeface="Rockwell" pitchFamily="18" charset="0"/>
        </a:defRPr>
      </a:lvl5pPr>
      <a:lvl6pPr marL="457178" algn="l" rtl="0" eaLnBrk="1" fontAlgn="base" hangingPunct="1">
        <a:spcBef>
          <a:spcPct val="0"/>
        </a:spcBef>
        <a:spcAft>
          <a:spcPct val="0"/>
        </a:spcAft>
        <a:defRPr sz="3600">
          <a:solidFill>
            <a:schemeClr val="tx2"/>
          </a:solidFill>
          <a:latin typeface="Rockwell" pitchFamily="18" charset="0"/>
        </a:defRPr>
      </a:lvl6pPr>
      <a:lvl7pPr marL="914355" algn="l" rtl="0" eaLnBrk="1" fontAlgn="base" hangingPunct="1">
        <a:spcBef>
          <a:spcPct val="0"/>
        </a:spcBef>
        <a:spcAft>
          <a:spcPct val="0"/>
        </a:spcAft>
        <a:defRPr sz="3600">
          <a:solidFill>
            <a:schemeClr val="tx2"/>
          </a:solidFill>
          <a:latin typeface="Rockwell" pitchFamily="18" charset="0"/>
        </a:defRPr>
      </a:lvl7pPr>
      <a:lvl8pPr marL="1371532" algn="l" rtl="0" eaLnBrk="1" fontAlgn="base" hangingPunct="1">
        <a:spcBef>
          <a:spcPct val="0"/>
        </a:spcBef>
        <a:spcAft>
          <a:spcPct val="0"/>
        </a:spcAft>
        <a:defRPr sz="3600">
          <a:solidFill>
            <a:schemeClr val="tx2"/>
          </a:solidFill>
          <a:latin typeface="Rockwell" pitchFamily="18" charset="0"/>
        </a:defRPr>
      </a:lvl8pPr>
      <a:lvl9pPr marL="1828709" algn="l" rtl="0" eaLnBrk="1" fontAlgn="base" hangingPunct="1">
        <a:spcBef>
          <a:spcPct val="0"/>
        </a:spcBef>
        <a:spcAft>
          <a:spcPct val="0"/>
        </a:spcAft>
        <a:defRPr sz="3600">
          <a:solidFill>
            <a:schemeClr val="tx2"/>
          </a:solidFill>
          <a:latin typeface="Rockwell" pitchFamily="18" charset="0"/>
        </a:defRPr>
      </a:lvl9pPr>
    </p:titleStyle>
    <p:bodyStyle>
      <a:lvl1pPr marL="342884" indent="-342884" algn="l" rtl="0" eaLnBrk="1" fontAlgn="base" hangingPunct="1">
        <a:spcBef>
          <a:spcPct val="20000"/>
        </a:spcBef>
        <a:spcAft>
          <a:spcPct val="0"/>
        </a:spcAft>
        <a:buChar char="•"/>
        <a:defRPr sz="3200">
          <a:solidFill>
            <a:schemeClr val="tx1"/>
          </a:solidFill>
          <a:latin typeface="+mn-lt"/>
          <a:ea typeface="+mn-ea"/>
          <a:cs typeface="+mn-cs"/>
        </a:defRPr>
      </a:lvl1pPr>
      <a:lvl2pPr marL="742913" indent="-285736" algn="l" rtl="0" eaLnBrk="1" fontAlgn="base" hangingPunct="1">
        <a:spcBef>
          <a:spcPct val="20000"/>
        </a:spcBef>
        <a:spcAft>
          <a:spcPct val="0"/>
        </a:spcAft>
        <a:buChar char="–"/>
        <a:defRPr sz="2800">
          <a:solidFill>
            <a:schemeClr val="tx1"/>
          </a:solidFill>
          <a:latin typeface="+mn-lt"/>
        </a:defRPr>
      </a:lvl2pPr>
      <a:lvl3pPr marL="1142944" indent="-228588" algn="l" rtl="0" eaLnBrk="1" fontAlgn="base" hangingPunct="1">
        <a:spcBef>
          <a:spcPct val="20000"/>
        </a:spcBef>
        <a:spcAft>
          <a:spcPct val="0"/>
        </a:spcAft>
        <a:buChar char="•"/>
        <a:defRPr sz="2400">
          <a:solidFill>
            <a:schemeClr val="tx1"/>
          </a:solidFill>
          <a:latin typeface="+mn-lt"/>
        </a:defRPr>
      </a:lvl3pPr>
      <a:lvl4pPr marL="1600120" indent="-228588" algn="l" rtl="0" eaLnBrk="1" fontAlgn="base" hangingPunct="1">
        <a:spcBef>
          <a:spcPct val="20000"/>
        </a:spcBef>
        <a:spcAft>
          <a:spcPct val="0"/>
        </a:spcAft>
        <a:buChar char="–"/>
        <a:defRPr sz="2000">
          <a:solidFill>
            <a:schemeClr val="tx1"/>
          </a:solidFill>
          <a:latin typeface="+mn-lt"/>
        </a:defRPr>
      </a:lvl4pPr>
      <a:lvl5pPr marL="2057297" indent="-228588" algn="l" rtl="0" eaLnBrk="1" fontAlgn="base" hangingPunct="1">
        <a:spcBef>
          <a:spcPct val="20000"/>
        </a:spcBef>
        <a:spcAft>
          <a:spcPct val="0"/>
        </a:spcAft>
        <a:buChar char="»"/>
        <a:defRPr sz="2000">
          <a:solidFill>
            <a:schemeClr val="tx1"/>
          </a:solidFill>
          <a:latin typeface="+mn-lt"/>
        </a:defRPr>
      </a:lvl5pPr>
      <a:lvl6pPr marL="2514474" indent="-228588" algn="l" rtl="0" eaLnBrk="1" fontAlgn="base" hangingPunct="1">
        <a:spcBef>
          <a:spcPct val="20000"/>
        </a:spcBef>
        <a:spcAft>
          <a:spcPct val="0"/>
        </a:spcAft>
        <a:buChar char="»"/>
        <a:defRPr sz="2000">
          <a:solidFill>
            <a:schemeClr val="tx1"/>
          </a:solidFill>
          <a:latin typeface="+mn-lt"/>
        </a:defRPr>
      </a:lvl6pPr>
      <a:lvl7pPr marL="2971652" indent="-228588" algn="l" rtl="0" eaLnBrk="1" fontAlgn="base" hangingPunct="1">
        <a:spcBef>
          <a:spcPct val="20000"/>
        </a:spcBef>
        <a:spcAft>
          <a:spcPct val="0"/>
        </a:spcAft>
        <a:buChar char="»"/>
        <a:defRPr sz="2000">
          <a:solidFill>
            <a:schemeClr val="tx1"/>
          </a:solidFill>
          <a:latin typeface="+mn-lt"/>
        </a:defRPr>
      </a:lvl7pPr>
      <a:lvl8pPr marL="3428829" indent="-228588" algn="l" rtl="0" eaLnBrk="1" fontAlgn="base" hangingPunct="1">
        <a:spcBef>
          <a:spcPct val="20000"/>
        </a:spcBef>
        <a:spcAft>
          <a:spcPct val="0"/>
        </a:spcAft>
        <a:buChar char="»"/>
        <a:defRPr sz="2000">
          <a:solidFill>
            <a:schemeClr val="tx1"/>
          </a:solidFill>
          <a:latin typeface="+mn-lt"/>
        </a:defRPr>
      </a:lvl8pPr>
      <a:lvl9pPr marL="3886006" indent="-228588"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kumimoji="1" lang="en-GB" sz="4400" dirty="0">
                <a:effectLst>
                  <a:outerShdw blurRad="38100" dist="38100" dir="2700000" algn="tl">
                    <a:srgbClr val="000000">
                      <a:alpha val="43137"/>
                    </a:srgbClr>
                  </a:outerShdw>
                </a:effectLst>
              </a:rPr>
              <a:t>6CS005 High Performance Computing</a:t>
            </a:r>
            <a:endParaRPr lang="en-GB" sz="440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p:txBody>
          <a:bodyPr>
            <a:normAutofit/>
          </a:bodyPr>
          <a:lstStyle/>
          <a:p>
            <a:r>
              <a:rPr lang="en-GB" dirty="0"/>
              <a:t>Week 2 Parallel Programming</a:t>
            </a:r>
            <a:endParaRPr lang="en-US" dirty="0"/>
          </a:p>
        </p:txBody>
      </p:sp>
    </p:spTree>
    <p:extLst>
      <p:ext uri="{BB962C8B-B14F-4D97-AF65-F5344CB8AC3E}">
        <p14:creationId xmlns:p14="http://schemas.microsoft.com/office/powerpoint/2010/main" val="36829897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1EA02-D12C-4B69-9E6A-7150FA835DCE}"/>
              </a:ext>
            </a:extLst>
          </p:cNvPr>
          <p:cNvSpPr>
            <a:spLocks noGrp="1"/>
          </p:cNvSpPr>
          <p:nvPr>
            <p:ph type="title"/>
          </p:nvPr>
        </p:nvSpPr>
        <p:spPr/>
        <p:txBody>
          <a:bodyPr/>
          <a:lstStyle/>
          <a:p>
            <a:r>
              <a:rPr lang="en-GB" dirty="0"/>
              <a:t>Race Condition</a:t>
            </a:r>
          </a:p>
        </p:txBody>
      </p:sp>
      <p:sp>
        <p:nvSpPr>
          <p:cNvPr id="3" name="Content Placeholder 2">
            <a:extLst>
              <a:ext uri="{FF2B5EF4-FFF2-40B4-BE49-F238E27FC236}">
                <a16:creationId xmlns:a16="http://schemas.microsoft.com/office/drawing/2014/main" id="{A05C2474-6A8A-48FE-80DA-E91EAF437397}"/>
              </a:ext>
            </a:extLst>
          </p:cNvPr>
          <p:cNvSpPr>
            <a:spLocks noGrp="1"/>
          </p:cNvSpPr>
          <p:nvPr>
            <p:ph idx="1"/>
          </p:nvPr>
        </p:nvSpPr>
        <p:spPr/>
        <p:txBody>
          <a:bodyPr/>
          <a:lstStyle/>
          <a:p>
            <a:r>
              <a:rPr lang="en-GB" sz="3600" dirty="0"/>
              <a:t>A race condition arises in software when a computer program, to operate properly, depends on the sequence or timing of the program's processes or threads. </a:t>
            </a:r>
          </a:p>
          <a:p>
            <a:endParaRPr lang="en-GB" sz="3600" dirty="0"/>
          </a:p>
          <a:p>
            <a:r>
              <a:rPr lang="en-GB" sz="3600" dirty="0"/>
              <a:t>Critical race conditions often happen when the processes or threads depend on some shared state. </a:t>
            </a:r>
          </a:p>
        </p:txBody>
      </p:sp>
    </p:spTree>
    <p:extLst>
      <p:ext uri="{BB962C8B-B14F-4D97-AF65-F5344CB8AC3E}">
        <p14:creationId xmlns:p14="http://schemas.microsoft.com/office/powerpoint/2010/main" val="20654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Race Condition</a:t>
            </a:r>
            <a:endParaRPr lang="en-GB" dirty="0"/>
          </a:p>
        </p:txBody>
      </p:sp>
      <p:sp>
        <p:nvSpPr>
          <p:cNvPr id="3" name="Content Placeholder 2"/>
          <p:cNvSpPr>
            <a:spLocks noGrp="1"/>
          </p:cNvSpPr>
          <p:nvPr>
            <p:ph idx="1"/>
          </p:nvPr>
        </p:nvSpPr>
        <p:spPr>
          <a:xfrm>
            <a:off x="239350" y="1052737"/>
            <a:ext cx="4848537" cy="5616625"/>
          </a:xfrm>
        </p:spPr>
        <p:txBody>
          <a:bodyPr numCol="1">
            <a:normAutofit/>
          </a:bodyPr>
          <a:lstStyle/>
          <a:p>
            <a:pPr>
              <a:buNone/>
            </a:pPr>
            <a:r>
              <a:rPr lang="en-GB" sz="1800" b="1" dirty="0" err="1">
                <a:latin typeface="Courier New" pitchFamily="49" charset="0"/>
                <a:cs typeface="Courier New" pitchFamily="49" charset="0"/>
              </a:rPr>
              <a:t>int</a:t>
            </a:r>
            <a:r>
              <a:rPr lang="en-GB" sz="1800" b="1" dirty="0">
                <a:latin typeface="Courier New" pitchFamily="49" charset="0"/>
                <a:cs typeface="Courier New" pitchFamily="49" charset="0"/>
              </a:rPr>
              <a:t> counter=0;</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void *</a:t>
            </a:r>
            <a:r>
              <a:rPr lang="en-GB" sz="1800" b="1" dirty="0" err="1">
                <a:latin typeface="Courier New" pitchFamily="49" charset="0"/>
                <a:cs typeface="Courier New" pitchFamily="49" charset="0"/>
              </a:rPr>
              <a:t>threadOne</a:t>
            </a:r>
            <a:r>
              <a:rPr lang="en-GB" sz="1800" b="1" dirty="0">
                <a:latin typeface="Courier New" pitchFamily="49" charset="0"/>
                <a:cs typeface="Courier New" pitchFamily="49" charset="0"/>
              </a:rPr>
              <a:t>(void *p)</a:t>
            </a:r>
          </a:p>
          <a:p>
            <a:pPr>
              <a:buNone/>
            </a:pPr>
            <a:r>
              <a:rPr lang="en-GB" sz="1800" b="1" dirty="0">
                <a:latin typeface="Courier New" pitchFamily="49" charset="0"/>
                <a:cs typeface="Courier New" pitchFamily="49" charset="0"/>
              </a:rPr>
              <a:t>{</a:t>
            </a:r>
          </a:p>
          <a:p>
            <a:pPr>
              <a:buNone/>
            </a:pPr>
            <a:r>
              <a:rPr lang="en-GB" sz="1800" b="1" dirty="0">
                <a:latin typeface="Courier New" pitchFamily="49" charset="0"/>
                <a:cs typeface="Courier New" pitchFamily="49" charset="0"/>
              </a:rPr>
              <a:t> for(int </a:t>
            </a:r>
            <a:r>
              <a:rPr lang="en-GB" sz="1800" b="1" dirty="0" err="1">
                <a:latin typeface="Courier New" pitchFamily="49" charset="0"/>
                <a:cs typeface="Courier New" pitchFamily="49" charset="0"/>
              </a:rPr>
              <a:t>i</a:t>
            </a:r>
            <a:r>
              <a:rPr lang="en-GB" sz="1800" b="1" dirty="0">
                <a:latin typeface="Courier New" pitchFamily="49" charset="0"/>
                <a:cs typeface="Courier New" pitchFamily="49" charset="0"/>
              </a:rPr>
              <a:t>=0; </a:t>
            </a:r>
            <a:r>
              <a:rPr lang="en-GB" sz="1800" b="1" dirty="0" err="1">
                <a:latin typeface="Courier New" pitchFamily="49" charset="0"/>
                <a:cs typeface="Courier New" pitchFamily="49" charset="0"/>
              </a:rPr>
              <a:t>i</a:t>
            </a:r>
            <a:r>
              <a:rPr lang="en-GB" sz="1800" b="1" dirty="0">
                <a:latin typeface="Courier New" pitchFamily="49" charset="0"/>
                <a:cs typeface="Courier New" pitchFamily="49" charset="0"/>
              </a:rPr>
              <a:t>&lt;1000; </a:t>
            </a:r>
            <a:r>
              <a:rPr lang="en-GB" sz="1800" b="1" dirty="0" err="1">
                <a:latin typeface="Courier New" pitchFamily="49" charset="0"/>
                <a:cs typeface="Courier New" pitchFamily="49" charset="0"/>
              </a:rPr>
              <a:t>i</a:t>
            </a:r>
            <a:r>
              <a:rPr lang="en-GB" sz="1800" b="1" dirty="0">
                <a:latin typeface="Courier New" pitchFamily="49" charset="0"/>
                <a:cs typeface="Courier New" pitchFamily="49" charset="0"/>
              </a:rPr>
              <a:t>++){</a:t>
            </a:r>
          </a:p>
          <a:p>
            <a:pPr>
              <a:buNone/>
            </a:pPr>
            <a:r>
              <a:rPr lang="en-GB" sz="1800" b="1" dirty="0">
                <a:latin typeface="Courier New" pitchFamily="49" charset="0"/>
                <a:cs typeface="Courier New" pitchFamily="49" charset="0"/>
              </a:rPr>
              <a:t>  </a:t>
            </a:r>
            <a:r>
              <a:rPr lang="en-GB" sz="1800" b="1">
                <a:latin typeface="Courier New" pitchFamily="49" charset="0"/>
                <a:cs typeface="Courier New" pitchFamily="49" charset="0"/>
              </a:rPr>
              <a:t>counter = doSomething();</a:t>
            </a: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 }</a:t>
            </a:r>
          </a:p>
          <a:p>
            <a:pPr>
              <a:buNone/>
            </a:pPr>
            <a:r>
              <a:rPr lang="en-GB" sz="1800" b="1" dirty="0">
                <a:latin typeface="Courier New" pitchFamily="49" charset="0"/>
                <a:cs typeface="Courier New" pitchFamily="49" charset="0"/>
              </a:rPr>
              <a:t>}</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void *</a:t>
            </a:r>
            <a:r>
              <a:rPr lang="en-GB" sz="1800" b="1" dirty="0" err="1">
                <a:latin typeface="Courier New" pitchFamily="49" charset="0"/>
                <a:cs typeface="Courier New" pitchFamily="49" charset="0"/>
              </a:rPr>
              <a:t>threadTwo</a:t>
            </a:r>
            <a:r>
              <a:rPr lang="en-GB" sz="1800" b="1" dirty="0">
                <a:latin typeface="Courier New" pitchFamily="49" charset="0"/>
                <a:cs typeface="Courier New" pitchFamily="49" charset="0"/>
              </a:rPr>
              <a:t>(void *p)</a:t>
            </a:r>
          </a:p>
          <a:p>
            <a:pPr>
              <a:buNone/>
            </a:pPr>
            <a:r>
              <a:rPr lang="en-GB" sz="1800" b="1" dirty="0">
                <a:latin typeface="Courier New" pitchFamily="49" charset="0"/>
                <a:cs typeface="Courier New" pitchFamily="49" charset="0"/>
              </a:rPr>
              <a:t>{</a:t>
            </a:r>
          </a:p>
          <a:p>
            <a:pPr>
              <a:buNone/>
            </a:pPr>
            <a:r>
              <a:rPr lang="en-GB" sz="1800" b="1" dirty="0">
                <a:latin typeface="Courier New" pitchFamily="49" charset="0"/>
                <a:cs typeface="Courier New" pitchFamily="49" charset="0"/>
              </a:rPr>
              <a:t> for(int </a:t>
            </a:r>
            <a:r>
              <a:rPr lang="en-GB" sz="1800" b="1" dirty="0" err="1">
                <a:latin typeface="Courier New" pitchFamily="49" charset="0"/>
                <a:cs typeface="Courier New" pitchFamily="49" charset="0"/>
              </a:rPr>
              <a:t>i</a:t>
            </a:r>
            <a:r>
              <a:rPr lang="en-GB" sz="1800" b="1" dirty="0">
                <a:latin typeface="Courier New" pitchFamily="49" charset="0"/>
                <a:cs typeface="Courier New" pitchFamily="49" charset="0"/>
              </a:rPr>
              <a:t>=0; </a:t>
            </a:r>
            <a:r>
              <a:rPr lang="en-GB" sz="1800" b="1" dirty="0" err="1">
                <a:latin typeface="Courier New" pitchFamily="49" charset="0"/>
                <a:cs typeface="Courier New" pitchFamily="49" charset="0"/>
              </a:rPr>
              <a:t>i</a:t>
            </a:r>
            <a:r>
              <a:rPr lang="en-GB" sz="1800" b="1" dirty="0">
                <a:latin typeface="Courier New" pitchFamily="49" charset="0"/>
                <a:cs typeface="Courier New" pitchFamily="49" charset="0"/>
              </a:rPr>
              <a:t>&lt;1000; </a:t>
            </a:r>
            <a:r>
              <a:rPr lang="en-GB" sz="1800" b="1" dirty="0" err="1">
                <a:latin typeface="Courier New" pitchFamily="49" charset="0"/>
                <a:cs typeface="Courier New" pitchFamily="49" charset="0"/>
              </a:rPr>
              <a:t>i</a:t>
            </a:r>
            <a:r>
              <a:rPr lang="en-GB" sz="1800" b="1" dirty="0">
                <a:latin typeface="Courier New" pitchFamily="49" charset="0"/>
                <a:cs typeface="Courier New" pitchFamily="49" charset="0"/>
              </a:rPr>
              <a:t>++){</a:t>
            </a:r>
          </a:p>
          <a:p>
            <a:pPr>
              <a:buNone/>
            </a:pPr>
            <a:r>
              <a:rPr lang="en-GB" sz="1800" b="1" dirty="0">
                <a:latin typeface="Courier New" pitchFamily="49" charset="0"/>
                <a:cs typeface="Courier New" pitchFamily="49" charset="0"/>
              </a:rPr>
              <a:t>  </a:t>
            </a:r>
            <a:r>
              <a:rPr lang="en-GB" sz="1800" b="1">
                <a:latin typeface="Courier New" pitchFamily="49" charset="0"/>
                <a:cs typeface="Courier New" pitchFamily="49" charset="0"/>
              </a:rPr>
              <a:t>counter = doSomething();</a:t>
            </a: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 }</a:t>
            </a:r>
          </a:p>
          <a:p>
            <a:pPr>
              <a:buNone/>
            </a:pPr>
            <a:r>
              <a:rPr lang="en-GB" sz="1800" b="1">
                <a:latin typeface="Courier New" pitchFamily="49" charset="0"/>
                <a:cs typeface="Courier New" pitchFamily="49" charset="0"/>
              </a:rPr>
              <a:t>}</a:t>
            </a:r>
            <a:endParaRPr lang="en-GB" sz="1800" b="1" dirty="0">
              <a:latin typeface="Courier New" pitchFamily="49" charset="0"/>
              <a:cs typeface="Courier New" pitchFamily="49" charset="0"/>
            </a:endParaRPr>
          </a:p>
        </p:txBody>
      </p:sp>
      <p:sp>
        <p:nvSpPr>
          <p:cNvPr id="4" name="Content Placeholder 2">
            <a:extLst>
              <a:ext uri="{FF2B5EF4-FFF2-40B4-BE49-F238E27FC236}">
                <a16:creationId xmlns:a16="http://schemas.microsoft.com/office/drawing/2014/main" id="{DE853CA3-8B5A-1238-AE7E-7CBDCF519194}"/>
              </a:ext>
            </a:extLst>
          </p:cNvPr>
          <p:cNvSpPr txBox="1">
            <a:spLocks/>
          </p:cNvSpPr>
          <p:nvPr/>
        </p:nvSpPr>
        <p:spPr bwMode="auto">
          <a:xfrm>
            <a:off x="5303912" y="1052736"/>
            <a:ext cx="6768752" cy="561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884" indent="-342884" algn="l" rtl="0" eaLnBrk="1" fontAlgn="base" hangingPunct="1">
              <a:spcBef>
                <a:spcPct val="20000"/>
              </a:spcBef>
              <a:spcAft>
                <a:spcPct val="0"/>
              </a:spcAft>
              <a:buChar char="•"/>
              <a:defRPr sz="3200">
                <a:solidFill>
                  <a:schemeClr val="tx1"/>
                </a:solidFill>
                <a:latin typeface="+mn-lt"/>
                <a:ea typeface="+mn-ea"/>
                <a:cs typeface="+mn-cs"/>
              </a:defRPr>
            </a:lvl1pPr>
            <a:lvl2pPr marL="742913" indent="-285736" algn="l" rtl="0" eaLnBrk="1" fontAlgn="base" hangingPunct="1">
              <a:spcBef>
                <a:spcPct val="20000"/>
              </a:spcBef>
              <a:spcAft>
                <a:spcPct val="0"/>
              </a:spcAft>
              <a:buChar char="–"/>
              <a:defRPr sz="2800">
                <a:solidFill>
                  <a:schemeClr val="tx1"/>
                </a:solidFill>
                <a:latin typeface="+mn-lt"/>
              </a:defRPr>
            </a:lvl2pPr>
            <a:lvl3pPr marL="1142944" indent="-228588" algn="l" rtl="0" eaLnBrk="1" fontAlgn="base" hangingPunct="1">
              <a:spcBef>
                <a:spcPct val="20000"/>
              </a:spcBef>
              <a:spcAft>
                <a:spcPct val="0"/>
              </a:spcAft>
              <a:buChar char="•"/>
              <a:defRPr sz="2400">
                <a:solidFill>
                  <a:schemeClr val="tx1"/>
                </a:solidFill>
                <a:latin typeface="+mn-lt"/>
              </a:defRPr>
            </a:lvl3pPr>
            <a:lvl4pPr marL="1600120" indent="-228588" algn="l" rtl="0" eaLnBrk="1" fontAlgn="base" hangingPunct="1">
              <a:spcBef>
                <a:spcPct val="20000"/>
              </a:spcBef>
              <a:spcAft>
                <a:spcPct val="0"/>
              </a:spcAft>
              <a:buChar char="–"/>
              <a:defRPr sz="2000">
                <a:solidFill>
                  <a:schemeClr val="tx1"/>
                </a:solidFill>
                <a:latin typeface="+mn-lt"/>
              </a:defRPr>
            </a:lvl4pPr>
            <a:lvl5pPr marL="2057297" indent="-228588" algn="l" rtl="0" eaLnBrk="1" fontAlgn="base" hangingPunct="1">
              <a:spcBef>
                <a:spcPct val="20000"/>
              </a:spcBef>
              <a:spcAft>
                <a:spcPct val="0"/>
              </a:spcAft>
              <a:buChar char="»"/>
              <a:defRPr sz="2000">
                <a:solidFill>
                  <a:schemeClr val="tx1"/>
                </a:solidFill>
                <a:latin typeface="+mn-lt"/>
              </a:defRPr>
            </a:lvl5pPr>
            <a:lvl6pPr marL="2514474" indent="-228588" algn="l" rtl="0" eaLnBrk="1" fontAlgn="base" hangingPunct="1">
              <a:spcBef>
                <a:spcPct val="20000"/>
              </a:spcBef>
              <a:spcAft>
                <a:spcPct val="0"/>
              </a:spcAft>
              <a:buChar char="»"/>
              <a:defRPr sz="2000">
                <a:solidFill>
                  <a:schemeClr val="tx1"/>
                </a:solidFill>
                <a:latin typeface="+mn-lt"/>
              </a:defRPr>
            </a:lvl6pPr>
            <a:lvl7pPr marL="2971652" indent="-228588" algn="l" rtl="0" eaLnBrk="1" fontAlgn="base" hangingPunct="1">
              <a:spcBef>
                <a:spcPct val="20000"/>
              </a:spcBef>
              <a:spcAft>
                <a:spcPct val="0"/>
              </a:spcAft>
              <a:buChar char="»"/>
              <a:defRPr sz="2000">
                <a:solidFill>
                  <a:schemeClr val="tx1"/>
                </a:solidFill>
                <a:latin typeface="+mn-lt"/>
              </a:defRPr>
            </a:lvl7pPr>
            <a:lvl8pPr marL="3428829" indent="-228588" algn="l" rtl="0" eaLnBrk="1" fontAlgn="base" hangingPunct="1">
              <a:spcBef>
                <a:spcPct val="20000"/>
              </a:spcBef>
              <a:spcAft>
                <a:spcPct val="0"/>
              </a:spcAft>
              <a:buChar char="»"/>
              <a:defRPr sz="2000">
                <a:solidFill>
                  <a:schemeClr val="tx1"/>
                </a:solidFill>
                <a:latin typeface="+mn-lt"/>
              </a:defRPr>
            </a:lvl8pPr>
            <a:lvl9pPr marL="3886006" indent="-228588" algn="l" rtl="0" eaLnBrk="1" fontAlgn="base" hangingPunct="1">
              <a:spcBef>
                <a:spcPct val="20000"/>
              </a:spcBef>
              <a:spcAft>
                <a:spcPct val="0"/>
              </a:spcAft>
              <a:buChar char="»"/>
              <a:defRPr sz="2000">
                <a:solidFill>
                  <a:schemeClr val="tx1"/>
                </a:solidFill>
                <a:latin typeface="+mn-lt"/>
              </a:defRPr>
            </a:lvl9pPr>
          </a:lstStyle>
          <a:p>
            <a:pPr>
              <a:buFontTx/>
              <a:buNone/>
            </a:pPr>
            <a:r>
              <a:rPr lang="en-GB" sz="1800" b="1" kern="0">
                <a:latin typeface="Courier New" pitchFamily="49" charset="0"/>
                <a:cs typeface="Courier New" pitchFamily="49" charset="0"/>
              </a:rPr>
              <a:t>void main()</a:t>
            </a:r>
          </a:p>
          <a:p>
            <a:pPr>
              <a:buFontTx/>
              <a:buNone/>
            </a:pPr>
            <a:r>
              <a:rPr lang="en-GB" sz="1800" b="1" kern="0">
                <a:latin typeface="Courier New" pitchFamily="49" charset="0"/>
                <a:cs typeface="Courier New" pitchFamily="49" charset="0"/>
              </a:rPr>
              <a:t>{</a:t>
            </a:r>
          </a:p>
          <a:p>
            <a:pPr>
              <a:buFontTx/>
              <a:buNone/>
            </a:pPr>
            <a:r>
              <a:rPr lang="en-GB" sz="1800" b="1" kern="0">
                <a:latin typeface="Courier New" pitchFamily="49" charset="0"/>
                <a:cs typeface="Courier New" pitchFamily="49" charset="0"/>
              </a:rPr>
              <a:t> pthread_t thrID1, thrID2;</a:t>
            </a:r>
          </a:p>
          <a:p>
            <a:pPr>
              <a:buFontTx/>
              <a:buNone/>
            </a:pPr>
            <a:endParaRPr lang="en-GB" sz="1800" b="1" kern="0">
              <a:latin typeface="Courier New" pitchFamily="49" charset="0"/>
              <a:cs typeface="Courier New" pitchFamily="49" charset="0"/>
            </a:endParaRPr>
          </a:p>
          <a:p>
            <a:pPr>
              <a:buFontTx/>
              <a:buNone/>
            </a:pPr>
            <a:r>
              <a:rPr lang="en-GB" sz="1800" b="1" kern="0">
                <a:latin typeface="Courier New" pitchFamily="49" charset="0"/>
                <a:cs typeface="Courier New" pitchFamily="49" charset="0"/>
              </a:rPr>
              <a:t> pthread_create(&amp;thrID1, NULL, threadOne, NULL);</a:t>
            </a:r>
          </a:p>
          <a:p>
            <a:pPr>
              <a:buFontTx/>
              <a:buNone/>
            </a:pPr>
            <a:r>
              <a:rPr lang="en-GB" sz="1800" b="1" kern="0">
                <a:latin typeface="Courier New" pitchFamily="49" charset="0"/>
                <a:cs typeface="Courier New" pitchFamily="49" charset="0"/>
              </a:rPr>
              <a:t> pthread_create(&amp;thrID2, NULL, threadTwo, NULL);</a:t>
            </a:r>
          </a:p>
          <a:p>
            <a:pPr>
              <a:buFontTx/>
              <a:buNone/>
            </a:pPr>
            <a:r>
              <a:rPr lang="en-GB" sz="1800" b="1" kern="0">
                <a:latin typeface="Courier New" pitchFamily="49" charset="0"/>
                <a:cs typeface="Courier New" pitchFamily="49" charset="0"/>
              </a:rPr>
              <a:t> pthread_join(thrID1, NULL);</a:t>
            </a:r>
          </a:p>
          <a:p>
            <a:pPr>
              <a:buFontTx/>
              <a:buNone/>
            </a:pPr>
            <a:r>
              <a:rPr lang="en-GB" sz="1800" b="1" kern="0">
                <a:latin typeface="Courier New" pitchFamily="49" charset="0"/>
                <a:cs typeface="Courier New" pitchFamily="49" charset="0"/>
              </a:rPr>
              <a:t> pthread_join(thrID2, NULL);</a:t>
            </a:r>
          </a:p>
          <a:p>
            <a:pPr>
              <a:buFontTx/>
              <a:buNone/>
            </a:pPr>
            <a:r>
              <a:rPr lang="en-GB" sz="1800" b="1" kern="0">
                <a:latin typeface="Courier New" pitchFamily="49" charset="0"/>
                <a:cs typeface="Courier New" pitchFamily="49" charset="0"/>
              </a:rPr>
              <a:t> </a:t>
            </a:r>
          </a:p>
          <a:p>
            <a:pPr>
              <a:buFontTx/>
              <a:buNone/>
            </a:pPr>
            <a:r>
              <a:rPr lang="en-GB" sz="1800" b="1" kern="0">
                <a:latin typeface="Courier New" pitchFamily="49" charset="0"/>
                <a:cs typeface="Courier New" pitchFamily="49" charset="0"/>
              </a:rPr>
              <a:t> printf("Final counter = %d\n", counter);</a:t>
            </a:r>
          </a:p>
          <a:p>
            <a:pPr>
              <a:buFontTx/>
              <a:buNone/>
            </a:pPr>
            <a:r>
              <a:rPr lang="en-GB" sz="1800" b="1" kern="0">
                <a:latin typeface="Courier New" pitchFamily="49" charset="0"/>
                <a:cs typeface="Courier New" pitchFamily="49" charset="0"/>
              </a:rPr>
              <a:t>}</a:t>
            </a:r>
          </a:p>
          <a:p>
            <a:pPr>
              <a:buFontTx/>
              <a:buNone/>
            </a:pPr>
            <a:endParaRPr lang="en-GB" sz="1800" b="1" kern="0">
              <a:latin typeface="Courier New" pitchFamily="49" charset="0"/>
              <a:cs typeface="Courier New" pitchFamily="49" charset="0"/>
            </a:endParaRPr>
          </a:p>
          <a:p>
            <a:pPr>
              <a:buFontTx/>
              <a:buNone/>
            </a:pPr>
            <a:endParaRPr lang="en-GB" sz="1800" b="1" kern="0">
              <a:latin typeface="Courier New" pitchFamily="49" charset="0"/>
              <a:cs typeface="Courier New" pitchFamily="49" charset="0"/>
            </a:endParaRPr>
          </a:p>
          <a:p>
            <a:pPr>
              <a:buFontTx/>
              <a:buNone/>
            </a:pPr>
            <a:endParaRPr lang="en-GB" sz="1800" b="1" kern="0" dirty="0">
              <a:latin typeface="Courier New" pitchFamily="49" charset="0"/>
              <a:cs typeface="Courier New" pitchFamily="49" charset="0"/>
            </a:endParaRPr>
          </a:p>
        </p:txBody>
      </p:sp>
    </p:spTree>
    <p:extLst>
      <p:ext uri="{BB962C8B-B14F-4D97-AF65-F5344CB8AC3E}">
        <p14:creationId xmlns:p14="http://schemas.microsoft.com/office/powerpoint/2010/main" val="24292215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Critical Sections</a:t>
            </a:r>
          </a:p>
        </p:txBody>
      </p:sp>
      <p:sp>
        <p:nvSpPr>
          <p:cNvPr id="3" name="Content Placeholder 2"/>
          <p:cNvSpPr>
            <a:spLocks noGrp="1"/>
          </p:cNvSpPr>
          <p:nvPr>
            <p:ph idx="1"/>
          </p:nvPr>
        </p:nvSpPr>
        <p:spPr/>
        <p:txBody>
          <a:bodyPr/>
          <a:lstStyle/>
          <a:p>
            <a:r>
              <a:rPr lang="en-GB" dirty="0"/>
              <a:t>When multiple threads share global resources, they may interfere with each other</a:t>
            </a:r>
          </a:p>
          <a:p>
            <a:r>
              <a:rPr lang="en-GB" dirty="0"/>
              <a:t>We need a protection mechanism to prevent this interference </a:t>
            </a:r>
          </a:p>
          <a:p>
            <a:r>
              <a:rPr lang="en-GB" b="1" dirty="0"/>
              <a:t>Critical section </a:t>
            </a:r>
            <a:r>
              <a:rPr lang="en-GB" dirty="0"/>
              <a:t>- section of code that need this protection</a:t>
            </a:r>
          </a:p>
          <a:p>
            <a:endParaRPr lang="en-GB" dirty="0"/>
          </a:p>
        </p:txBody>
      </p:sp>
      <p:pic>
        <p:nvPicPr>
          <p:cNvPr id="4" name="Picture 3">
            <a:extLst>
              <a:ext uri="{FF2B5EF4-FFF2-40B4-BE49-F238E27FC236}">
                <a16:creationId xmlns:a16="http://schemas.microsoft.com/office/drawing/2014/main" id="{6C1FF1A4-CFDB-42DF-B6D1-DC1DAD6E6275}"/>
              </a:ext>
            </a:extLst>
          </p:cNvPr>
          <p:cNvPicPr>
            <a:picLocks noChangeAspect="1"/>
          </p:cNvPicPr>
          <p:nvPr/>
        </p:nvPicPr>
        <p:blipFill>
          <a:blip r:embed="rId2"/>
          <a:stretch>
            <a:fillRect/>
          </a:stretch>
        </p:blipFill>
        <p:spPr>
          <a:xfrm>
            <a:off x="2049150" y="4509120"/>
            <a:ext cx="8093700" cy="1800200"/>
          </a:xfrm>
          <a:prstGeom prst="rect">
            <a:avLst/>
          </a:prstGeom>
        </p:spPr>
      </p:pic>
    </p:spTree>
    <p:extLst>
      <p:ext uri="{BB962C8B-B14F-4D97-AF65-F5344CB8AC3E}">
        <p14:creationId xmlns:p14="http://schemas.microsoft.com/office/powerpoint/2010/main" val="1900537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Critical Section</a:t>
            </a:r>
          </a:p>
        </p:txBody>
      </p:sp>
      <p:sp>
        <p:nvSpPr>
          <p:cNvPr id="3" name="Content Placeholder 2"/>
          <p:cNvSpPr>
            <a:spLocks noGrp="1"/>
          </p:cNvSpPr>
          <p:nvPr>
            <p:ph idx="1"/>
          </p:nvPr>
        </p:nvSpPr>
        <p:spPr/>
        <p:txBody>
          <a:bodyPr/>
          <a:lstStyle/>
          <a:p>
            <a:r>
              <a:rPr lang="en-GB" dirty="0"/>
              <a:t>The critical section that needs to be protected in this code is this bit in both threads:</a:t>
            </a:r>
          </a:p>
          <a:p>
            <a:endParaRPr lang="en-GB" dirty="0"/>
          </a:p>
          <a:p>
            <a:pPr>
              <a:buNone/>
            </a:pPr>
            <a:r>
              <a:rPr lang="en-GB" b="1" dirty="0">
                <a:latin typeface="Courier New" pitchFamily="49" charset="0"/>
                <a:cs typeface="Courier New" pitchFamily="49" charset="0"/>
              </a:rPr>
              <a:t> for(int </a:t>
            </a:r>
            <a:r>
              <a:rPr lang="en-GB" b="1" dirty="0" err="1">
                <a:latin typeface="Courier New" pitchFamily="49" charset="0"/>
                <a:cs typeface="Courier New" pitchFamily="49" charset="0"/>
              </a:rPr>
              <a:t>i</a:t>
            </a:r>
            <a:r>
              <a:rPr lang="en-GB" b="1" dirty="0">
                <a:latin typeface="Courier New" pitchFamily="49" charset="0"/>
                <a:cs typeface="Courier New" pitchFamily="49" charset="0"/>
              </a:rPr>
              <a:t>=0; </a:t>
            </a:r>
            <a:r>
              <a:rPr lang="en-GB" b="1" dirty="0" err="1">
                <a:latin typeface="Courier New" pitchFamily="49" charset="0"/>
                <a:cs typeface="Courier New" pitchFamily="49" charset="0"/>
              </a:rPr>
              <a:t>i</a:t>
            </a:r>
            <a:r>
              <a:rPr lang="en-GB" b="1" dirty="0">
                <a:latin typeface="Courier New" pitchFamily="49" charset="0"/>
                <a:cs typeface="Courier New" pitchFamily="49" charset="0"/>
              </a:rPr>
              <a:t>&lt;1000; </a:t>
            </a:r>
            <a:r>
              <a:rPr lang="en-GB" b="1" dirty="0" err="1">
                <a:latin typeface="Courier New" pitchFamily="49" charset="0"/>
                <a:cs typeface="Courier New" pitchFamily="49" charset="0"/>
              </a:rPr>
              <a:t>i</a:t>
            </a:r>
            <a:r>
              <a:rPr lang="en-GB" b="1" dirty="0">
                <a:latin typeface="Courier New" pitchFamily="49" charset="0"/>
                <a:cs typeface="Courier New" pitchFamily="49" charset="0"/>
              </a:rPr>
              <a:t>++){</a:t>
            </a:r>
          </a:p>
          <a:p>
            <a:pPr>
              <a:buNone/>
            </a:pPr>
            <a:r>
              <a:rPr lang="en-GB" b="1" dirty="0">
                <a:solidFill>
                  <a:srgbClr val="FF0000"/>
                </a:solidFill>
                <a:latin typeface="Courier New" pitchFamily="49" charset="0"/>
                <a:cs typeface="Courier New" pitchFamily="49" charset="0"/>
              </a:rPr>
              <a:t>  counter = </a:t>
            </a:r>
            <a:r>
              <a:rPr lang="en-GB" b="1" err="1">
                <a:solidFill>
                  <a:srgbClr val="FF0000"/>
                </a:solidFill>
                <a:latin typeface="Courier New" pitchFamily="49" charset="0"/>
                <a:cs typeface="Courier New" pitchFamily="49" charset="0"/>
              </a:rPr>
              <a:t>doSomething</a:t>
            </a:r>
            <a:r>
              <a:rPr lang="en-GB" b="1">
                <a:solidFill>
                  <a:srgbClr val="FF0000"/>
                </a:solidFill>
                <a:latin typeface="Courier New" pitchFamily="49" charset="0"/>
                <a:cs typeface="Courier New" pitchFamily="49" charset="0"/>
              </a:rPr>
              <a:t>();</a:t>
            </a:r>
            <a:endParaRPr lang="en-GB" b="1" dirty="0">
              <a:solidFill>
                <a:srgbClr val="FF0000"/>
              </a:solidFill>
              <a:latin typeface="Courier New" pitchFamily="49" charset="0"/>
              <a:cs typeface="Courier New" pitchFamily="49" charset="0"/>
            </a:endParaRPr>
          </a:p>
          <a:p>
            <a:pPr>
              <a:buNone/>
            </a:pPr>
            <a:r>
              <a:rPr lang="en-GB" b="1" dirty="0">
                <a:latin typeface="Courier New" pitchFamily="49" charset="0"/>
                <a:cs typeface="Courier New" pitchFamily="49" charset="0"/>
              </a:rPr>
              <a:t> }</a:t>
            </a:r>
          </a:p>
          <a:p>
            <a:endParaRPr lang="en-GB" dirty="0"/>
          </a:p>
        </p:txBody>
      </p:sp>
    </p:spTree>
    <p:extLst>
      <p:ext uri="{BB962C8B-B14F-4D97-AF65-F5344CB8AC3E}">
        <p14:creationId xmlns:p14="http://schemas.microsoft.com/office/powerpoint/2010/main" val="11819571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BA2FC-87B6-47DE-95EB-DDEE27F0255E}"/>
              </a:ext>
            </a:extLst>
          </p:cNvPr>
          <p:cNvSpPr>
            <a:spLocks noGrp="1"/>
          </p:cNvSpPr>
          <p:nvPr>
            <p:ph type="title"/>
          </p:nvPr>
        </p:nvSpPr>
        <p:spPr/>
        <p:txBody>
          <a:bodyPr/>
          <a:lstStyle/>
          <a:p>
            <a:r>
              <a:rPr lang="en-GB" dirty="0"/>
              <a:t>Busy Wait</a:t>
            </a:r>
          </a:p>
        </p:txBody>
      </p:sp>
      <p:sp>
        <p:nvSpPr>
          <p:cNvPr id="10" name="TextBox 9">
            <a:extLst>
              <a:ext uri="{FF2B5EF4-FFF2-40B4-BE49-F238E27FC236}">
                <a16:creationId xmlns:a16="http://schemas.microsoft.com/office/drawing/2014/main" id="{07B07FF5-647C-42CD-91AE-649C1D2757C8}"/>
              </a:ext>
            </a:extLst>
          </p:cNvPr>
          <p:cNvSpPr txBox="1"/>
          <p:nvPr/>
        </p:nvSpPr>
        <p:spPr>
          <a:xfrm>
            <a:off x="4432473" y="3618362"/>
            <a:ext cx="1214820" cy="369332"/>
          </a:xfrm>
          <a:prstGeom prst="rect">
            <a:avLst/>
          </a:prstGeom>
          <a:noFill/>
          <a:ln>
            <a:solidFill>
              <a:srgbClr val="FF0000"/>
            </a:solidFill>
          </a:ln>
        </p:spPr>
        <p:txBody>
          <a:bodyPr wrap="none" rtlCol="0">
            <a:spAutoFit/>
          </a:bodyPr>
          <a:lstStyle/>
          <a:p>
            <a:r>
              <a:rPr lang="en-GB" dirty="0"/>
              <a:t>Busy Wait</a:t>
            </a:r>
          </a:p>
        </p:txBody>
      </p:sp>
      <p:cxnSp>
        <p:nvCxnSpPr>
          <p:cNvPr id="12" name="Straight Arrow Connector 11">
            <a:extLst>
              <a:ext uri="{FF2B5EF4-FFF2-40B4-BE49-F238E27FC236}">
                <a16:creationId xmlns:a16="http://schemas.microsoft.com/office/drawing/2014/main" id="{5533B7A9-281A-42A1-B2AE-B9B137EABE5E}"/>
              </a:ext>
            </a:extLst>
          </p:cNvPr>
          <p:cNvCxnSpPr>
            <a:cxnSpLocks/>
          </p:cNvCxnSpPr>
          <p:nvPr/>
        </p:nvCxnSpPr>
        <p:spPr>
          <a:xfrm flipH="1">
            <a:off x="2814603" y="3987694"/>
            <a:ext cx="1617870" cy="116949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368C35CB-4EF4-48BA-AD6E-E53D873DFE83}"/>
              </a:ext>
            </a:extLst>
          </p:cNvPr>
          <p:cNvCxnSpPr>
            <a:cxnSpLocks/>
          </p:cNvCxnSpPr>
          <p:nvPr/>
        </p:nvCxnSpPr>
        <p:spPr>
          <a:xfrm flipH="1" flipV="1">
            <a:off x="2814603" y="2708920"/>
            <a:ext cx="1617870" cy="90944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67FB0E6-3106-E6F6-5931-8FA3924B6D02}"/>
              </a:ext>
            </a:extLst>
          </p:cNvPr>
          <p:cNvSpPr>
            <a:spLocks noGrp="1"/>
          </p:cNvSpPr>
          <p:nvPr>
            <p:ph idx="1"/>
          </p:nvPr>
        </p:nvSpPr>
        <p:spPr>
          <a:xfrm>
            <a:off x="239351" y="1052737"/>
            <a:ext cx="4920546" cy="5616625"/>
          </a:xfrm>
        </p:spPr>
        <p:txBody>
          <a:bodyPr/>
          <a:lstStyle/>
          <a:p>
            <a:pPr marL="0" indent="0">
              <a:spcBef>
                <a:spcPts val="0"/>
              </a:spcBef>
              <a:buNone/>
            </a:pPr>
            <a:r>
              <a:rPr lang="en-GB" sz="1600" b="1">
                <a:latin typeface="Courier New" panose="02070309020205020404" pitchFamily="49" charset="0"/>
                <a:cs typeface="Courier New" panose="02070309020205020404" pitchFamily="49" charset="0"/>
              </a:rPr>
              <a:t>int counter=0;</a:t>
            </a:r>
          </a:p>
          <a:p>
            <a:pPr marL="0" indent="0">
              <a:spcBef>
                <a:spcPts val="0"/>
              </a:spcBef>
              <a:buNone/>
            </a:pPr>
            <a:r>
              <a:rPr lang="en-GB" sz="1600" b="1">
                <a:latin typeface="Courier New" panose="02070309020205020404" pitchFamily="49" charset="0"/>
                <a:cs typeface="Courier New" panose="02070309020205020404" pitchFamily="49" charset="0"/>
              </a:rPr>
              <a:t>int flag = 1;</a:t>
            </a:r>
          </a:p>
          <a:p>
            <a:pPr marL="0" indent="0">
              <a:spcBef>
                <a:spcPts val="0"/>
              </a:spcBef>
              <a:buNone/>
            </a:pPr>
            <a:endParaRPr lang="en-GB" sz="1600" b="1">
              <a:latin typeface="Courier New" panose="02070309020205020404" pitchFamily="49" charset="0"/>
              <a:cs typeface="Courier New" panose="02070309020205020404" pitchFamily="49" charset="0"/>
            </a:endParaRPr>
          </a:p>
          <a:p>
            <a:pPr marL="0" indent="0">
              <a:spcBef>
                <a:spcPts val="0"/>
              </a:spcBef>
              <a:buNone/>
            </a:pPr>
            <a:r>
              <a:rPr lang="en-GB" sz="1600" b="1">
                <a:latin typeface="Courier New" panose="02070309020205020404" pitchFamily="49" charset="0"/>
                <a:cs typeface="Courier New" panose="02070309020205020404" pitchFamily="49" charset="0"/>
              </a:rPr>
              <a:t>void *threadOne(void *p)</a:t>
            </a:r>
          </a:p>
          <a:p>
            <a:pPr marL="0" indent="0">
              <a:spcBef>
                <a:spcPts val="0"/>
              </a:spcBef>
              <a:buNone/>
            </a:pPr>
            <a:r>
              <a:rPr lang="en-GB" sz="1600" b="1">
                <a:latin typeface="Courier New" panose="02070309020205020404" pitchFamily="49" charset="0"/>
                <a:cs typeface="Courier New" panose="02070309020205020404" pitchFamily="49" charset="0"/>
              </a:rPr>
              <a:t>{</a:t>
            </a:r>
          </a:p>
          <a:p>
            <a:pPr marL="0" indent="0">
              <a:spcBef>
                <a:spcPts val="0"/>
              </a:spcBef>
              <a:buNone/>
            </a:pPr>
            <a:r>
              <a:rPr lang="en-GB" sz="1600" b="1">
                <a:latin typeface="Courier New" panose="02070309020205020404" pitchFamily="49" charset="0"/>
                <a:cs typeface="Courier New" panose="02070309020205020404" pitchFamily="49" charset="0"/>
              </a:rPr>
              <a:t>  for(int i=0; i&lt;100; i++){</a:t>
            </a:r>
          </a:p>
          <a:p>
            <a:pPr marL="0" indent="0">
              <a:spcBef>
                <a:spcPts val="0"/>
              </a:spcBef>
              <a:buNone/>
            </a:pPr>
            <a:r>
              <a:rPr lang="en-GB" sz="1600" b="1">
                <a:latin typeface="Courier New" panose="02070309020205020404" pitchFamily="49" charset="0"/>
                <a:cs typeface="Courier New" panose="02070309020205020404" pitchFamily="49" charset="0"/>
              </a:rPr>
              <a:t>    </a:t>
            </a:r>
            <a:r>
              <a:rPr lang="en-GB" sz="1600" b="1">
                <a:highlight>
                  <a:srgbClr val="FFFF00"/>
                </a:highlight>
                <a:latin typeface="Courier New" panose="02070309020205020404" pitchFamily="49" charset="0"/>
                <a:cs typeface="Courier New" panose="02070309020205020404" pitchFamily="49" charset="0"/>
              </a:rPr>
              <a:t>while(flag != 1);</a:t>
            </a:r>
            <a:r>
              <a:rPr lang="en-GB" sz="1600" b="1">
                <a:latin typeface="Courier New" panose="02070309020205020404" pitchFamily="49" charset="0"/>
                <a:cs typeface="Courier New" panose="02070309020205020404" pitchFamily="49" charset="0"/>
              </a:rPr>
              <a:t>/* Busy Wait */</a:t>
            </a:r>
          </a:p>
          <a:p>
            <a:pPr marL="0" indent="0">
              <a:spcBef>
                <a:spcPts val="0"/>
              </a:spcBef>
              <a:buNone/>
            </a:pPr>
            <a:r>
              <a:rPr lang="en-GB" sz="1600" b="1">
                <a:latin typeface="Courier New" panose="02070309020205020404" pitchFamily="49" charset="0"/>
                <a:cs typeface="Courier New" panose="02070309020205020404" pitchFamily="49" charset="0"/>
              </a:rPr>
              <a:t>    counter = doSomething();</a:t>
            </a:r>
          </a:p>
          <a:p>
            <a:pPr marL="0" indent="0">
              <a:spcBef>
                <a:spcPts val="0"/>
              </a:spcBef>
              <a:buNone/>
            </a:pPr>
            <a:r>
              <a:rPr lang="en-GB" sz="1600" b="1">
                <a:latin typeface="Courier New" panose="02070309020205020404" pitchFamily="49" charset="0"/>
                <a:cs typeface="Courier New" panose="02070309020205020404" pitchFamily="49" charset="0"/>
              </a:rPr>
              <a:t>    flag = 2;</a:t>
            </a:r>
          </a:p>
          <a:p>
            <a:pPr marL="0" indent="0">
              <a:spcBef>
                <a:spcPts val="0"/>
              </a:spcBef>
              <a:buNone/>
            </a:pPr>
            <a:r>
              <a:rPr lang="en-GB" sz="1600" b="1">
                <a:latin typeface="Courier New" panose="02070309020205020404" pitchFamily="49" charset="0"/>
                <a:cs typeface="Courier New" panose="02070309020205020404" pitchFamily="49" charset="0"/>
              </a:rPr>
              <a:t>  }</a:t>
            </a:r>
          </a:p>
          <a:p>
            <a:pPr marL="0" indent="0">
              <a:spcBef>
                <a:spcPts val="0"/>
              </a:spcBef>
              <a:buNone/>
            </a:pPr>
            <a:r>
              <a:rPr lang="en-GB" sz="1600" b="1">
                <a:latin typeface="Courier New" panose="02070309020205020404" pitchFamily="49" charset="0"/>
                <a:cs typeface="Courier New" panose="02070309020205020404" pitchFamily="49" charset="0"/>
              </a:rPr>
              <a:t>  return NULL;</a:t>
            </a:r>
          </a:p>
          <a:p>
            <a:pPr marL="0" indent="0">
              <a:spcBef>
                <a:spcPts val="0"/>
              </a:spcBef>
              <a:buNone/>
            </a:pPr>
            <a:r>
              <a:rPr lang="en-GB" sz="1600" b="1">
                <a:latin typeface="Courier New" panose="02070309020205020404" pitchFamily="49" charset="0"/>
                <a:cs typeface="Courier New" panose="02070309020205020404" pitchFamily="49" charset="0"/>
              </a:rPr>
              <a:t>}</a:t>
            </a:r>
          </a:p>
          <a:p>
            <a:pPr marL="0" indent="0">
              <a:spcBef>
                <a:spcPts val="0"/>
              </a:spcBef>
              <a:buNone/>
            </a:pPr>
            <a:endParaRPr lang="en-GB" sz="1600" b="1">
              <a:latin typeface="Courier New" panose="02070309020205020404" pitchFamily="49" charset="0"/>
              <a:cs typeface="Courier New" panose="02070309020205020404" pitchFamily="49" charset="0"/>
            </a:endParaRPr>
          </a:p>
          <a:p>
            <a:pPr marL="0" indent="0">
              <a:spcBef>
                <a:spcPts val="0"/>
              </a:spcBef>
              <a:buNone/>
            </a:pPr>
            <a:r>
              <a:rPr lang="en-GB" sz="1600" b="1">
                <a:latin typeface="Courier New" panose="02070309020205020404" pitchFamily="49" charset="0"/>
                <a:cs typeface="Courier New" panose="02070309020205020404" pitchFamily="49" charset="0"/>
              </a:rPr>
              <a:t>void *threadTwo(void *p)</a:t>
            </a:r>
          </a:p>
          <a:p>
            <a:pPr marL="0" indent="0">
              <a:spcBef>
                <a:spcPts val="0"/>
              </a:spcBef>
              <a:buNone/>
            </a:pPr>
            <a:r>
              <a:rPr lang="en-GB" sz="1600" b="1">
                <a:latin typeface="Courier New" panose="02070309020205020404" pitchFamily="49" charset="0"/>
                <a:cs typeface="Courier New" panose="02070309020205020404" pitchFamily="49" charset="0"/>
              </a:rPr>
              <a:t>{</a:t>
            </a:r>
          </a:p>
          <a:p>
            <a:pPr marL="0" indent="0">
              <a:spcBef>
                <a:spcPts val="0"/>
              </a:spcBef>
              <a:buNone/>
            </a:pPr>
            <a:r>
              <a:rPr lang="en-GB" sz="1600" b="1">
                <a:latin typeface="Courier New" panose="02070309020205020404" pitchFamily="49" charset="0"/>
                <a:cs typeface="Courier New" panose="02070309020205020404" pitchFamily="49" charset="0"/>
              </a:rPr>
              <a:t>  for(int i=0; i&lt;100; i++){</a:t>
            </a:r>
          </a:p>
          <a:p>
            <a:pPr marL="0" indent="0">
              <a:spcBef>
                <a:spcPts val="0"/>
              </a:spcBef>
              <a:buNone/>
            </a:pPr>
            <a:r>
              <a:rPr lang="en-GB" sz="1600" b="1">
                <a:latin typeface="Courier New" panose="02070309020205020404" pitchFamily="49" charset="0"/>
                <a:cs typeface="Courier New" panose="02070309020205020404" pitchFamily="49" charset="0"/>
              </a:rPr>
              <a:t>    </a:t>
            </a:r>
            <a:r>
              <a:rPr lang="en-GB" sz="1600" b="1">
                <a:highlight>
                  <a:srgbClr val="FFFF00"/>
                </a:highlight>
                <a:latin typeface="Courier New" panose="02070309020205020404" pitchFamily="49" charset="0"/>
                <a:cs typeface="Courier New" panose="02070309020205020404" pitchFamily="49" charset="0"/>
              </a:rPr>
              <a:t>while(flag != 2);</a:t>
            </a:r>
            <a:r>
              <a:rPr lang="en-GB" sz="1600" b="1">
                <a:latin typeface="Courier New" panose="02070309020205020404" pitchFamily="49" charset="0"/>
                <a:cs typeface="Courier New" panose="02070309020205020404" pitchFamily="49" charset="0"/>
              </a:rPr>
              <a:t>/* Busy Wait */}</a:t>
            </a:r>
          </a:p>
          <a:p>
            <a:pPr marL="0" indent="0">
              <a:spcBef>
                <a:spcPts val="0"/>
              </a:spcBef>
              <a:buNone/>
            </a:pPr>
            <a:r>
              <a:rPr lang="en-GB" sz="1600" b="1">
                <a:latin typeface="Courier New" panose="02070309020205020404" pitchFamily="49" charset="0"/>
                <a:cs typeface="Courier New" panose="02070309020205020404" pitchFamily="49" charset="0"/>
              </a:rPr>
              <a:t>    counter = doSomething();</a:t>
            </a:r>
          </a:p>
          <a:p>
            <a:pPr marL="0" indent="0">
              <a:spcBef>
                <a:spcPts val="0"/>
              </a:spcBef>
              <a:buNone/>
            </a:pPr>
            <a:r>
              <a:rPr lang="en-GB" sz="1600" b="1">
                <a:latin typeface="Courier New" panose="02070309020205020404" pitchFamily="49" charset="0"/>
                <a:cs typeface="Courier New" panose="02070309020205020404" pitchFamily="49" charset="0"/>
              </a:rPr>
              <a:t>    flag = 1;</a:t>
            </a:r>
          </a:p>
          <a:p>
            <a:pPr marL="0" indent="0">
              <a:spcBef>
                <a:spcPts val="0"/>
              </a:spcBef>
              <a:buNone/>
            </a:pPr>
            <a:r>
              <a:rPr lang="en-GB" sz="1600" b="1">
                <a:latin typeface="Courier New" panose="02070309020205020404" pitchFamily="49" charset="0"/>
                <a:cs typeface="Courier New" panose="02070309020205020404" pitchFamily="49" charset="0"/>
              </a:rPr>
              <a:t>  }</a:t>
            </a:r>
          </a:p>
          <a:p>
            <a:pPr marL="0" indent="0">
              <a:spcBef>
                <a:spcPts val="0"/>
              </a:spcBef>
              <a:buNone/>
            </a:pPr>
            <a:r>
              <a:rPr lang="en-GB" sz="1600" b="1">
                <a:latin typeface="Courier New" panose="02070309020205020404" pitchFamily="49" charset="0"/>
                <a:cs typeface="Courier New" panose="02070309020205020404" pitchFamily="49" charset="0"/>
              </a:rPr>
              <a:t>  return NULL;</a:t>
            </a:r>
          </a:p>
          <a:p>
            <a:pPr marL="0" indent="0">
              <a:spcBef>
                <a:spcPts val="0"/>
              </a:spcBef>
              <a:buNone/>
            </a:pPr>
            <a:r>
              <a:rPr lang="en-GB" sz="1600" b="1">
                <a:latin typeface="Courier New" panose="02070309020205020404" pitchFamily="49" charset="0"/>
                <a:cs typeface="Courier New" panose="02070309020205020404" pitchFamily="49" charset="0"/>
              </a:rPr>
              <a:t>}</a:t>
            </a:r>
          </a:p>
          <a:p>
            <a:pPr marL="0" indent="0">
              <a:spcBef>
                <a:spcPts val="0"/>
              </a:spcBef>
              <a:buNone/>
            </a:pPr>
            <a:endParaRPr lang="en-GB" sz="1600" b="1">
              <a:latin typeface="Courier New" panose="02070309020205020404" pitchFamily="49" charset="0"/>
              <a:cs typeface="Courier New" panose="02070309020205020404" pitchFamily="49" charset="0"/>
            </a:endParaRPr>
          </a:p>
        </p:txBody>
      </p:sp>
      <p:sp>
        <p:nvSpPr>
          <p:cNvPr id="4" name="Content Placeholder 2">
            <a:extLst>
              <a:ext uri="{FF2B5EF4-FFF2-40B4-BE49-F238E27FC236}">
                <a16:creationId xmlns:a16="http://schemas.microsoft.com/office/drawing/2014/main" id="{CB2E3382-FA4F-5A2F-EB26-E5FD4E902D75}"/>
              </a:ext>
            </a:extLst>
          </p:cNvPr>
          <p:cNvSpPr txBox="1">
            <a:spLocks/>
          </p:cNvSpPr>
          <p:nvPr/>
        </p:nvSpPr>
        <p:spPr bwMode="auto">
          <a:xfrm>
            <a:off x="5807968" y="1052736"/>
            <a:ext cx="6264696" cy="561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884" indent="-342884" algn="l" rtl="0" eaLnBrk="1" fontAlgn="base" hangingPunct="1">
              <a:spcBef>
                <a:spcPct val="20000"/>
              </a:spcBef>
              <a:spcAft>
                <a:spcPct val="0"/>
              </a:spcAft>
              <a:buChar char="•"/>
              <a:defRPr sz="3200">
                <a:solidFill>
                  <a:schemeClr val="tx1"/>
                </a:solidFill>
                <a:latin typeface="+mn-lt"/>
                <a:ea typeface="+mn-ea"/>
                <a:cs typeface="+mn-cs"/>
              </a:defRPr>
            </a:lvl1pPr>
            <a:lvl2pPr marL="742913" indent="-285736" algn="l" rtl="0" eaLnBrk="1" fontAlgn="base" hangingPunct="1">
              <a:spcBef>
                <a:spcPct val="20000"/>
              </a:spcBef>
              <a:spcAft>
                <a:spcPct val="0"/>
              </a:spcAft>
              <a:buChar char="–"/>
              <a:defRPr sz="2800">
                <a:solidFill>
                  <a:schemeClr val="tx1"/>
                </a:solidFill>
                <a:latin typeface="+mn-lt"/>
              </a:defRPr>
            </a:lvl2pPr>
            <a:lvl3pPr marL="1142944" indent="-228588" algn="l" rtl="0" eaLnBrk="1" fontAlgn="base" hangingPunct="1">
              <a:spcBef>
                <a:spcPct val="20000"/>
              </a:spcBef>
              <a:spcAft>
                <a:spcPct val="0"/>
              </a:spcAft>
              <a:buChar char="•"/>
              <a:defRPr sz="2400">
                <a:solidFill>
                  <a:schemeClr val="tx1"/>
                </a:solidFill>
                <a:latin typeface="+mn-lt"/>
              </a:defRPr>
            </a:lvl3pPr>
            <a:lvl4pPr marL="1600120" indent="-228588" algn="l" rtl="0" eaLnBrk="1" fontAlgn="base" hangingPunct="1">
              <a:spcBef>
                <a:spcPct val="20000"/>
              </a:spcBef>
              <a:spcAft>
                <a:spcPct val="0"/>
              </a:spcAft>
              <a:buChar char="–"/>
              <a:defRPr sz="2000">
                <a:solidFill>
                  <a:schemeClr val="tx1"/>
                </a:solidFill>
                <a:latin typeface="+mn-lt"/>
              </a:defRPr>
            </a:lvl4pPr>
            <a:lvl5pPr marL="2057297" indent="-228588" algn="l" rtl="0" eaLnBrk="1" fontAlgn="base" hangingPunct="1">
              <a:spcBef>
                <a:spcPct val="20000"/>
              </a:spcBef>
              <a:spcAft>
                <a:spcPct val="0"/>
              </a:spcAft>
              <a:buChar char="»"/>
              <a:defRPr sz="2000">
                <a:solidFill>
                  <a:schemeClr val="tx1"/>
                </a:solidFill>
                <a:latin typeface="+mn-lt"/>
              </a:defRPr>
            </a:lvl5pPr>
            <a:lvl6pPr marL="2514474" indent="-228588" algn="l" rtl="0" eaLnBrk="1" fontAlgn="base" hangingPunct="1">
              <a:spcBef>
                <a:spcPct val="20000"/>
              </a:spcBef>
              <a:spcAft>
                <a:spcPct val="0"/>
              </a:spcAft>
              <a:buChar char="»"/>
              <a:defRPr sz="2000">
                <a:solidFill>
                  <a:schemeClr val="tx1"/>
                </a:solidFill>
                <a:latin typeface="+mn-lt"/>
              </a:defRPr>
            </a:lvl6pPr>
            <a:lvl7pPr marL="2971652" indent="-228588" algn="l" rtl="0" eaLnBrk="1" fontAlgn="base" hangingPunct="1">
              <a:spcBef>
                <a:spcPct val="20000"/>
              </a:spcBef>
              <a:spcAft>
                <a:spcPct val="0"/>
              </a:spcAft>
              <a:buChar char="»"/>
              <a:defRPr sz="2000">
                <a:solidFill>
                  <a:schemeClr val="tx1"/>
                </a:solidFill>
                <a:latin typeface="+mn-lt"/>
              </a:defRPr>
            </a:lvl7pPr>
            <a:lvl8pPr marL="3428829" indent="-228588" algn="l" rtl="0" eaLnBrk="1" fontAlgn="base" hangingPunct="1">
              <a:spcBef>
                <a:spcPct val="20000"/>
              </a:spcBef>
              <a:spcAft>
                <a:spcPct val="0"/>
              </a:spcAft>
              <a:buChar char="»"/>
              <a:defRPr sz="2000">
                <a:solidFill>
                  <a:schemeClr val="tx1"/>
                </a:solidFill>
                <a:latin typeface="+mn-lt"/>
              </a:defRPr>
            </a:lvl8pPr>
            <a:lvl9pPr marL="3886006" indent="-228588" algn="l" rtl="0" eaLnBrk="1" fontAlgn="base" hangingPunct="1">
              <a:spcBef>
                <a:spcPct val="20000"/>
              </a:spcBef>
              <a:spcAft>
                <a:spcPct val="0"/>
              </a:spcAft>
              <a:buChar char="»"/>
              <a:defRPr sz="2000">
                <a:solidFill>
                  <a:schemeClr val="tx1"/>
                </a:solidFill>
                <a:latin typeface="+mn-lt"/>
              </a:defRPr>
            </a:lvl9pPr>
          </a:lstStyle>
          <a:p>
            <a:pPr marL="0" indent="0">
              <a:spcBef>
                <a:spcPts val="0"/>
              </a:spcBef>
              <a:buNone/>
            </a:pPr>
            <a:r>
              <a:rPr lang="en-GB" sz="1600" b="1">
                <a:latin typeface="Courier New" panose="02070309020205020404" pitchFamily="49" charset="0"/>
                <a:cs typeface="Courier New" panose="02070309020205020404" pitchFamily="49" charset="0"/>
              </a:rPr>
              <a:t>void main()</a:t>
            </a:r>
          </a:p>
          <a:p>
            <a:pPr marL="0" indent="0">
              <a:spcBef>
                <a:spcPts val="0"/>
              </a:spcBef>
              <a:buNone/>
            </a:pPr>
            <a:r>
              <a:rPr lang="en-GB" sz="1600" b="1">
                <a:latin typeface="Courier New" panose="02070309020205020404" pitchFamily="49" charset="0"/>
                <a:cs typeface="Courier New" panose="02070309020205020404" pitchFamily="49" charset="0"/>
              </a:rPr>
              <a:t>{</a:t>
            </a:r>
          </a:p>
          <a:p>
            <a:pPr marL="0" indent="0">
              <a:spcBef>
                <a:spcPts val="0"/>
              </a:spcBef>
              <a:buNone/>
            </a:pPr>
            <a:r>
              <a:rPr lang="en-GB" sz="1600" b="1">
                <a:latin typeface="Courier New" panose="02070309020205020404" pitchFamily="49" charset="0"/>
                <a:cs typeface="Courier New" panose="02070309020205020404" pitchFamily="49" charset="0"/>
              </a:rPr>
              <a:t>  pthread_t thrID1, thrID2;</a:t>
            </a:r>
          </a:p>
          <a:p>
            <a:pPr marL="0" indent="0">
              <a:spcBef>
                <a:spcPts val="0"/>
              </a:spcBef>
              <a:buNone/>
            </a:pPr>
            <a:r>
              <a:rPr lang="en-GB" sz="1600" b="1">
                <a:latin typeface="Courier New" panose="02070309020205020404" pitchFamily="49" charset="0"/>
                <a:cs typeface="Courier New" panose="02070309020205020404" pitchFamily="49" charset="0"/>
              </a:rPr>
              <a:t>  </a:t>
            </a:r>
          </a:p>
          <a:p>
            <a:pPr marL="0" indent="0">
              <a:spcBef>
                <a:spcPts val="0"/>
              </a:spcBef>
              <a:buNone/>
            </a:pPr>
            <a:endParaRPr lang="en-GB" sz="1600" b="1">
              <a:latin typeface="Courier New" panose="02070309020205020404" pitchFamily="49" charset="0"/>
              <a:cs typeface="Courier New" panose="02070309020205020404" pitchFamily="49" charset="0"/>
            </a:endParaRPr>
          </a:p>
          <a:p>
            <a:pPr marL="0" indent="0">
              <a:spcBef>
                <a:spcPts val="0"/>
              </a:spcBef>
              <a:buNone/>
            </a:pPr>
            <a:r>
              <a:rPr lang="en-GB" sz="1600" b="1">
                <a:latin typeface="Courier New" panose="02070309020205020404" pitchFamily="49" charset="0"/>
                <a:cs typeface="Courier New" panose="02070309020205020404" pitchFamily="49" charset="0"/>
              </a:rPr>
              <a:t>  pthread_create(&amp;thrID1, NULL, threadOne, NULL);</a:t>
            </a:r>
          </a:p>
          <a:p>
            <a:pPr marL="0" indent="0">
              <a:spcBef>
                <a:spcPts val="0"/>
              </a:spcBef>
              <a:buNone/>
            </a:pPr>
            <a:r>
              <a:rPr lang="en-GB" sz="1600" b="1">
                <a:latin typeface="Courier New" panose="02070309020205020404" pitchFamily="49" charset="0"/>
                <a:cs typeface="Courier New" panose="02070309020205020404" pitchFamily="49" charset="0"/>
              </a:rPr>
              <a:t>  pthread_create(&amp;thrID2, NULL, threadTwo, NULL);</a:t>
            </a:r>
          </a:p>
          <a:p>
            <a:pPr marL="0" indent="0">
              <a:spcBef>
                <a:spcPts val="0"/>
              </a:spcBef>
              <a:buNone/>
            </a:pPr>
            <a:r>
              <a:rPr lang="en-GB" sz="1600" b="1">
                <a:latin typeface="Courier New" panose="02070309020205020404" pitchFamily="49" charset="0"/>
                <a:cs typeface="Courier New" panose="02070309020205020404" pitchFamily="49" charset="0"/>
              </a:rPr>
              <a:t>  pthread_join(thrID1, NULL);</a:t>
            </a:r>
          </a:p>
          <a:p>
            <a:pPr marL="0" indent="0">
              <a:spcBef>
                <a:spcPts val="0"/>
              </a:spcBef>
              <a:buNone/>
            </a:pPr>
            <a:r>
              <a:rPr lang="en-GB" sz="1600" b="1">
                <a:latin typeface="Courier New" panose="02070309020205020404" pitchFamily="49" charset="0"/>
                <a:cs typeface="Courier New" panose="02070309020205020404" pitchFamily="49" charset="0"/>
              </a:rPr>
              <a:t>  pthread_join(thrID2, NULL);</a:t>
            </a:r>
          </a:p>
          <a:p>
            <a:pPr marL="0" indent="0">
              <a:spcBef>
                <a:spcPts val="0"/>
              </a:spcBef>
              <a:buNone/>
            </a:pPr>
            <a:r>
              <a:rPr lang="en-GB" sz="1600" b="1">
                <a:latin typeface="Courier New" panose="02070309020205020404" pitchFamily="49" charset="0"/>
                <a:cs typeface="Courier New" panose="02070309020205020404" pitchFamily="49" charset="0"/>
              </a:rPr>
              <a:t>  printf("Final counter = %d\n", counter);</a:t>
            </a:r>
          </a:p>
          <a:p>
            <a:pPr marL="0" indent="0">
              <a:spcBef>
                <a:spcPts val="0"/>
              </a:spcBef>
              <a:buNone/>
            </a:pPr>
            <a:r>
              <a:rPr lang="en-GB" sz="1600" b="1">
                <a:latin typeface="Courier New" panose="02070309020205020404" pitchFamily="49" charset="0"/>
                <a:cs typeface="Courier New" panose="02070309020205020404" pitchFamily="49" charset="0"/>
              </a:rPr>
              <a:t>}</a:t>
            </a:r>
          </a:p>
          <a:p>
            <a:pPr marL="0" indent="0">
              <a:spcBef>
                <a:spcPts val="0"/>
              </a:spcBef>
              <a:buNone/>
            </a:pPr>
            <a:endParaRPr lang="en-GB" sz="1600" b="1">
              <a:latin typeface="Courier New" panose="02070309020205020404" pitchFamily="49" charset="0"/>
              <a:cs typeface="Courier New" panose="02070309020205020404" pitchFamily="49" charset="0"/>
            </a:endParaRPr>
          </a:p>
          <a:p>
            <a:pPr marL="0" indent="0">
              <a:spcBef>
                <a:spcPts val="0"/>
              </a:spcBef>
              <a:buNone/>
            </a:pPr>
            <a:endParaRPr lang="en-GB" sz="1600" b="1">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910300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Pthread</a:t>
            </a:r>
            <a:r>
              <a:rPr lang="en-GB" dirty="0"/>
              <a:t> </a:t>
            </a:r>
            <a:r>
              <a:rPr lang="en-GB" dirty="0" err="1"/>
              <a:t>Mutex</a:t>
            </a:r>
            <a:r>
              <a:rPr lang="en-GB" dirty="0"/>
              <a:t> Functions</a:t>
            </a:r>
          </a:p>
        </p:txBody>
      </p:sp>
      <p:sp>
        <p:nvSpPr>
          <p:cNvPr id="3" name="Content Placeholder 2"/>
          <p:cNvSpPr>
            <a:spLocks noGrp="1"/>
          </p:cNvSpPr>
          <p:nvPr>
            <p:ph idx="1"/>
          </p:nvPr>
        </p:nvSpPr>
        <p:spPr/>
        <p:txBody>
          <a:bodyPr>
            <a:normAutofit fontScale="92500" lnSpcReduction="20000"/>
          </a:bodyPr>
          <a:lstStyle/>
          <a:p>
            <a:r>
              <a:rPr lang="en-GB" dirty="0" err="1"/>
              <a:t>pthread_mutex_init</a:t>
            </a:r>
            <a:r>
              <a:rPr lang="en-GB" dirty="0"/>
              <a:t> (</a:t>
            </a:r>
            <a:r>
              <a:rPr lang="en-GB" dirty="0" err="1"/>
              <a:t>mutex,attr</a:t>
            </a:r>
            <a:r>
              <a:rPr lang="en-GB" dirty="0"/>
              <a:t>)</a:t>
            </a:r>
          </a:p>
          <a:p>
            <a:pPr lvl="1"/>
            <a:r>
              <a:rPr lang="en-GB" dirty="0"/>
              <a:t>Initialises the </a:t>
            </a:r>
            <a:r>
              <a:rPr lang="en-GB" dirty="0" err="1"/>
              <a:t>mutex</a:t>
            </a:r>
            <a:r>
              <a:rPr lang="en-GB" dirty="0"/>
              <a:t>, "</a:t>
            </a:r>
            <a:r>
              <a:rPr lang="en-GB" dirty="0" err="1"/>
              <a:t>attr</a:t>
            </a:r>
            <a:r>
              <a:rPr lang="en-GB"/>
              <a:t>" is optional, and implementation dependent; </a:t>
            </a:r>
            <a:r>
              <a:rPr lang="en-GB" dirty="0"/>
              <a:t>should be set to NULL</a:t>
            </a:r>
          </a:p>
          <a:p>
            <a:r>
              <a:rPr lang="en-GB" dirty="0" err="1"/>
              <a:t>pthread_mutex_destroy</a:t>
            </a:r>
            <a:r>
              <a:rPr lang="en-GB" dirty="0"/>
              <a:t> (</a:t>
            </a:r>
            <a:r>
              <a:rPr lang="en-GB" dirty="0" err="1"/>
              <a:t>mutex</a:t>
            </a:r>
            <a:r>
              <a:rPr lang="en-GB" dirty="0"/>
              <a:t>) </a:t>
            </a:r>
          </a:p>
          <a:p>
            <a:pPr lvl="1"/>
            <a:r>
              <a:rPr lang="en-GB" dirty="0"/>
              <a:t>Frees the resources used by the </a:t>
            </a:r>
            <a:r>
              <a:rPr lang="en-GB" dirty="0" err="1"/>
              <a:t>mutex</a:t>
            </a:r>
            <a:endParaRPr lang="en-GB" dirty="0"/>
          </a:p>
          <a:p>
            <a:r>
              <a:rPr lang="en-GB" dirty="0" err="1"/>
              <a:t>pthread_mutex_lock</a:t>
            </a:r>
            <a:r>
              <a:rPr lang="en-GB" dirty="0"/>
              <a:t> (</a:t>
            </a:r>
            <a:r>
              <a:rPr lang="en-GB" dirty="0" err="1"/>
              <a:t>mutex</a:t>
            </a:r>
            <a:r>
              <a:rPr lang="en-GB" dirty="0"/>
              <a:t>)</a:t>
            </a:r>
          </a:p>
          <a:p>
            <a:pPr lvl="1"/>
            <a:r>
              <a:rPr lang="en-GB" dirty="0"/>
              <a:t>Locks the </a:t>
            </a:r>
            <a:r>
              <a:rPr lang="en-GB" dirty="0" err="1"/>
              <a:t>mutex</a:t>
            </a:r>
            <a:r>
              <a:rPr lang="en-GB" dirty="0"/>
              <a:t>. If the </a:t>
            </a:r>
            <a:r>
              <a:rPr lang="en-GB" dirty="0" err="1"/>
              <a:t>mutex</a:t>
            </a:r>
            <a:r>
              <a:rPr lang="en-GB" dirty="0"/>
              <a:t> is already locked by another thread, it will wait, until it acquires the lock</a:t>
            </a:r>
          </a:p>
          <a:p>
            <a:r>
              <a:rPr lang="en-GB" dirty="0" err="1"/>
              <a:t>pthread_mutex_unlock</a:t>
            </a:r>
            <a:r>
              <a:rPr lang="en-GB" dirty="0"/>
              <a:t> (</a:t>
            </a:r>
            <a:r>
              <a:rPr lang="en-GB" dirty="0" err="1"/>
              <a:t>mutex</a:t>
            </a:r>
            <a:r>
              <a:rPr lang="en-GB" dirty="0"/>
              <a:t>) </a:t>
            </a:r>
          </a:p>
          <a:p>
            <a:pPr lvl="1"/>
            <a:r>
              <a:rPr lang="en-GB" dirty="0"/>
              <a:t>Unlocks the </a:t>
            </a:r>
            <a:r>
              <a:rPr lang="en-GB" dirty="0" err="1"/>
              <a:t>mutex</a:t>
            </a:r>
            <a:r>
              <a:rPr lang="en-GB" dirty="0"/>
              <a:t>. If another thread is waiting to lock the </a:t>
            </a:r>
            <a:r>
              <a:rPr lang="en-GB" dirty="0" err="1"/>
              <a:t>mutex</a:t>
            </a:r>
            <a:r>
              <a:rPr lang="en-GB" dirty="0"/>
              <a:t>, the lock will be </a:t>
            </a:r>
            <a:r>
              <a:rPr lang="en-GB" dirty="0" err="1"/>
              <a:t>transfered</a:t>
            </a:r>
            <a:r>
              <a:rPr lang="en-GB" dirty="0"/>
              <a:t> to the waiting thread.</a:t>
            </a:r>
          </a:p>
          <a:p>
            <a:r>
              <a:rPr lang="en-GB" dirty="0" err="1"/>
              <a:t>pthread_mutex_t</a:t>
            </a:r>
            <a:endParaRPr lang="en-GB" dirty="0"/>
          </a:p>
          <a:p>
            <a:pPr lvl="1"/>
            <a:r>
              <a:rPr lang="en-GB" dirty="0"/>
              <a:t>This is the </a:t>
            </a:r>
            <a:r>
              <a:rPr lang="en-GB" dirty="0" err="1"/>
              <a:t>mutex</a:t>
            </a:r>
            <a:r>
              <a:rPr lang="en-GB" dirty="0"/>
              <a:t> </a:t>
            </a:r>
            <a:r>
              <a:rPr lang="en-GB" dirty="0" err="1"/>
              <a:t>datatype</a:t>
            </a:r>
            <a:r>
              <a:rPr lang="en-GB" dirty="0"/>
              <a:t>.</a:t>
            </a:r>
          </a:p>
          <a:p>
            <a:endParaRPr lang="en-GB" dirty="0"/>
          </a:p>
        </p:txBody>
      </p:sp>
    </p:spTree>
    <p:extLst>
      <p:ext uri="{BB962C8B-B14F-4D97-AF65-F5344CB8AC3E}">
        <p14:creationId xmlns:p14="http://schemas.microsoft.com/office/powerpoint/2010/main" val="5281259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Mutex</a:t>
            </a:r>
            <a:endParaRPr lang="en-GB" dirty="0"/>
          </a:p>
        </p:txBody>
      </p:sp>
      <p:sp>
        <p:nvSpPr>
          <p:cNvPr id="3" name="Content Placeholder 2"/>
          <p:cNvSpPr>
            <a:spLocks noGrp="1"/>
          </p:cNvSpPr>
          <p:nvPr>
            <p:ph idx="1"/>
          </p:nvPr>
        </p:nvSpPr>
        <p:spPr/>
        <p:txBody>
          <a:bodyPr/>
          <a:lstStyle/>
          <a:p>
            <a:r>
              <a:rPr lang="en-GB" dirty="0"/>
              <a:t>The critical </a:t>
            </a:r>
            <a:r>
              <a:rPr lang="en-GB"/>
              <a:t>section protected </a:t>
            </a:r>
            <a:r>
              <a:rPr lang="en-GB" dirty="0"/>
              <a:t>by </a:t>
            </a:r>
            <a:r>
              <a:rPr lang="en-GB" dirty="0" err="1"/>
              <a:t>mutex</a:t>
            </a:r>
            <a:r>
              <a:rPr lang="en-GB" dirty="0"/>
              <a:t>:</a:t>
            </a:r>
          </a:p>
          <a:p>
            <a:endParaRPr lang="en-GB" dirty="0"/>
          </a:p>
          <a:p>
            <a:pPr>
              <a:buNone/>
            </a:pPr>
            <a:r>
              <a:rPr lang="en-GB" b="1" dirty="0">
                <a:latin typeface="Courier New" pitchFamily="49" charset="0"/>
                <a:cs typeface="Courier New" pitchFamily="49" charset="0"/>
              </a:rPr>
              <a:t> for(</a:t>
            </a:r>
            <a:r>
              <a:rPr lang="en-GB" b="1" dirty="0" err="1">
                <a:latin typeface="Courier New" pitchFamily="49" charset="0"/>
                <a:cs typeface="Courier New" pitchFamily="49" charset="0"/>
              </a:rPr>
              <a:t>int</a:t>
            </a:r>
            <a:r>
              <a:rPr lang="en-GB" b="1" dirty="0">
                <a:latin typeface="Courier New" pitchFamily="49" charset="0"/>
                <a:cs typeface="Courier New" pitchFamily="49" charset="0"/>
              </a:rPr>
              <a:t> </a:t>
            </a:r>
            <a:r>
              <a:rPr lang="en-GB" b="1" dirty="0" err="1">
                <a:latin typeface="Courier New" pitchFamily="49" charset="0"/>
                <a:cs typeface="Courier New" pitchFamily="49" charset="0"/>
              </a:rPr>
              <a:t>i</a:t>
            </a:r>
            <a:r>
              <a:rPr lang="en-GB" b="1" dirty="0">
                <a:latin typeface="Courier New" pitchFamily="49" charset="0"/>
                <a:cs typeface="Courier New" pitchFamily="49" charset="0"/>
              </a:rPr>
              <a:t>=0; </a:t>
            </a:r>
            <a:r>
              <a:rPr lang="en-GB" b="1" dirty="0" err="1">
                <a:latin typeface="Courier New" pitchFamily="49" charset="0"/>
                <a:cs typeface="Courier New" pitchFamily="49" charset="0"/>
              </a:rPr>
              <a:t>i</a:t>
            </a:r>
            <a:r>
              <a:rPr lang="en-GB" b="1" dirty="0">
                <a:latin typeface="Courier New" pitchFamily="49" charset="0"/>
                <a:cs typeface="Courier New" pitchFamily="49" charset="0"/>
              </a:rPr>
              <a:t>&lt;100; </a:t>
            </a:r>
            <a:r>
              <a:rPr lang="en-GB" b="1" dirty="0" err="1">
                <a:latin typeface="Courier New" pitchFamily="49" charset="0"/>
                <a:cs typeface="Courier New" pitchFamily="49" charset="0"/>
              </a:rPr>
              <a:t>i</a:t>
            </a:r>
            <a:r>
              <a:rPr lang="en-GB" b="1" dirty="0">
                <a:latin typeface="Courier New" pitchFamily="49" charset="0"/>
                <a:cs typeface="Courier New" pitchFamily="49" charset="0"/>
              </a:rPr>
              <a:t>++){</a:t>
            </a:r>
          </a:p>
          <a:p>
            <a:pPr>
              <a:buNone/>
            </a:pPr>
            <a:r>
              <a:rPr lang="en-GB" b="1" dirty="0">
                <a:latin typeface="Courier New" pitchFamily="49" charset="0"/>
                <a:cs typeface="Courier New" pitchFamily="49" charset="0"/>
              </a:rPr>
              <a:t>  </a:t>
            </a:r>
            <a:r>
              <a:rPr lang="en-GB" b="1" dirty="0" err="1">
                <a:latin typeface="Courier New" pitchFamily="49" charset="0"/>
                <a:cs typeface="Courier New" pitchFamily="49" charset="0"/>
              </a:rPr>
              <a:t>pthread_mutex_lock</a:t>
            </a:r>
            <a:r>
              <a:rPr lang="en-GB" b="1" dirty="0">
                <a:latin typeface="Courier New" pitchFamily="49" charset="0"/>
                <a:cs typeface="Courier New" pitchFamily="49" charset="0"/>
              </a:rPr>
              <a:t>(&amp;</a:t>
            </a:r>
            <a:r>
              <a:rPr lang="en-GB" b="1" dirty="0" err="1">
                <a:latin typeface="Courier New" pitchFamily="49" charset="0"/>
                <a:cs typeface="Courier New" pitchFamily="49" charset="0"/>
              </a:rPr>
              <a:t>mutex</a:t>
            </a:r>
            <a:r>
              <a:rPr lang="en-GB" b="1" dirty="0">
                <a:latin typeface="Courier New" pitchFamily="49" charset="0"/>
                <a:cs typeface="Courier New" pitchFamily="49" charset="0"/>
              </a:rPr>
              <a:t>);</a:t>
            </a:r>
          </a:p>
          <a:p>
            <a:pPr>
              <a:buNone/>
            </a:pPr>
            <a:r>
              <a:rPr lang="en-GB" b="1" dirty="0">
                <a:solidFill>
                  <a:srgbClr val="FF0000"/>
                </a:solidFill>
                <a:latin typeface="Courier New" pitchFamily="49" charset="0"/>
                <a:cs typeface="Courier New" pitchFamily="49" charset="0"/>
              </a:rPr>
              <a:t>  counter = </a:t>
            </a:r>
            <a:r>
              <a:rPr lang="en-GB" b="1" err="1">
                <a:solidFill>
                  <a:srgbClr val="FF0000"/>
                </a:solidFill>
                <a:latin typeface="Courier New" pitchFamily="49" charset="0"/>
                <a:cs typeface="Courier New" pitchFamily="49" charset="0"/>
              </a:rPr>
              <a:t>doSomething</a:t>
            </a:r>
            <a:r>
              <a:rPr lang="en-GB" b="1">
                <a:solidFill>
                  <a:srgbClr val="FF0000"/>
                </a:solidFill>
                <a:latin typeface="Courier New" pitchFamily="49" charset="0"/>
                <a:cs typeface="Courier New" pitchFamily="49" charset="0"/>
              </a:rPr>
              <a:t>();</a:t>
            </a:r>
            <a:endParaRPr lang="en-GB" b="1" dirty="0">
              <a:solidFill>
                <a:srgbClr val="FF0000"/>
              </a:solidFill>
              <a:latin typeface="Courier New" pitchFamily="49" charset="0"/>
              <a:cs typeface="Courier New" pitchFamily="49" charset="0"/>
            </a:endParaRPr>
          </a:p>
          <a:p>
            <a:pPr>
              <a:buNone/>
            </a:pPr>
            <a:r>
              <a:rPr lang="en-GB" b="1" dirty="0">
                <a:latin typeface="Courier New" pitchFamily="49" charset="0"/>
                <a:cs typeface="Courier New" pitchFamily="49" charset="0"/>
              </a:rPr>
              <a:t>  </a:t>
            </a:r>
            <a:r>
              <a:rPr lang="en-GB" b="1" dirty="0" err="1">
                <a:latin typeface="Courier New" pitchFamily="49" charset="0"/>
                <a:cs typeface="Courier New" pitchFamily="49" charset="0"/>
              </a:rPr>
              <a:t>pthread_mutex_unlock</a:t>
            </a:r>
            <a:r>
              <a:rPr lang="en-GB" b="1" dirty="0">
                <a:latin typeface="Courier New" pitchFamily="49" charset="0"/>
                <a:cs typeface="Courier New" pitchFamily="49" charset="0"/>
              </a:rPr>
              <a:t>(&amp;</a:t>
            </a:r>
            <a:r>
              <a:rPr lang="en-GB" b="1" dirty="0" err="1">
                <a:latin typeface="Courier New" pitchFamily="49" charset="0"/>
                <a:cs typeface="Courier New" pitchFamily="49" charset="0"/>
              </a:rPr>
              <a:t>mutex</a:t>
            </a:r>
            <a:r>
              <a:rPr lang="en-GB" b="1" dirty="0">
                <a:latin typeface="Courier New" pitchFamily="49" charset="0"/>
                <a:cs typeface="Courier New" pitchFamily="49" charset="0"/>
              </a:rPr>
              <a:t>);</a:t>
            </a:r>
          </a:p>
          <a:p>
            <a:pPr>
              <a:buNone/>
            </a:pPr>
            <a:r>
              <a:rPr lang="en-GB" b="1" dirty="0">
                <a:latin typeface="Courier New" pitchFamily="49" charset="0"/>
                <a:cs typeface="Courier New" pitchFamily="49" charset="0"/>
              </a:rPr>
              <a:t> }</a:t>
            </a:r>
          </a:p>
          <a:p>
            <a:endParaRPr lang="en-GB" dirty="0"/>
          </a:p>
        </p:txBody>
      </p:sp>
    </p:spTree>
    <p:extLst>
      <p:ext uri="{BB962C8B-B14F-4D97-AF65-F5344CB8AC3E}">
        <p14:creationId xmlns:p14="http://schemas.microsoft.com/office/powerpoint/2010/main" val="13876243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CC201-1F8B-49D9-B413-160D23C1F158}"/>
              </a:ext>
            </a:extLst>
          </p:cNvPr>
          <p:cNvSpPr>
            <a:spLocks noGrp="1"/>
          </p:cNvSpPr>
          <p:nvPr>
            <p:ph type="title"/>
          </p:nvPr>
        </p:nvSpPr>
        <p:spPr/>
        <p:txBody>
          <a:bodyPr/>
          <a:lstStyle/>
          <a:p>
            <a:r>
              <a:rPr lang="en-GB" dirty="0"/>
              <a:t>Mutex</a:t>
            </a:r>
          </a:p>
        </p:txBody>
      </p:sp>
      <p:sp>
        <p:nvSpPr>
          <p:cNvPr id="3" name="Content Placeholder 2">
            <a:extLst>
              <a:ext uri="{FF2B5EF4-FFF2-40B4-BE49-F238E27FC236}">
                <a16:creationId xmlns:a16="http://schemas.microsoft.com/office/drawing/2014/main" id="{11D6F2E9-1482-6942-8D76-1A7245C42378}"/>
              </a:ext>
            </a:extLst>
          </p:cNvPr>
          <p:cNvSpPr>
            <a:spLocks noGrp="1"/>
          </p:cNvSpPr>
          <p:nvPr>
            <p:ph idx="1"/>
          </p:nvPr>
        </p:nvSpPr>
        <p:spPr>
          <a:xfrm>
            <a:off x="239350" y="1052737"/>
            <a:ext cx="5208577" cy="5616625"/>
          </a:xfrm>
        </p:spPr>
        <p:txBody>
          <a:bodyPr/>
          <a:lstStyle/>
          <a:p>
            <a:pPr marL="0" indent="0">
              <a:spcBef>
                <a:spcPts val="0"/>
              </a:spcBef>
              <a:buNone/>
            </a:pPr>
            <a:r>
              <a:rPr lang="en-GB" sz="1600" b="1">
                <a:latin typeface="Courier New" panose="02070309020205020404" pitchFamily="49" charset="0"/>
                <a:cs typeface="Courier New" panose="02070309020205020404" pitchFamily="49" charset="0"/>
              </a:rPr>
              <a:t>int counter=0;</a:t>
            </a:r>
          </a:p>
          <a:p>
            <a:pPr marL="0" indent="0">
              <a:spcBef>
                <a:spcPts val="0"/>
              </a:spcBef>
              <a:buNone/>
            </a:pPr>
            <a:r>
              <a:rPr lang="en-GB" sz="1600" b="1">
                <a:latin typeface="Courier New" panose="02070309020205020404" pitchFamily="49" charset="0"/>
                <a:cs typeface="Courier New" panose="02070309020205020404" pitchFamily="49" charset="0"/>
              </a:rPr>
              <a:t>pthread_mutex_t mutex;</a:t>
            </a:r>
          </a:p>
          <a:p>
            <a:pPr marL="0" indent="0">
              <a:spcBef>
                <a:spcPts val="0"/>
              </a:spcBef>
              <a:buNone/>
            </a:pPr>
            <a:endParaRPr lang="en-GB" sz="1600" b="1">
              <a:latin typeface="Courier New" panose="02070309020205020404" pitchFamily="49" charset="0"/>
              <a:cs typeface="Courier New" panose="02070309020205020404" pitchFamily="49" charset="0"/>
            </a:endParaRPr>
          </a:p>
          <a:p>
            <a:pPr marL="0" indent="0">
              <a:spcBef>
                <a:spcPts val="0"/>
              </a:spcBef>
              <a:buNone/>
            </a:pPr>
            <a:r>
              <a:rPr lang="en-GB" sz="1600" b="1">
                <a:latin typeface="Courier New" panose="02070309020205020404" pitchFamily="49" charset="0"/>
                <a:cs typeface="Courier New" panose="02070309020205020404" pitchFamily="49" charset="0"/>
              </a:rPr>
              <a:t>void *threadOne(void *p)</a:t>
            </a:r>
          </a:p>
          <a:p>
            <a:pPr marL="0" indent="0">
              <a:spcBef>
                <a:spcPts val="0"/>
              </a:spcBef>
              <a:buNone/>
            </a:pPr>
            <a:r>
              <a:rPr lang="en-GB" sz="1600" b="1">
                <a:latin typeface="Courier New" panose="02070309020205020404" pitchFamily="49" charset="0"/>
                <a:cs typeface="Courier New" panose="02070309020205020404" pitchFamily="49" charset="0"/>
              </a:rPr>
              <a:t>{</a:t>
            </a:r>
          </a:p>
          <a:p>
            <a:pPr marL="0" indent="0">
              <a:spcBef>
                <a:spcPts val="0"/>
              </a:spcBef>
              <a:buNone/>
            </a:pPr>
            <a:r>
              <a:rPr lang="en-GB" sz="1600" b="1">
                <a:latin typeface="Courier New" panose="02070309020205020404" pitchFamily="49" charset="0"/>
                <a:cs typeface="Courier New" panose="02070309020205020404" pitchFamily="49" charset="0"/>
              </a:rPr>
              <a:t>  for(int i=0; i&lt;100; i++){</a:t>
            </a:r>
          </a:p>
          <a:p>
            <a:pPr marL="0" indent="0">
              <a:spcBef>
                <a:spcPts val="0"/>
              </a:spcBef>
              <a:buNone/>
            </a:pPr>
            <a:r>
              <a:rPr lang="en-GB" sz="1600" b="1">
                <a:latin typeface="Courier New" panose="02070309020205020404" pitchFamily="49" charset="0"/>
                <a:cs typeface="Courier New" panose="02070309020205020404" pitchFamily="49" charset="0"/>
              </a:rPr>
              <a:t>    </a:t>
            </a:r>
            <a:r>
              <a:rPr lang="en-GB" sz="1600" b="1">
                <a:highlight>
                  <a:srgbClr val="FFFF00"/>
                </a:highlight>
                <a:latin typeface="Courier New" panose="02070309020205020404" pitchFamily="49" charset="0"/>
                <a:cs typeface="Courier New" panose="02070309020205020404" pitchFamily="49" charset="0"/>
              </a:rPr>
              <a:t>pthread_mutex_lock(&amp;mutex);</a:t>
            </a:r>
          </a:p>
          <a:p>
            <a:pPr marL="0" indent="0">
              <a:spcBef>
                <a:spcPts val="0"/>
              </a:spcBef>
              <a:buNone/>
            </a:pPr>
            <a:r>
              <a:rPr lang="en-GB" sz="1600" b="1">
                <a:latin typeface="Courier New" panose="02070309020205020404" pitchFamily="49" charset="0"/>
                <a:cs typeface="Courier New" panose="02070309020205020404" pitchFamily="49" charset="0"/>
              </a:rPr>
              <a:t>    counter = doSomething();</a:t>
            </a:r>
          </a:p>
          <a:p>
            <a:pPr marL="0" indent="0">
              <a:spcBef>
                <a:spcPts val="0"/>
              </a:spcBef>
              <a:buNone/>
            </a:pPr>
            <a:r>
              <a:rPr lang="en-GB" sz="1600" b="1">
                <a:latin typeface="Courier New" panose="02070309020205020404" pitchFamily="49" charset="0"/>
                <a:cs typeface="Courier New" panose="02070309020205020404" pitchFamily="49" charset="0"/>
              </a:rPr>
              <a:t>    </a:t>
            </a:r>
            <a:r>
              <a:rPr lang="en-GB" sz="1600" b="1">
                <a:highlight>
                  <a:srgbClr val="FFFF00"/>
                </a:highlight>
                <a:latin typeface="Courier New" panose="02070309020205020404" pitchFamily="49" charset="0"/>
                <a:cs typeface="Courier New" panose="02070309020205020404" pitchFamily="49" charset="0"/>
              </a:rPr>
              <a:t>pthread_mutex_unlock(&amp;mutex);</a:t>
            </a:r>
          </a:p>
          <a:p>
            <a:pPr marL="0" indent="0">
              <a:spcBef>
                <a:spcPts val="0"/>
              </a:spcBef>
              <a:buNone/>
            </a:pPr>
            <a:r>
              <a:rPr lang="en-GB" sz="1600" b="1">
                <a:latin typeface="Courier New" panose="02070309020205020404" pitchFamily="49" charset="0"/>
                <a:cs typeface="Courier New" panose="02070309020205020404" pitchFamily="49" charset="0"/>
              </a:rPr>
              <a:t>  }</a:t>
            </a:r>
          </a:p>
          <a:p>
            <a:pPr marL="0" indent="0">
              <a:spcBef>
                <a:spcPts val="0"/>
              </a:spcBef>
              <a:buNone/>
            </a:pPr>
            <a:r>
              <a:rPr lang="en-GB" sz="1600" b="1">
                <a:latin typeface="Courier New" panose="02070309020205020404" pitchFamily="49" charset="0"/>
                <a:cs typeface="Courier New" panose="02070309020205020404" pitchFamily="49" charset="0"/>
              </a:rPr>
              <a:t>  return NULL;</a:t>
            </a:r>
          </a:p>
          <a:p>
            <a:pPr marL="0" indent="0">
              <a:spcBef>
                <a:spcPts val="0"/>
              </a:spcBef>
              <a:buNone/>
            </a:pPr>
            <a:r>
              <a:rPr lang="en-GB" sz="1600" b="1">
                <a:latin typeface="Courier New" panose="02070309020205020404" pitchFamily="49" charset="0"/>
                <a:cs typeface="Courier New" panose="02070309020205020404" pitchFamily="49" charset="0"/>
              </a:rPr>
              <a:t>}</a:t>
            </a:r>
          </a:p>
          <a:p>
            <a:pPr marL="0" indent="0">
              <a:spcBef>
                <a:spcPts val="0"/>
              </a:spcBef>
              <a:buNone/>
            </a:pPr>
            <a:endParaRPr lang="en-GB" sz="1600" b="1">
              <a:latin typeface="Courier New" panose="02070309020205020404" pitchFamily="49" charset="0"/>
              <a:cs typeface="Courier New" panose="02070309020205020404" pitchFamily="49" charset="0"/>
            </a:endParaRPr>
          </a:p>
          <a:p>
            <a:pPr marL="0" indent="0">
              <a:spcBef>
                <a:spcPts val="0"/>
              </a:spcBef>
              <a:buNone/>
            </a:pPr>
            <a:r>
              <a:rPr lang="en-GB" sz="1600" b="1">
                <a:latin typeface="Courier New" panose="02070309020205020404" pitchFamily="49" charset="0"/>
                <a:cs typeface="Courier New" panose="02070309020205020404" pitchFamily="49" charset="0"/>
              </a:rPr>
              <a:t>void *threadTwo(void *p)</a:t>
            </a:r>
          </a:p>
          <a:p>
            <a:pPr marL="0" indent="0">
              <a:spcBef>
                <a:spcPts val="0"/>
              </a:spcBef>
              <a:buNone/>
            </a:pPr>
            <a:r>
              <a:rPr lang="en-GB" sz="1600" b="1">
                <a:latin typeface="Courier New" panose="02070309020205020404" pitchFamily="49" charset="0"/>
                <a:cs typeface="Courier New" panose="02070309020205020404" pitchFamily="49" charset="0"/>
              </a:rPr>
              <a:t>{</a:t>
            </a:r>
          </a:p>
          <a:p>
            <a:pPr marL="0" indent="0">
              <a:spcBef>
                <a:spcPts val="0"/>
              </a:spcBef>
              <a:buNone/>
            </a:pPr>
            <a:r>
              <a:rPr lang="en-GB" sz="1600" b="1">
                <a:latin typeface="Courier New" panose="02070309020205020404" pitchFamily="49" charset="0"/>
                <a:cs typeface="Courier New" panose="02070309020205020404" pitchFamily="49" charset="0"/>
              </a:rPr>
              <a:t>  for(int i=0; i&lt;100; i++){</a:t>
            </a:r>
          </a:p>
          <a:p>
            <a:pPr marL="0" indent="0">
              <a:spcBef>
                <a:spcPts val="0"/>
              </a:spcBef>
              <a:buNone/>
            </a:pPr>
            <a:r>
              <a:rPr lang="en-GB" sz="1600" b="1">
                <a:latin typeface="Courier New" panose="02070309020205020404" pitchFamily="49" charset="0"/>
                <a:cs typeface="Courier New" panose="02070309020205020404" pitchFamily="49" charset="0"/>
              </a:rPr>
              <a:t>    </a:t>
            </a:r>
            <a:r>
              <a:rPr lang="en-GB" sz="1600" b="1">
                <a:highlight>
                  <a:srgbClr val="FFFF00"/>
                </a:highlight>
                <a:latin typeface="Courier New" panose="02070309020205020404" pitchFamily="49" charset="0"/>
                <a:cs typeface="Courier New" panose="02070309020205020404" pitchFamily="49" charset="0"/>
              </a:rPr>
              <a:t>pthread_mutex_lock(&amp;mutex);</a:t>
            </a:r>
          </a:p>
          <a:p>
            <a:pPr marL="0" indent="0">
              <a:spcBef>
                <a:spcPts val="0"/>
              </a:spcBef>
              <a:buNone/>
            </a:pPr>
            <a:r>
              <a:rPr lang="en-GB" sz="1600" b="1">
                <a:latin typeface="Courier New" panose="02070309020205020404" pitchFamily="49" charset="0"/>
                <a:cs typeface="Courier New" panose="02070309020205020404" pitchFamily="49" charset="0"/>
              </a:rPr>
              <a:t>    counter = doSomething();</a:t>
            </a:r>
          </a:p>
          <a:p>
            <a:pPr marL="0" indent="0">
              <a:spcBef>
                <a:spcPts val="0"/>
              </a:spcBef>
              <a:buNone/>
            </a:pPr>
            <a:r>
              <a:rPr lang="en-GB" sz="1600" b="1">
                <a:latin typeface="Courier New" panose="02070309020205020404" pitchFamily="49" charset="0"/>
                <a:cs typeface="Courier New" panose="02070309020205020404" pitchFamily="49" charset="0"/>
              </a:rPr>
              <a:t>    </a:t>
            </a:r>
            <a:r>
              <a:rPr lang="en-GB" sz="1600" b="1">
                <a:highlight>
                  <a:srgbClr val="FFFF00"/>
                </a:highlight>
                <a:latin typeface="Courier New" panose="02070309020205020404" pitchFamily="49" charset="0"/>
                <a:cs typeface="Courier New" panose="02070309020205020404" pitchFamily="49" charset="0"/>
              </a:rPr>
              <a:t>pthread_mutex_unlock(&amp;mutex);</a:t>
            </a:r>
          </a:p>
          <a:p>
            <a:pPr marL="0" indent="0">
              <a:spcBef>
                <a:spcPts val="0"/>
              </a:spcBef>
              <a:buNone/>
            </a:pPr>
            <a:r>
              <a:rPr lang="en-GB" sz="1600" b="1">
                <a:latin typeface="Courier New" panose="02070309020205020404" pitchFamily="49" charset="0"/>
                <a:cs typeface="Courier New" panose="02070309020205020404" pitchFamily="49" charset="0"/>
              </a:rPr>
              <a:t>  }</a:t>
            </a:r>
          </a:p>
          <a:p>
            <a:pPr marL="0" indent="0">
              <a:spcBef>
                <a:spcPts val="0"/>
              </a:spcBef>
              <a:buNone/>
            </a:pPr>
            <a:r>
              <a:rPr lang="en-GB" sz="1600" b="1">
                <a:latin typeface="Courier New" panose="02070309020205020404" pitchFamily="49" charset="0"/>
                <a:cs typeface="Courier New" panose="02070309020205020404" pitchFamily="49" charset="0"/>
              </a:rPr>
              <a:t>  return NULL;</a:t>
            </a:r>
          </a:p>
          <a:p>
            <a:pPr marL="0" indent="0">
              <a:spcBef>
                <a:spcPts val="0"/>
              </a:spcBef>
              <a:buNone/>
            </a:pPr>
            <a:r>
              <a:rPr lang="en-GB" sz="1600" b="1">
                <a:latin typeface="Courier New" panose="02070309020205020404" pitchFamily="49" charset="0"/>
                <a:cs typeface="Courier New" panose="02070309020205020404" pitchFamily="49" charset="0"/>
              </a:rPr>
              <a:t>}</a:t>
            </a:r>
          </a:p>
          <a:p>
            <a:pPr marL="0" indent="0">
              <a:spcBef>
                <a:spcPts val="0"/>
              </a:spcBef>
              <a:buNone/>
            </a:pPr>
            <a:endParaRPr lang="en-GB" sz="1600" b="1">
              <a:latin typeface="Courier New" panose="02070309020205020404" pitchFamily="49" charset="0"/>
              <a:cs typeface="Courier New" panose="02070309020205020404" pitchFamily="49" charset="0"/>
            </a:endParaRPr>
          </a:p>
        </p:txBody>
      </p:sp>
      <p:sp>
        <p:nvSpPr>
          <p:cNvPr id="4" name="Content Placeholder 2">
            <a:extLst>
              <a:ext uri="{FF2B5EF4-FFF2-40B4-BE49-F238E27FC236}">
                <a16:creationId xmlns:a16="http://schemas.microsoft.com/office/drawing/2014/main" id="{C3972E09-039E-98CB-8EEB-74F1DF08716F}"/>
              </a:ext>
            </a:extLst>
          </p:cNvPr>
          <p:cNvSpPr txBox="1">
            <a:spLocks/>
          </p:cNvSpPr>
          <p:nvPr/>
        </p:nvSpPr>
        <p:spPr bwMode="auto">
          <a:xfrm>
            <a:off x="5663952" y="1052736"/>
            <a:ext cx="6336704" cy="561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884" indent="-342884" algn="l" rtl="0" eaLnBrk="1" fontAlgn="base" hangingPunct="1">
              <a:spcBef>
                <a:spcPct val="20000"/>
              </a:spcBef>
              <a:spcAft>
                <a:spcPct val="0"/>
              </a:spcAft>
              <a:buChar char="•"/>
              <a:defRPr sz="3200">
                <a:solidFill>
                  <a:schemeClr val="tx1"/>
                </a:solidFill>
                <a:latin typeface="+mn-lt"/>
                <a:ea typeface="+mn-ea"/>
                <a:cs typeface="+mn-cs"/>
              </a:defRPr>
            </a:lvl1pPr>
            <a:lvl2pPr marL="742913" indent="-285736" algn="l" rtl="0" eaLnBrk="1" fontAlgn="base" hangingPunct="1">
              <a:spcBef>
                <a:spcPct val="20000"/>
              </a:spcBef>
              <a:spcAft>
                <a:spcPct val="0"/>
              </a:spcAft>
              <a:buChar char="–"/>
              <a:defRPr sz="2800">
                <a:solidFill>
                  <a:schemeClr val="tx1"/>
                </a:solidFill>
                <a:latin typeface="+mn-lt"/>
              </a:defRPr>
            </a:lvl2pPr>
            <a:lvl3pPr marL="1142944" indent="-228588" algn="l" rtl="0" eaLnBrk="1" fontAlgn="base" hangingPunct="1">
              <a:spcBef>
                <a:spcPct val="20000"/>
              </a:spcBef>
              <a:spcAft>
                <a:spcPct val="0"/>
              </a:spcAft>
              <a:buChar char="•"/>
              <a:defRPr sz="2400">
                <a:solidFill>
                  <a:schemeClr val="tx1"/>
                </a:solidFill>
                <a:latin typeface="+mn-lt"/>
              </a:defRPr>
            </a:lvl3pPr>
            <a:lvl4pPr marL="1600120" indent="-228588" algn="l" rtl="0" eaLnBrk="1" fontAlgn="base" hangingPunct="1">
              <a:spcBef>
                <a:spcPct val="20000"/>
              </a:spcBef>
              <a:spcAft>
                <a:spcPct val="0"/>
              </a:spcAft>
              <a:buChar char="–"/>
              <a:defRPr sz="2000">
                <a:solidFill>
                  <a:schemeClr val="tx1"/>
                </a:solidFill>
                <a:latin typeface="+mn-lt"/>
              </a:defRPr>
            </a:lvl4pPr>
            <a:lvl5pPr marL="2057297" indent="-228588" algn="l" rtl="0" eaLnBrk="1" fontAlgn="base" hangingPunct="1">
              <a:spcBef>
                <a:spcPct val="20000"/>
              </a:spcBef>
              <a:spcAft>
                <a:spcPct val="0"/>
              </a:spcAft>
              <a:buChar char="»"/>
              <a:defRPr sz="2000">
                <a:solidFill>
                  <a:schemeClr val="tx1"/>
                </a:solidFill>
                <a:latin typeface="+mn-lt"/>
              </a:defRPr>
            </a:lvl5pPr>
            <a:lvl6pPr marL="2514474" indent="-228588" algn="l" rtl="0" eaLnBrk="1" fontAlgn="base" hangingPunct="1">
              <a:spcBef>
                <a:spcPct val="20000"/>
              </a:spcBef>
              <a:spcAft>
                <a:spcPct val="0"/>
              </a:spcAft>
              <a:buChar char="»"/>
              <a:defRPr sz="2000">
                <a:solidFill>
                  <a:schemeClr val="tx1"/>
                </a:solidFill>
                <a:latin typeface="+mn-lt"/>
              </a:defRPr>
            </a:lvl6pPr>
            <a:lvl7pPr marL="2971652" indent="-228588" algn="l" rtl="0" eaLnBrk="1" fontAlgn="base" hangingPunct="1">
              <a:spcBef>
                <a:spcPct val="20000"/>
              </a:spcBef>
              <a:spcAft>
                <a:spcPct val="0"/>
              </a:spcAft>
              <a:buChar char="»"/>
              <a:defRPr sz="2000">
                <a:solidFill>
                  <a:schemeClr val="tx1"/>
                </a:solidFill>
                <a:latin typeface="+mn-lt"/>
              </a:defRPr>
            </a:lvl7pPr>
            <a:lvl8pPr marL="3428829" indent="-228588" algn="l" rtl="0" eaLnBrk="1" fontAlgn="base" hangingPunct="1">
              <a:spcBef>
                <a:spcPct val="20000"/>
              </a:spcBef>
              <a:spcAft>
                <a:spcPct val="0"/>
              </a:spcAft>
              <a:buChar char="»"/>
              <a:defRPr sz="2000">
                <a:solidFill>
                  <a:schemeClr val="tx1"/>
                </a:solidFill>
                <a:latin typeface="+mn-lt"/>
              </a:defRPr>
            </a:lvl8pPr>
            <a:lvl9pPr marL="3886006" indent="-228588" algn="l" rtl="0" eaLnBrk="1" fontAlgn="base" hangingPunct="1">
              <a:spcBef>
                <a:spcPct val="20000"/>
              </a:spcBef>
              <a:spcAft>
                <a:spcPct val="0"/>
              </a:spcAft>
              <a:buChar char="»"/>
              <a:defRPr sz="2000">
                <a:solidFill>
                  <a:schemeClr val="tx1"/>
                </a:solidFill>
                <a:latin typeface="+mn-lt"/>
              </a:defRPr>
            </a:lvl9pPr>
          </a:lstStyle>
          <a:p>
            <a:pPr marL="0" indent="0">
              <a:spcBef>
                <a:spcPts val="0"/>
              </a:spcBef>
              <a:buNone/>
            </a:pPr>
            <a:r>
              <a:rPr lang="en-GB" sz="1600" b="1">
                <a:latin typeface="Courier New" panose="02070309020205020404" pitchFamily="49" charset="0"/>
                <a:cs typeface="Courier New" panose="02070309020205020404" pitchFamily="49" charset="0"/>
              </a:rPr>
              <a:t>void main()</a:t>
            </a:r>
          </a:p>
          <a:p>
            <a:pPr marL="0" indent="0">
              <a:spcBef>
                <a:spcPts val="0"/>
              </a:spcBef>
              <a:buNone/>
            </a:pPr>
            <a:r>
              <a:rPr lang="en-GB" sz="1600" b="1">
                <a:latin typeface="Courier New" panose="02070309020205020404" pitchFamily="49" charset="0"/>
                <a:cs typeface="Courier New" panose="02070309020205020404" pitchFamily="49" charset="0"/>
              </a:rPr>
              <a:t>{</a:t>
            </a:r>
          </a:p>
          <a:p>
            <a:pPr marL="0" indent="0">
              <a:spcBef>
                <a:spcPts val="0"/>
              </a:spcBef>
              <a:buNone/>
            </a:pPr>
            <a:r>
              <a:rPr lang="en-GB" sz="1600" b="1">
                <a:latin typeface="Courier New" panose="02070309020205020404" pitchFamily="49" charset="0"/>
                <a:cs typeface="Courier New" panose="02070309020205020404" pitchFamily="49" charset="0"/>
              </a:rPr>
              <a:t>  pthread_t thrID1, thrID2;</a:t>
            </a:r>
          </a:p>
          <a:p>
            <a:pPr marL="0" indent="0">
              <a:spcBef>
                <a:spcPts val="0"/>
              </a:spcBef>
              <a:buNone/>
            </a:pPr>
            <a:r>
              <a:rPr lang="en-GB" sz="1600" b="1">
                <a:latin typeface="Courier New" panose="02070309020205020404" pitchFamily="49" charset="0"/>
                <a:cs typeface="Courier New" panose="02070309020205020404" pitchFamily="49" charset="0"/>
              </a:rPr>
              <a:t>  </a:t>
            </a:r>
          </a:p>
          <a:p>
            <a:pPr marL="0" indent="0">
              <a:spcBef>
                <a:spcPts val="0"/>
              </a:spcBef>
              <a:buNone/>
            </a:pPr>
            <a:r>
              <a:rPr lang="en-GB" sz="1600" b="1">
                <a:latin typeface="Courier New" panose="02070309020205020404" pitchFamily="49" charset="0"/>
                <a:cs typeface="Courier New" panose="02070309020205020404" pitchFamily="49" charset="0"/>
              </a:rPr>
              <a:t>  pthread_mutex_init(&amp;mutex,NULL);</a:t>
            </a:r>
          </a:p>
          <a:p>
            <a:pPr marL="0" indent="0">
              <a:spcBef>
                <a:spcPts val="0"/>
              </a:spcBef>
              <a:buNone/>
            </a:pPr>
            <a:endParaRPr lang="en-GB" sz="1600" b="1">
              <a:latin typeface="Courier New" panose="02070309020205020404" pitchFamily="49" charset="0"/>
              <a:cs typeface="Courier New" panose="02070309020205020404" pitchFamily="49" charset="0"/>
            </a:endParaRPr>
          </a:p>
          <a:p>
            <a:pPr marL="0" indent="0">
              <a:spcBef>
                <a:spcPts val="0"/>
              </a:spcBef>
              <a:buNone/>
            </a:pPr>
            <a:r>
              <a:rPr lang="en-GB" sz="1600" b="1">
                <a:latin typeface="Courier New" panose="02070309020205020404" pitchFamily="49" charset="0"/>
                <a:cs typeface="Courier New" panose="02070309020205020404" pitchFamily="49" charset="0"/>
              </a:rPr>
              <a:t>  pthread_create(&amp;thrID1, NULL, threadOne, NULL);</a:t>
            </a:r>
          </a:p>
          <a:p>
            <a:pPr marL="0" indent="0">
              <a:spcBef>
                <a:spcPts val="0"/>
              </a:spcBef>
              <a:buNone/>
            </a:pPr>
            <a:r>
              <a:rPr lang="en-GB" sz="1600" b="1">
                <a:latin typeface="Courier New" panose="02070309020205020404" pitchFamily="49" charset="0"/>
                <a:cs typeface="Courier New" panose="02070309020205020404" pitchFamily="49" charset="0"/>
              </a:rPr>
              <a:t>  pthread_create(&amp;thrID2, NULL, threadTwo, NULL);</a:t>
            </a:r>
          </a:p>
          <a:p>
            <a:pPr marL="0" indent="0">
              <a:spcBef>
                <a:spcPts val="0"/>
              </a:spcBef>
              <a:buNone/>
            </a:pPr>
            <a:r>
              <a:rPr lang="en-GB" sz="1600" b="1">
                <a:latin typeface="Courier New" panose="02070309020205020404" pitchFamily="49" charset="0"/>
                <a:cs typeface="Courier New" panose="02070309020205020404" pitchFamily="49" charset="0"/>
              </a:rPr>
              <a:t>  pthread_join(thrID1, NULL);</a:t>
            </a:r>
          </a:p>
          <a:p>
            <a:pPr marL="0" indent="0">
              <a:spcBef>
                <a:spcPts val="0"/>
              </a:spcBef>
              <a:buNone/>
            </a:pPr>
            <a:r>
              <a:rPr lang="en-GB" sz="1600" b="1">
                <a:latin typeface="Courier New" panose="02070309020205020404" pitchFamily="49" charset="0"/>
                <a:cs typeface="Courier New" panose="02070309020205020404" pitchFamily="49" charset="0"/>
              </a:rPr>
              <a:t>  pthread_join(thrID2, NULL);</a:t>
            </a:r>
          </a:p>
          <a:p>
            <a:pPr marL="0" indent="0">
              <a:spcBef>
                <a:spcPts val="0"/>
              </a:spcBef>
              <a:buNone/>
            </a:pPr>
            <a:r>
              <a:rPr lang="en-GB" sz="1600" b="1">
                <a:latin typeface="Courier New" panose="02070309020205020404" pitchFamily="49" charset="0"/>
                <a:cs typeface="Courier New" panose="02070309020205020404" pitchFamily="49" charset="0"/>
              </a:rPr>
              <a:t>  printf("Final counter = %d\n", counter);</a:t>
            </a:r>
          </a:p>
          <a:p>
            <a:pPr marL="0" indent="0">
              <a:spcBef>
                <a:spcPts val="0"/>
              </a:spcBef>
              <a:buNone/>
            </a:pPr>
            <a:r>
              <a:rPr lang="en-GB" sz="1600" b="1">
                <a:latin typeface="Courier New" panose="02070309020205020404" pitchFamily="49" charset="0"/>
                <a:cs typeface="Courier New" panose="02070309020205020404" pitchFamily="49" charset="0"/>
              </a:rPr>
              <a:t>  pthread_mutex_destroy(&amp;mutex);</a:t>
            </a:r>
          </a:p>
          <a:p>
            <a:pPr marL="0" indent="0">
              <a:spcBef>
                <a:spcPts val="0"/>
              </a:spcBef>
              <a:buNone/>
            </a:pPr>
            <a:r>
              <a:rPr lang="en-GB" sz="1600" b="1">
                <a:latin typeface="Courier New" panose="02070309020205020404" pitchFamily="49" charset="0"/>
                <a:cs typeface="Courier New" panose="02070309020205020404" pitchFamily="49" charset="0"/>
              </a:rPr>
              <a:t>}</a:t>
            </a:r>
          </a:p>
          <a:p>
            <a:pPr marL="0" indent="0">
              <a:spcBef>
                <a:spcPts val="0"/>
              </a:spcBef>
              <a:buNone/>
            </a:pPr>
            <a:endParaRPr lang="en-GB" sz="1600" b="1">
              <a:latin typeface="Courier New" panose="02070309020205020404" pitchFamily="49" charset="0"/>
              <a:cs typeface="Courier New" panose="02070309020205020404" pitchFamily="49" charset="0"/>
            </a:endParaRPr>
          </a:p>
          <a:p>
            <a:pPr marL="0" indent="0">
              <a:spcBef>
                <a:spcPts val="0"/>
              </a:spcBef>
              <a:buNone/>
            </a:pPr>
            <a:endParaRPr lang="en-GB" sz="1600" b="1">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640015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Deadlocks</a:t>
            </a:r>
          </a:p>
        </p:txBody>
      </p:sp>
      <p:sp>
        <p:nvSpPr>
          <p:cNvPr id="3" name="Content Placeholder 2"/>
          <p:cNvSpPr>
            <a:spLocks noGrp="1"/>
          </p:cNvSpPr>
          <p:nvPr>
            <p:ph idx="1"/>
          </p:nvPr>
        </p:nvSpPr>
        <p:spPr/>
        <p:txBody>
          <a:bodyPr/>
          <a:lstStyle/>
          <a:p>
            <a:r>
              <a:rPr lang="en-GB" dirty="0"/>
              <a:t>With </a:t>
            </a:r>
            <a:r>
              <a:rPr lang="en-GB" dirty="0" err="1"/>
              <a:t>mutexes</a:t>
            </a:r>
            <a:r>
              <a:rPr lang="en-GB" dirty="0"/>
              <a:t>, there is the possibility of deadlocks.</a:t>
            </a:r>
          </a:p>
          <a:p>
            <a:r>
              <a:rPr lang="en-GB" dirty="0"/>
              <a:t>This is when all the threads are waiting for different </a:t>
            </a:r>
            <a:r>
              <a:rPr lang="en-GB" dirty="0" err="1"/>
              <a:t>mutexes</a:t>
            </a:r>
            <a:r>
              <a:rPr lang="en-GB" dirty="0"/>
              <a:t> which are locked by other threads. E.g.:</a:t>
            </a:r>
          </a:p>
          <a:p>
            <a:pPr lvl="1"/>
            <a:r>
              <a:rPr lang="en-GB" dirty="0"/>
              <a:t>Thread A locks </a:t>
            </a:r>
            <a:r>
              <a:rPr lang="en-GB" dirty="0" err="1"/>
              <a:t>Mutex</a:t>
            </a:r>
            <a:r>
              <a:rPr lang="en-GB" dirty="0"/>
              <a:t> 1</a:t>
            </a:r>
          </a:p>
          <a:p>
            <a:pPr lvl="1"/>
            <a:r>
              <a:rPr lang="en-GB" dirty="0"/>
              <a:t>Thread B locks </a:t>
            </a:r>
            <a:r>
              <a:rPr lang="en-GB" dirty="0" err="1"/>
              <a:t>Mutex</a:t>
            </a:r>
            <a:r>
              <a:rPr lang="en-GB" dirty="0"/>
              <a:t> 2</a:t>
            </a:r>
          </a:p>
          <a:p>
            <a:pPr lvl="1"/>
            <a:r>
              <a:rPr lang="en-GB" dirty="0"/>
              <a:t>Thread A attempts to lock </a:t>
            </a:r>
            <a:r>
              <a:rPr lang="en-GB" dirty="0" err="1"/>
              <a:t>Mutex</a:t>
            </a:r>
            <a:r>
              <a:rPr lang="en-GB" dirty="0"/>
              <a:t> 2</a:t>
            </a:r>
          </a:p>
          <a:p>
            <a:pPr lvl="1"/>
            <a:r>
              <a:rPr lang="en-GB" dirty="0"/>
              <a:t>Thread B attempts to lock </a:t>
            </a:r>
            <a:r>
              <a:rPr lang="en-GB" dirty="0" err="1"/>
              <a:t>Mutex</a:t>
            </a:r>
            <a:r>
              <a:rPr lang="en-GB" dirty="0"/>
              <a:t> 1</a:t>
            </a:r>
          </a:p>
          <a:p>
            <a:pPr lvl="1"/>
            <a:r>
              <a:rPr lang="en-GB" dirty="0"/>
              <a:t>Deadlock!</a:t>
            </a:r>
          </a:p>
        </p:txBody>
      </p:sp>
    </p:spTree>
    <p:extLst>
      <p:ext uri="{BB962C8B-B14F-4D97-AF65-F5344CB8AC3E}">
        <p14:creationId xmlns:p14="http://schemas.microsoft.com/office/powerpoint/2010/main" val="1444049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D0CF0-6B80-D4A3-4AE8-1D2086DD5C4B}"/>
              </a:ext>
            </a:extLst>
          </p:cNvPr>
          <p:cNvSpPr>
            <a:spLocks noGrp="1"/>
          </p:cNvSpPr>
          <p:nvPr>
            <p:ph type="title"/>
          </p:nvPr>
        </p:nvSpPr>
        <p:spPr/>
        <p:txBody>
          <a:bodyPr/>
          <a:lstStyle/>
          <a:p>
            <a:r>
              <a:rPr lang="en-GB"/>
              <a:t>Deadlocks</a:t>
            </a:r>
          </a:p>
        </p:txBody>
      </p:sp>
      <p:sp>
        <p:nvSpPr>
          <p:cNvPr id="3" name="Content Placeholder 2">
            <a:extLst>
              <a:ext uri="{FF2B5EF4-FFF2-40B4-BE49-F238E27FC236}">
                <a16:creationId xmlns:a16="http://schemas.microsoft.com/office/drawing/2014/main" id="{67C541CA-BAA9-BBDF-CC4D-BD7CF6C24CA2}"/>
              </a:ext>
            </a:extLst>
          </p:cNvPr>
          <p:cNvSpPr>
            <a:spLocks noGrp="1"/>
          </p:cNvSpPr>
          <p:nvPr>
            <p:ph idx="1"/>
          </p:nvPr>
        </p:nvSpPr>
        <p:spPr>
          <a:xfrm>
            <a:off x="239350" y="1052737"/>
            <a:ext cx="5136569" cy="5616625"/>
          </a:xfrm>
        </p:spPr>
        <p:txBody>
          <a:bodyPr/>
          <a:lstStyle/>
          <a:p>
            <a:pPr marL="0" indent="0">
              <a:spcBef>
                <a:spcPts val="0"/>
              </a:spcBef>
              <a:buNone/>
            </a:pPr>
            <a:r>
              <a:rPr lang="en-GB" sz="1600" b="1">
                <a:latin typeface="Courier New" panose="02070309020205020404" pitchFamily="49" charset="0"/>
                <a:cs typeface="Courier New" panose="02070309020205020404" pitchFamily="49" charset="0"/>
              </a:rPr>
              <a:t>int counter=0;</a:t>
            </a:r>
          </a:p>
          <a:p>
            <a:pPr marL="0" indent="0">
              <a:spcBef>
                <a:spcPts val="0"/>
              </a:spcBef>
              <a:buNone/>
            </a:pPr>
            <a:r>
              <a:rPr lang="en-GB" sz="1600" b="1">
                <a:latin typeface="Courier New" panose="02070309020205020404" pitchFamily="49" charset="0"/>
                <a:cs typeface="Courier New" panose="02070309020205020404" pitchFamily="49" charset="0"/>
              </a:rPr>
              <a:t>pthread_mutex_t mutex1, mutex2;</a:t>
            </a:r>
          </a:p>
          <a:p>
            <a:pPr marL="0" indent="0">
              <a:spcBef>
                <a:spcPts val="0"/>
              </a:spcBef>
              <a:buNone/>
            </a:pPr>
            <a:endParaRPr lang="en-GB" sz="1600" b="1">
              <a:latin typeface="Courier New" panose="02070309020205020404" pitchFamily="49" charset="0"/>
              <a:cs typeface="Courier New" panose="02070309020205020404" pitchFamily="49" charset="0"/>
            </a:endParaRPr>
          </a:p>
          <a:p>
            <a:pPr marL="0" indent="0">
              <a:spcBef>
                <a:spcPts val="0"/>
              </a:spcBef>
              <a:buNone/>
            </a:pPr>
            <a:r>
              <a:rPr lang="en-GB" sz="1600" b="1">
                <a:latin typeface="Courier New" panose="02070309020205020404" pitchFamily="49" charset="0"/>
                <a:cs typeface="Courier New" panose="02070309020205020404" pitchFamily="49" charset="0"/>
              </a:rPr>
              <a:t>void *threadOne(void *p){</a:t>
            </a:r>
          </a:p>
          <a:p>
            <a:pPr marL="0" indent="0">
              <a:spcBef>
                <a:spcPts val="0"/>
              </a:spcBef>
              <a:buNone/>
            </a:pPr>
            <a:r>
              <a:rPr lang="en-GB" sz="1600" b="1">
                <a:latin typeface="Courier New" panose="02070309020205020404" pitchFamily="49" charset="0"/>
                <a:cs typeface="Courier New" panose="02070309020205020404" pitchFamily="49" charset="0"/>
              </a:rPr>
              <a:t>  for(int i=0; i&lt;100; i++){</a:t>
            </a:r>
          </a:p>
          <a:p>
            <a:pPr marL="0" indent="0">
              <a:spcBef>
                <a:spcPts val="0"/>
              </a:spcBef>
              <a:buNone/>
            </a:pPr>
            <a:r>
              <a:rPr lang="en-GB" sz="1600" b="1">
                <a:latin typeface="Courier New" panose="02070309020205020404" pitchFamily="49" charset="0"/>
                <a:cs typeface="Courier New" panose="02070309020205020404" pitchFamily="49" charset="0"/>
              </a:rPr>
              <a:t>    </a:t>
            </a:r>
            <a:r>
              <a:rPr lang="en-GB" sz="1600" b="1">
                <a:highlight>
                  <a:srgbClr val="FFFF00"/>
                </a:highlight>
                <a:latin typeface="Courier New" panose="02070309020205020404" pitchFamily="49" charset="0"/>
                <a:cs typeface="Courier New" panose="02070309020205020404" pitchFamily="49" charset="0"/>
              </a:rPr>
              <a:t>pthread_mutex_lock(&amp;mutex1);</a:t>
            </a:r>
          </a:p>
          <a:p>
            <a:pPr marL="0" indent="0">
              <a:spcBef>
                <a:spcPts val="0"/>
              </a:spcBef>
              <a:buNone/>
            </a:pPr>
            <a:r>
              <a:rPr lang="en-GB" sz="1600" b="1">
                <a:latin typeface="Courier New" panose="02070309020205020404" pitchFamily="49" charset="0"/>
                <a:cs typeface="Courier New" panose="02070309020205020404" pitchFamily="49" charset="0"/>
              </a:rPr>
              <a:t>    </a:t>
            </a:r>
            <a:r>
              <a:rPr lang="en-GB" sz="1600" b="1">
                <a:highlight>
                  <a:srgbClr val="FFFF00"/>
                </a:highlight>
                <a:latin typeface="Courier New" panose="02070309020205020404" pitchFamily="49" charset="0"/>
                <a:cs typeface="Courier New" panose="02070309020205020404" pitchFamily="49" charset="0"/>
              </a:rPr>
              <a:t>pthread_mutex_lock(&amp;mutex2);</a:t>
            </a:r>
          </a:p>
          <a:p>
            <a:pPr marL="0" indent="0">
              <a:spcBef>
                <a:spcPts val="0"/>
              </a:spcBef>
              <a:buNone/>
            </a:pPr>
            <a:r>
              <a:rPr lang="en-GB" sz="1600" b="1">
                <a:latin typeface="Courier New" panose="02070309020205020404" pitchFamily="49" charset="0"/>
                <a:cs typeface="Courier New" panose="02070309020205020404" pitchFamily="49" charset="0"/>
              </a:rPr>
              <a:t>    counter = doSomething();</a:t>
            </a:r>
          </a:p>
          <a:p>
            <a:pPr marL="0" indent="0">
              <a:spcBef>
                <a:spcPts val="0"/>
              </a:spcBef>
              <a:buNone/>
            </a:pPr>
            <a:r>
              <a:rPr lang="en-GB" sz="1600" b="1">
                <a:latin typeface="Courier New" panose="02070309020205020404" pitchFamily="49" charset="0"/>
                <a:cs typeface="Courier New" panose="02070309020205020404" pitchFamily="49" charset="0"/>
              </a:rPr>
              <a:t>    pthread_mutex_unlock(&amp;mutex2);</a:t>
            </a:r>
          </a:p>
          <a:p>
            <a:pPr marL="0" indent="0">
              <a:spcBef>
                <a:spcPts val="0"/>
              </a:spcBef>
              <a:buNone/>
            </a:pPr>
            <a:r>
              <a:rPr lang="en-GB" sz="1600" b="1">
                <a:latin typeface="Courier New" panose="02070309020205020404" pitchFamily="49" charset="0"/>
                <a:cs typeface="Courier New" panose="02070309020205020404" pitchFamily="49" charset="0"/>
              </a:rPr>
              <a:t>    pthread_mutex_unlock(&amp;mutex1);</a:t>
            </a:r>
          </a:p>
          <a:p>
            <a:pPr marL="0" indent="0">
              <a:spcBef>
                <a:spcPts val="0"/>
              </a:spcBef>
              <a:buNone/>
            </a:pPr>
            <a:r>
              <a:rPr lang="en-GB" sz="1600" b="1">
                <a:latin typeface="Courier New" panose="02070309020205020404" pitchFamily="49" charset="0"/>
                <a:cs typeface="Courier New" panose="02070309020205020404" pitchFamily="49" charset="0"/>
              </a:rPr>
              <a:t>  }</a:t>
            </a:r>
          </a:p>
          <a:p>
            <a:pPr marL="0" indent="0">
              <a:spcBef>
                <a:spcPts val="0"/>
              </a:spcBef>
              <a:buNone/>
            </a:pPr>
            <a:r>
              <a:rPr lang="en-GB" sz="1600" b="1">
                <a:latin typeface="Courier New" panose="02070309020205020404" pitchFamily="49" charset="0"/>
                <a:cs typeface="Courier New" panose="02070309020205020404" pitchFamily="49" charset="0"/>
              </a:rPr>
              <a:t>  return NULL;</a:t>
            </a:r>
          </a:p>
          <a:p>
            <a:pPr marL="0" indent="0">
              <a:spcBef>
                <a:spcPts val="0"/>
              </a:spcBef>
              <a:buNone/>
            </a:pPr>
            <a:r>
              <a:rPr lang="en-GB" sz="1600" b="1">
                <a:latin typeface="Courier New" panose="02070309020205020404" pitchFamily="49" charset="0"/>
                <a:cs typeface="Courier New" panose="02070309020205020404" pitchFamily="49" charset="0"/>
              </a:rPr>
              <a:t>}</a:t>
            </a:r>
          </a:p>
          <a:p>
            <a:pPr marL="0" indent="0">
              <a:spcBef>
                <a:spcPts val="0"/>
              </a:spcBef>
              <a:buNone/>
            </a:pPr>
            <a:r>
              <a:rPr lang="en-GB" sz="1600" b="1">
                <a:latin typeface="Courier New" panose="02070309020205020404" pitchFamily="49" charset="0"/>
                <a:cs typeface="Courier New" panose="02070309020205020404" pitchFamily="49" charset="0"/>
              </a:rPr>
              <a:t>void *threadTwo(void *p){</a:t>
            </a:r>
          </a:p>
          <a:p>
            <a:pPr marL="0" indent="0">
              <a:spcBef>
                <a:spcPts val="0"/>
              </a:spcBef>
              <a:buNone/>
            </a:pPr>
            <a:r>
              <a:rPr lang="en-GB" sz="1600" b="1">
                <a:latin typeface="Courier New" panose="02070309020205020404" pitchFamily="49" charset="0"/>
                <a:cs typeface="Courier New" panose="02070309020205020404" pitchFamily="49" charset="0"/>
              </a:rPr>
              <a:t>  for(int i=0; i&lt;100; i++){</a:t>
            </a:r>
          </a:p>
          <a:p>
            <a:pPr marL="0" indent="0">
              <a:spcBef>
                <a:spcPts val="0"/>
              </a:spcBef>
              <a:buNone/>
            </a:pPr>
            <a:r>
              <a:rPr lang="en-GB" sz="1600" b="1">
                <a:latin typeface="Courier New" panose="02070309020205020404" pitchFamily="49" charset="0"/>
                <a:cs typeface="Courier New" panose="02070309020205020404" pitchFamily="49" charset="0"/>
              </a:rPr>
              <a:t>    </a:t>
            </a:r>
            <a:r>
              <a:rPr lang="en-GB" sz="1600" b="1">
                <a:highlight>
                  <a:srgbClr val="FFFF00"/>
                </a:highlight>
                <a:latin typeface="Courier New" panose="02070309020205020404" pitchFamily="49" charset="0"/>
                <a:cs typeface="Courier New" panose="02070309020205020404" pitchFamily="49" charset="0"/>
              </a:rPr>
              <a:t>pthread_mutex_lock(&amp;mutex2);</a:t>
            </a:r>
          </a:p>
          <a:p>
            <a:pPr marL="0" indent="0">
              <a:spcBef>
                <a:spcPts val="0"/>
              </a:spcBef>
              <a:buNone/>
            </a:pPr>
            <a:r>
              <a:rPr lang="en-GB" sz="1600" b="1">
                <a:latin typeface="Courier New" panose="02070309020205020404" pitchFamily="49" charset="0"/>
                <a:cs typeface="Courier New" panose="02070309020205020404" pitchFamily="49" charset="0"/>
              </a:rPr>
              <a:t>    </a:t>
            </a:r>
            <a:r>
              <a:rPr lang="en-GB" sz="1600" b="1">
                <a:highlight>
                  <a:srgbClr val="FFFF00"/>
                </a:highlight>
                <a:latin typeface="Courier New" panose="02070309020205020404" pitchFamily="49" charset="0"/>
                <a:cs typeface="Courier New" panose="02070309020205020404" pitchFamily="49" charset="0"/>
              </a:rPr>
              <a:t>pthread_mutex_lock(&amp;mutex1);</a:t>
            </a:r>
          </a:p>
          <a:p>
            <a:pPr marL="0" indent="0">
              <a:spcBef>
                <a:spcPts val="0"/>
              </a:spcBef>
              <a:buNone/>
            </a:pPr>
            <a:r>
              <a:rPr lang="en-GB" sz="1600" b="1">
                <a:latin typeface="Courier New" panose="02070309020205020404" pitchFamily="49" charset="0"/>
                <a:cs typeface="Courier New" panose="02070309020205020404" pitchFamily="49" charset="0"/>
              </a:rPr>
              <a:t>    counter = doSomething();</a:t>
            </a:r>
          </a:p>
          <a:p>
            <a:pPr marL="0" indent="0">
              <a:spcBef>
                <a:spcPts val="0"/>
              </a:spcBef>
              <a:buNone/>
            </a:pPr>
            <a:r>
              <a:rPr lang="en-GB" sz="1600" b="1">
                <a:latin typeface="Courier New" panose="02070309020205020404" pitchFamily="49" charset="0"/>
                <a:cs typeface="Courier New" panose="02070309020205020404" pitchFamily="49" charset="0"/>
              </a:rPr>
              <a:t>    pthread_mutex_unlock(&amp;mutex1);</a:t>
            </a:r>
          </a:p>
          <a:p>
            <a:pPr marL="0" indent="0">
              <a:spcBef>
                <a:spcPts val="0"/>
              </a:spcBef>
              <a:buNone/>
            </a:pPr>
            <a:r>
              <a:rPr lang="en-GB" sz="1600" b="1">
                <a:latin typeface="Courier New" panose="02070309020205020404" pitchFamily="49" charset="0"/>
                <a:cs typeface="Courier New" panose="02070309020205020404" pitchFamily="49" charset="0"/>
              </a:rPr>
              <a:t>    pthread_mutex_unlock(&amp;mutex2);</a:t>
            </a:r>
          </a:p>
          <a:p>
            <a:pPr marL="0" indent="0">
              <a:spcBef>
                <a:spcPts val="0"/>
              </a:spcBef>
              <a:buNone/>
            </a:pPr>
            <a:r>
              <a:rPr lang="en-GB" sz="1600" b="1">
                <a:latin typeface="Courier New" panose="02070309020205020404" pitchFamily="49" charset="0"/>
                <a:cs typeface="Courier New" panose="02070309020205020404" pitchFamily="49" charset="0"/>
              </a:rPr>
              <a:t>  }</a:t>
            </a:r>
          </a:p>
          <a:p>
            <a:pPr marL="0" indent="0">
              <a:spcBef>
                <a:spcPts val="0"/>
              </a:spcBef>
              <a:buNone/>
            </a:pPr>
            <a:r>
              <a:rPr lang="en-GB" sz="1600" b="1">
                <a:latin typeface="Courier New" panose="02070309020205020404" pitchFamily="49" charset="0"/>
                <a:cs typeface="Courier New" panose="02070309020205020404" pitchFamily="49" charset="0"/>
              </a:rPr>
              <a:t>  return NULL;</a:t>
            </a:r>
          </a:p>
          <a:p>
            <a:pPr marL="0" indent="0">
              <a:spcBef>
                <a:spcPts val="0"/>
              </a:spcBef>
              <a:buNone/>
            </a:pPr>
            <a:r>
              <a:rPr lang="en-GB" sz="1600" b="1">
                <a:latin typeface="Courier New" panose="02070309020205020404" pitchFamily="49" charset="0"/>
                <a:cs typeface="Courier New" panose="02070309020205020404" pitchFamily="49" charset="0"/>
              </a:rPr>
              <a:t>}</a:t>
            </a:r>
          </a:p>
        </p:txBody>
      </p:sp>
      <p:sp>
        <p:nvSpPr>
          <p:cNvPr id="4" name="Content Placeholder 2">
            <a:extLst>
              <a:ext uri="{FF2B5EF4-FFF2-40B4-BE49-F238E27FC236}">
                <a16:creationId xmlns:a16="http://schemas.microsoft.com/office/drawing/2014/main" id="{AB47FE46-C40E-1732-1F4F-67A9FCEF1F97}"/>
              </a:ext>
            </a:extLst>
          </p:cNvPr>
          <p:cNvSpPr txBox="1">
            <a:spLocks/>
          </p:cNvSpPr>
          <p:nvPr/>
        </p:nvSpPr>
        <p:spPr bwMode="auto">
          <a:xfrm>
            <a:off x="5591944" y="1052735"/>
            <a:ext cx="6192688" cy="561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884" indent="-342884" algn="l" rtl="0" eaLnBrk="1" fontAlgn="base" hangingPunct="1">
              <a:spcBef>
                <a:spcPct val="20000"/>
              </a:spcBef>
              <a:spcAft>
                <a:spcPct val="0"/>
              </a:spcAft>
              <a:buChar char="•"/>
              <a:defRPr sz="3200">
                <a:solidFill>
                  <a:schemeClr val="tx1"/>
                </a:solidFill>
                <a:latin typeface="+mn-lt"/>
                <a:ea typeface="+mn-ea"/>
                <a:cs typeface="+mn-cs"/>
              </a:defRPr>
            </a:lvl1pPr>
            <a:lvl2pPr marL="742913" indent="-285736" algn="l" rtl="0" eaLnBrk="1" fontAlgn="base" hangingPunct="1">
              <a:spcBef>
                <a:spcPct val="20000"/>
              </a:spcBef>
              <a:spcAft>
                <a:spcPct val="0"/>
              </a:spcAft>
              <a:buChar char="–"/>
              <a:defRPr sz="2800">
                <a:solidFill>
                  <a:schemeClr val="tx1"/>
                </a:solidFill>
                <a:latin typeface="+mn-lt"/>
              </a:defRPr>
            </a:lvl2pPr>
            <a:lvl3pPr marL="1142944" indent="-228588" algn="l" rtl="0" eaLnBrk="1" fontAlgn="base" hangingPunct="1">
              <a:spcBef>
                <a:spcPct val="20000"/>
              </a:spcBef>
              <a:spcAft>
                <a:spcPct val="0"/>
              </a:spcAft>
              <a:buChar char="•"/>
              <a:defRPr sz="2400">
                <a:solidFill>
                  <a:schemeClr val="tx1"/>
                </a:solidFill>
                <a:latin typeface="+mn-lt"/>
              </a:defRPr>
            </a:lvl3pPr>
            <a:lvl4pPr marL="1600120" indent="-228588" algn="l" rtl="0" eaLnBrk="1" fontAlgn="base" hangingPunct="1">
              <a:spcBef>
                <a:spcPct val="20000"/>
              </a:spcBef>
              <a:spcAft>
                <a:spcPct val="0"/>
              </a:spcAft>
              <a:buChar char="–"/>
              <a:defRPr sz="2000">
                <a:solidFill>
                  <a:schemeClr val="tx1"/>
                </a:solidFill>
                <a:latin typeface="+mn-lt"/>
              </a:defRPr>
            </a:lvl4pPr>
            <a:lvl5pPr marL="2057297" indent="-228588" algn="l" rtl="0" eaLnBrk="1" fontAlgn="base" hangingPunct="1">
              <a:spcBef>
                <a:spcPct val="20000"/>
              </a:spcBef>
              <a:spcAft>
                <a:spcPct val="0"/>
              </a:spcAft>
              <a:buChar char="»"/>
              <a:defRPr sz="2000">
                <a:solidFill>
                  <a:schemeClr val="tx1"/>
                </a:solidFill>
                <a:latin typeface="+mn-lt"/>
              </a:defRPr>
            </a:lvl5pPr>
            <a:lvl6pPr marL="2514474" indent="-228588" algn="l" rtl="0" eaLnBrk="1" fontAlgn="base" hangingPunct="1">
              <a:spcBef>
                <a:spcPct val="20000"/>
              </a:spcBef>
              <a:spcAft>
                <a:spcPct val="0"/>
              </a:spcAft>
              <a:buChar char="»"/>
              <a:defRPr sz="2000">
                <a:solidFill>
                  <a:schemeClr val="tx1"/>
                </a:solidFill>
                <a:latin typeface="+mn-lt"/>
              </a:defRPr>
            </a:lvl6pPr>
            <a:lvl7pPr marL="2971652" indent="-228588" algn="l" rtl="0" eaLnBrk="1" fontAlgn="base" hangingPunct="1">
              <a:spcBef>
                <a:spcPct val="20000"/>
              </a:spcBef>
              <a:spcAft>
                <a:spcPct val="0"/>
              </a:spcAft>
              <a:buChar char="»"/>
              <a:defRPr sz="2000">
                <a:solidFill>
                  <a:schemeClr val="tx1"/>
                </a:solidFill>
                <a:latin typeface="+mn-lt"/>
              </a:defRPr>
            </a:lvl7pPr>
            <a:lvl8pPr marL="3428829" indent="-228588" algn="l" rtl="0" eaLnBrk="1" fontAlgn="base" hangingPunct="1">
              <a:spcBef>
                <a:spcPct val="20000"/>
              </a:spcBef>
              <a:spcAft>
                <a:spcPct val="0"/>
              </a:spcAft>
              <a:buChar char="»"/>
              <a:defRPr sz="2000">
                <a:solidFill>
                  <a:schemeClr val="tx1"/>
                </a:solidFill>
                <a:latin typeface="+mn-lt"/>
              </a:defRPr>
            </a:lvl8pPr>
            <a:lvl9pPr marL="3886006" indent="-228588" algn="l" rtl="0" eaLnBrk="1" fontAlgn="base" hangingPunct="1">
              <a:spcBef>
                <a:spcPct val="20000"/>
              </a:spcBef>
              <a:spcAft>
                <a:spcPct val="0"/>
              </a:spcAft>
              <a:buChar char="»"/>
              <a:defRPr sz="2000">
                <a:solidFill>
                  <a:schemeClr val="tx1"/>
                </a:solidFill>
                <a:latin typeface="+mn-lt"/>
              </a:defRPr>
            </a:lvl9pPr>
          </a:lstStyle>
          <a:p>
            <a:pPr marL="0" indent="0">
              <a:buFontTx/>
              <a:buNone/>
            </a:pPr>
            <a:r>
              <a:rPr lang="en-GB" sz="1600" b="1" kern="0">
                <a:latin typeface="Courier New" panose="02070309020205020404" pitchFamily="49" charset="0"/>
                <a:cs typeface="Courier New" panose="02070309020205020404" pitchFamily="49" charset="0"/>
              </a:rPr>
              <a:t>void main(){</a:t>
            </a:r>
          </a:p>
          <a:p>
            <a:pPr marL="0" indent="0">
              <a:buFontTx/>
              <a:buNone/>
            </a:pPr>
            <a:r>
              <a:rPr lang="en-GB" sz="1600" b="1" kern="0">
                <a:latin typeface="Courier New" panose="02070309020205020404" pitchFamily="49" charset="0"/>
                <a:cs typeface="Courier New" panose="02070309020205020404" pitchFamily="49" charset="0"/>
              </a:rPr>
              <a:t>  pthread_t thrID1, thrID2;</a:t>
            </a:r>
          </a:p>
          <a:p>
            <a:pPr marL="0" indent="0">
              <a:buFontTx/>
              <a:buNone/>
            </a:pPr>
            <a:r>
              <a:rPr lang="en-GB" sz="1600" b="1" kern="0">
                <a:latin typeface="Courier New" panose="02070309020205020404" pitchFamily="49" charset="0"/>
                <a:cs typeface="Courier New" panose="02070309020205020404" pitchFamily="49" charset="0"/>
              </a:rPr>
              <a:t>  pthread_mutex_init(&amp;mutex1,NULL);</a:t>
            </a:r>
          </a:p>
          <a:p>
            <a:pPr marL="0" indent="0">
              <a:buFontTx/>
              <a:buNone/>
            </a:pPr>
            <a:r>
              <a:rPr lang="en-GB" sz="1600" b="1" kern="0">
                <a:latin typeface="Courier New" panose="02070309020205020404" pitchFamily="49" charset="0"/>
                <a:cs typeface="Courier New" panose="02070309020205020404" pitchFamily="49" charset="0"/>
              </a:rPr>
              <a:t>  pthread_mutex_init(&amp;mutex2,NULL);</a:t>
            </a:r>
          </a:p>
          <a:p>
            <a:pPr marL="0" indent="0">
              <a:buFontTx/>
              <a:buNone/>
            </a:pPr>
            <a:r>
              <a:rPr lang="en-GB" sz="1600" b="1" kern="0">
                <a:latin typeface="Courier New" panose="02070309020205020404" pitchFamily="49" charset="0"/>
                <a:cs typeface="Courier New" panose="02070309020205020404" pitchFamily="49" charset="0"/>
              </a:rPr>
              <a:t>  pthread_create(&amp;thrID1, NULL, threadOne, NULL);</a:t>
            </a:r>
          </a:p>
          <a:p>
            <a:pPr marL="0" indent="0">
              <a:buFontTx/>
              <a:buNone/>
            </a:pPr>
            <a:r>
              <a:rPr lang="en-GB" sz="1600" b="1" kern="0">
                <a:latin typeface="Courier New" panose="02070309020205020404" pitchFamily="49" charset="0"/>
                <a:cs typeface="Courier New" panose="02070309020205020404" pitchFamily="49" charset="0"/>
              </a:rPr>
              <a:t>  pthread_create(&amp;thrID2, NULL, threadTwo, NULL);</a:t>
            </a:r>
          </a:p>
          <a:p>
            <a:pPr marL="0" indent="0">
              <a:buFontTx/>
              <a:buNone/>
            </a:pPr>
            <a:r>
              <a:rPr lang="en-GB" sz="1600" b="1" kern="0">
                <a:latin typeface="Courier New" panose="02070309020205020404" pitchFamily="49" charset="0"/>
                <a:cs typeface="Courier New" panose="02070309020205020404" pitchFamily="49" charset="0"/>
              </a:rPr>
              <a:t>  pthread_join(thrID1, NULL);</a:t>
            </a:r>
          </a:p>
          <a:p>
            <a:pPr marL="0" indent="0">
              <a:buFontTx/>
              <a:buNone/>
            </a:pPr>
            <a:r>
              <a:rPr lang="en-GB" sz="1600" b="1" kern="0">
                <a:latin typeface="Courier New" panose="02070309020205020404" pitchFamily="49" charset="0"/>
                <a:cs typeface="Courier New" panose="02070309020205020404" pitchFamily="49" charset="0"/>
              </a:rPr>
              <a:t>  pthread_join(thrID2, NULL);</a:t>
            </a:r>
          </a:p>
          <a:p>
            <a:pPr marL="0" indent="0">
              <a:buFontTx/>
              <a:buNone/>
            </a:pPr>
            <a:r>
              <a:rPr lang="en-GB" sz="1600" b="1" kern="0">
                <a:latin typeface="Courier New" panose="02070309020205020404" pitchFamily="49" charset="0"/>
                <a:cs typeface="Courier New" panose="02070309020205020404" pitchFamily="49" charset="0"/>
              </a:rPr>
              <a:t>  printf("Final counter = %d\n", counter);</a:t>
            </a:r>
          </a:p>
          <a:p>
            <a:pPr marL="0" indent="0">
              <a:buFontTx/>
              <a:buNone/>
            </a:pPr>
            <a:r>
              <a:rPr lang="en-GB" sz="1600" b="1" kern="0">
                <a:latin typeface="Courier New" panose="02070309020205020404" pitchFamily="49" charset="0"/>
                <a:cs typeface="Courier New" panose="02070309020205020404" pitchFamily="49" charset="0"/>
              </a:rPr>
              <a:t>  pthread_mutex_destroy(&amp;mutex1);</a:t>
            </a:r>
          </a:p>
          <a:p>
            <a:pPr marL="0" indent="0">
              <a:buFontTx/>
              <a:buNone/>
            </a:pPr>
            <a:r>
              <a:rPr lang="en-GB" sz="1600" b="1" kern="0">
                <a:latin typeface="Courier New" panose="02070309020205020404" pitchFamily="49" charset="0"/>
                <a:cs typeface="Courier New" panose="02070309020205020404" pitchFamily="49" charset="0"/>
              </a:rPr>
              <a:t>  pthread_mutex_destroy(&amp;mutex2);</a:t>
            </a:r>
          </a:p>
          <a:p>
            <a:pPr marL="0" indent="0">
              <a:buFontTx/>
              <a:buNone/>
            </a:pPr>
            <a:r>
              <a:rPr lang="en-GB" sz="1600" b="1" kern="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4016379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Avoiding deadlocks</a:t>
            </a:r>
          </a:p>
        </p:txBody>
      </p:sp>
      <p:sp>
        <p:nvSpPr>
          <p:cNvPr id="3" name="Content Placeholder 2"/>
          <p:cNvSpPr>
            <a:spLocks noGrp="1"/>
          </p:cNvSpPr>
          <p:nvPr>
            <p:ph idx="1"/>
          </p:nvPr>
        </p:nvSpPr>
        <p:spPr/>
        <p:txBody>
          <a:bodyPr/>
          <a:lstStyle/>
          <a:p>
            <a:r>
              <a:rPr lang="en-GB" sz="3600" dirty="0" err="1"/>
              <a:t>pthread_mutex_trylock</a:t>
            </a:r>
            <a:r>
              <a:rPr lang="en-GB" sz="3600" dirty="0"/>
              <a:t> (</a:t>
            </a:r>
            <a:r>
              <a:rPr lang="en-GB" sz="3600" dirty="0" err="1"/>
              <a:t>mutex</a:t>
            </a:r>
            <a:r>
              <a:rPr lang="en-GB" sz="3600" dirty="0"/>
              <a:t>) </a:t>
            </a:r>
          </a:p>
          <a:p>
            <a:pPr lvl="1"/>
            <a:r>
              <a:rPr lang="en-GB" sz="3200" dirty="0" err="1"/>
              <a:t>pthread_mutex_trylock</a:t>
            </a:r>
            <a:r>
              <a:rPr lang="en-GB" sz="3200" dirty="0"/>
              <a:t>() will attempt to lock a </a:t>
            </a:r>
            <a:r>
              <a:rPr lang="en-GB" sz="3200" dirty="0" err="1"/>
              <a:t>mutex</a:t>
            </a:r>
            <a:r>
              <a:rPr lang="en-GB" sz="3200" dirty="0"/>
              <a:t>. </a:t>
            </a:r>
          </a:p>
          <a:p>
            <a:pPr lvl="1"/>
            <a:r>
              <a:rPr lang="en-GB" sz="3200" dirty="0"/>
              <a:t>However, if the </a:t>
            </a:r>
            <a:r>
              <a:rPr lang="en-GB" sz="3200" dirty="0" err="1"/>
              <a:t>mutex</a:t>
            </a:r>
            <a:r>
              <a:rPr lang="en-GB" sz="3200" dirty="0"/>
              <a:t> is already locked, the routine will return immediately with a non-zero error code. </a:t>
            </a:r>
          </a:p>
          <a:p>
            <a:pPr lvl="1"/>
            <a:r>
              <a:rPr lang="en-GB" sz="3200" dirty="0"/>
              <a:t>This may be useful in preventing deadlock conditions</a:t>
            </a:r>
          </a:p>
        </p:txBody>
      </p:sp>
    </p:spTree>
    <p:extLst>
      <p:ext uri="{BB962C8B-B14F-4D97-AF65-F5344CB8AC3E}">
        <p14:creationId xmlns:p14="http://schemas.microsoft.com/office/powerpoint/2010/main" val="617846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87F27-6DAC-36D2-8CD8-4195B4F6D9E8}"/>
              </a:ext>
            </a:extLst>
          </p:cNvPr>
          <p:cNvSpPr>
            <a:spLocks noGrp="1"/>
          </p:cNvSpPr>
          <p:nvPr>
            <p:ph type="title"/>
          </p:nvPr>
        </p:nvSpPr>
        <p:spPr/>
        <p:txBody>
          <a:bodyPr/>
          <a:lstStyle/>
          <a:p>
            <a:r>
              <a:rPr lang="en-GB"/>
              <a:t>Avoiding deadlocks</a:t>
            </a:r>
          </a:p>
        </p:txBody>
      </p:sp>
      <p:sp>
        <p:nvSpPr>
          <p:cNvPr id="3" name="Content Placeholder 2">
            <a:extLst>
              <a:ext uri="{FF2B5EF4-FFF2-40B4-BE49-F238E27FC236}">
                <a16:creationId xmlns:a16="http://schemas.microsoft.com/office/drawing/2014/main" id="{115B2436-97FC-CE37-D880-C959C1158D08}"/>
              </a:ext>
            </a:extLst>
          </p:cNvPr>
          <p:cNvSpPr>
            <a:spLocks noGrp="1"/>
          </p:cNvSpPr>
          <p:nvPr>
            <p:ph idx="1"/>
          </p:nvPr>
        </p:nvSpPr>
        <p:spPr>
          <a:xfrm>
            <a:off x="239350" y="1052737"/>
            <a:ext cx="5856650" cy="5616625"/>
          </a:xfrm>
        </p:spPr>
        <p:txBody>
          <a:bodyPr/>
          <a:lstStyle/>
          <a:p>
            <a:pPr marL="0" indent="0">
              <a:spcBef>
                <a:spcPts val="0"/>
              </a:spcBef>
              <a:buNone/>
            </a:pPr>
            <a:r>
              <a:rPr lang="en-GB" sz="1300" b="1">
                <a:latin typeface="Courier New" panose="02070309020205020404" pitchFamily="49" charset="0"/>
                <a:cs typeface="Courier New" panose="02070309020205020404" pitchFamily="49" charset="0"/>
              </a:rPr>
              <a:t>int counter=0;</a:t>
            </a:r>
          </a:p>
          <a:p>
            <a:pPr marL="0" indent="0">
              <a:spcBef>
                <a:spcPts val="0"/>
              </a:spcBef>
              <a:buNone/>
            </a:pPr>
            <a:r>
              <a:rPr lang="en-GB" sz="1300" b="1">
                <a:latin typeface="Courier New" panose="02070309020205020404" pitchFamily="49" charset="0"/>
                <a:cs typeface="Courier New" panose="02070309020205020404" pitchFamily="49" charset="0"/>
              </a:rPr>
              <a:t>pthread_mutex_t mutex1, mutex2;</a:t>
            </a:r>
          </a:p>
          <a:p>
            <a:pPr marL="0" indent="0">
              <a:spcBef>
                <a:spcPts val="0"/>
              </a:spcBef>
              <a:buNone/>
            </a:pPr>
            <a:r>
              <a:rPr lang="en-GB" sz="1300" b="1">
                <a:latin typeface="Courier New" panose="02070309020205020404" pitchFamily="49" charset="0"/>
                <a:cs typeface="Courier New" panose="02070309020205020404" pitchFamily="49" charset="0"/>
              </a:rPr>
              <a:t>void *threadOne(void *p)</a:t>
            </a:r>
          </a:p>
          <a:p>
            <a:pPr marL="0" indent="0">
              <a:spcBef>
                <a:spcPts val="0"/>
              </a:spcBef>
              <a:buNone/>
            </a:pPr>
            <a:r>
              <a:rPr lang="en-GB" sz="1300" b="1">
                <a:latin typeface="Courier New" panose="02070309020205020404" pitchFamily="49" charset="0"/>
                <a:cs typeface="Courier New" panose="02070309020205020404" pitchFamily="49" charset="0"/>
              </a:rPr>
              <a:t>{</a:t>
            </a:r>
          </a:p>
          <a:p>
            <a:pPr marL="0" indent="0">
              <a:spcBef>
                <a:spcPts val="0"/>
              </a:spcBef>
              <a:buNone/>
            </a:pPr>
            <a:r>
              <a:rPr lang="en-GB" sz="1300" b="1">
                <a:latin typeface="Courier New" panose="02070309020205020404" pitchFamily="49" charset="0"/>
                <a:cs typeface="Courier New" panose="02070309020205020404" pitchFamily="49" charset="0"/>
              </a:rPr>
              <a:t>  for(int i=0; i&lt;100; i++){</a:t>
            </a:r>
          </a:p>
          <a:p>
            <a:pPr marL="0" indent="0">
              <a:spcBef>
                <a:spcPts val="0"/>
              </a:spcBef>
              <a:buNone/>
            </a:pPr>
            <a:r>
              <a:rPr lang="en-GB" sz="1300" b="1">
                <a:latin typeface="Courier New" panose="02070309020205020404" pitchFamily="49" charset="0"/>
                <a:cs typeface="Courier New" panose="02070309020205020404" pitchFamily="49" charset="0"/>
              </a:rPr>
              <a:t>    pthread_mutex_lock(&amp;mutex1);</a:t>
            </a:r>
          </a:p>
          <a:p>
            <a:pPr marL="0" indent="0">
              <a:spcBef>
                <a:spcPts val="0"/>
              </a:spcBef>
              <a:buNone/>
            </a:pPr>
            <a:r>
              <a:rPr lang="en-GB" sz="1300" b="1">
                <a:latin typeface="Courier New" panose="02070309020205020404" pitchFamily="49" charset="0"/>
                <a:cs typeface="Courier New" panose="02070309020205020404" pitchFamily="49" charset="0"/>
              </a:rPr>
              <a:t>    </a:t>
            </a:r>
            <a:r>
              <a:rPr lang="en-GB" sz="1300" b="1">
                <a:highlight>
                  <a:srgbClr val="FFFF00"/>
                </a:highlight>
                <a:latin typeface="Courier New" panose="02070309020205020404" pitchFamily="49" charset="0"/>
                <a:cs typeface="Courier New" panose="02070309020205020404" pitchFamily="49" charset="0"/>
              </a:rPr>
              <a:t>if(pthread_mutex_trylock(&amp;mutex2) != 0)</a:t>
            </a:r>
            <a:r>
              <a:rPr lang="en-GB" sz="1300" b="1">
                <a:latin typeface="Courier New" panose="02070309020205020404" pitchFamily="49" charset="0"/>
                <a:cs typeface="Courier New" panose="02070309020205020404" pitchFamily="49" charset="0"/>
              </a:rPr>
              <a:t>{</a:t>
            </a:r>
          </a:p>
          <a:p>
            <a:pPr marL="0" indent="0">
              <a:spcBef>
                <a:spcPts val="0"/>
              </a:spcBef>
              <a:buNone/>
            </a:pPr>
            <a:r>
              <a:rPr lang="en-GB" sz="1300" b="1">
                <a:latin typeface="Courier New" panose="02070309020205020404" pitchFamily="49" charset="0"/>
                <a:cs typeface="Courier New" panose="02070309020205020404" pitchFamily="49" charset="0"/>
              </a:rPr>
              <a:t>      return NULL;</a:t>
            </a:r>
          </a:p>
          <a:p>
            <a:pPr marL="0" indent="0">
              <a:spcBef>
                <a:spcPts val="0"/>
              </a:spcBef>
              <a:buNone/>
            </a:pPr>
            <a:r>
              <a:rPr lang="en-GB" sz="1300" b="1">
                <a:latin typeface="Courier New" panose="02070309020205020404" pitchFamily="49" charset="0"/>
                <a:cs typeface="Courier New" panose="02070309020205020404" pitchFamily="49" charset="0"/>
              </a:rPr>
              <a:t>    }</a:t>
            </a:r>
          </a:p>
          <a:p>
            <a:pPr marL="0" indent="0">
              <a:spcBef>
                <a:spcPts val="0"/>
              </a:spcBef>
              <a:buNone/>
            </a:pPr>
            <a:r>
              <a:rPr lang="en-GB" sz="1300" b="1">
                <a:latin typeface="Courier New" panose="02070309020205020404" pitchFamily="49" charset="0"/>
                <a:cs typeface="Courier New" panose="02070309020205020404" pitchFamily="49" charset="0"/>
              </a:rPr>
              <a:t>    counter = doSomething();</a:t>
            </a:r>
          </a:p>
          <a:p>
            <a:pPr marL="0" indent="0">
              <a:spcBef>
                <a:spcPts val="0"/>
              </a:spcBef>
              <a:buNone/>
            </a:pPr>
            <a:r>
              <a:rPr lang="en-GB" sz="1300" b="1">
                <a:latin typeface="Courier New" panose="02070309020205020404" pitchFamily="49" charset="0"/>
                <a:cs typeface="Courier New" panose="02070309020205020404" pitchFamily="49" charset="0"/>
              </a:rPr>
              <a:t>    pthread_mutex_unlock(&amp;mutex2);</a:t>
            </a:r>
          </a:p>
          <a:p>
            <a:pPr marL="0" indent="0">
              <a:spcBef>
                <a:spcPts val="0"/>
              </a:spcBef>
              <a:buNone/>
            </a:pPr>
            <a:r>
              <a:rPr lang="en-GB" sz="1300" b="1">
                <a:latin typeface="Courier New" panose="02070309020205020404" pitchFamily="49" charset="0"/>
                <a:cs typeface="Courier New" panose="02070309020205020404" pitchFamily="49" charset="0"/>
              </a:rPr>
              <a:t>    pthread_mutex_unlock(&amp;mutex1);</a:t>
            </a:r>
          </a:p>
          <a:p>
            <a:pPr marL="0" indent="0">
              <a:spcBef>
                <a:spcPts val="0"/>
              </a:spcBef>
              <a:buNone/>
            </a:pPr>
            <a:r>
              <a:rPr lang="en-GB" sz="1300" b="1">
                <a:latin typeface="Courier New" panose="02070309020205020404" pitchFamily="49" charset="0"/>
                <a:cs typeface="Courier New" panose="02070309020205020404" pitchFamily="49" charset="0"/>
              </a:rPr>
              <a:t>  }</a:t>
            </a:r>
          </a:p>
          <a:p>
            <a:pPr marL="0" indent="0">
              <a:spcBef>
                <a:spcPts val="0"/>
              </a:spcBef>
              <a:buNone/>
            </a:pPr>
            <a:r>
              <a:rPr lang="en-GB" sz="1300" b="1">
                <a:latin typeface="Courier New" panose="02070309020205020404" pitchFamily="49" charset="0"/>
                <a:cs typeface="Courier New" panose="02070309020205020404" pitchFamily="49" charset="0"/>
              </a:rPr>
              <a:t>  return NULL;</a:t>
            </a:r>
          </a:p>
          <a:p>
            <a:pPr marL="0" indent="0">
              <a:spcBef>
                <a:spcPts val="0"/>
              </a:spcBef>
              <a:buNone/>
            </a:pPr>
            <a:r>
              <a:rPr lang="en-GB" sz="1300" b="1">
                <a:latin typeface="Courier New" panose="02070309020205020404" pitchFamily="49" charset="0"/>
                <a:cs typeface="Courier New" panose="02070309020205020404" pitchFamily="49" charset="0"/>
              </a:rPr>
              <a:t>}</a:t>
            </a:r>
          </a:p>
          <a:p>
            <a:pPr marL="0" indent="0">
              <a:spcBef>
                <a:spcPts val="0"/>
              </a:spcBef>
              <a:buNone/>
            </a:pPr>
            <a:r>
              <a:rPr lang="en-GB" sz="1300" b="1">
                <a:latin typeface="Courier New" panose="02070309020205020404" pitchFamily="49" charset="0"/>
                <a:cs typeface="Courier New" panose="02070309020205020404" pitchFamily="49" charset="0"/>
              </a:rPr>
              <a:t>void *threadTwo(void *p)</a:t>
            </a:r>
          </a:p>
          <a:p>
            <a:pPr marL="0" indent="0">
              <a:spcBef>
                <a:spcPts val="0"/>
              </a:spcBef>
              <a:buNone/>
            </a:pPr>
            <a:r>
              <a:rPr lang="en-GB" sz="1300" b="1">
                <a:latin typeface="Courier New" panose="02070309020205020404" pitchFamily="49" charset="0"/>
                <a:cs typeface="Courier New" panose="02070309020205020404" pitchFamily="49" charset="0"/>
              </a:rPr>
              <a:t>{</a:t>
            </a:r>
          </a:p>
          <a:p>
            <a:pPr marL="0" indent="0">
              <a:spcBef>
                <a:spcPts val="0"/>
              </a:spcBef>
              <a:buNone/>
            </a:pPr>
            <a:r>
              <a:rPr lang="en-GB" sz="1300" b="1">
                <a:latin typeface="Courier New" panose="02070309020205020404" pitchFamily="49" charset="0"/>
                <a:cs typeface="Courier New" panose="02070309020205020404" pitchFamily="49" charset="0"/>
              </a:rPr>
              <a:t>  for(int i=0; i&lt;100; i++){</a:t>
            </a:r>
          </a:p>
          <a:p>
            <a:pPr marL="0" indent="0">
              <a:spcBef>
                <a:spcPts val="0"/>
              </a:spcBef>
              <a:buNone/>
            </a:pPr>
            <a:r>
              <a:rPr lang="en-GB" sz="1300" b="1">
                <a:latin typeface="Courier New" panose="02070309020205020404" pitchFamily="49" charset="0"/>
                <a:cs typeface="Courier New" panose="02070309020205020404" pitchFamily="49" charset="0"/>
              </a:rPr>
              <a:t>    pthread_mutex_lock(&amp;mutex2);</a:t>
            </a:r>
          </a:p>
          <a:p>
            <a:pPr marL="0" indent="0">
              <a:spcBef>
                <a:spcPts val="0"/>
              </a:spcBef>
              <a:buNone/>
            </a:pPr>
            <a:r>
              <a:rPr lang="en-GB" sz="1300" b="1">
                <a:latin typeface="Courier New" panose="02070309020205020404" pitchFamily="49" charset="0"/>
                <a:cs typeface="Courier New" panose="02070309020205020404" pitchFamily="49" charset="0"/>
              </a:rPr>
              <a:t>    </a:t>
            </a:r>
            <a:r>
              <a:rPr lang="en-GB" sz="1300" b="1">
                <a:highlight>
                  <a:srgbClr val="FFFF00"/>
                </a:highlight>
                <a:latin typeface="Courier New" panose="02070309020205020404" pitchFamily="49" charset="0"/>
                <a:cs typeface="Courier New" panose="02070309020205020404" pitchFamily="49" charset="0"/>
              </a:rPr>
              <a:t>if(pthread_mutex_trylock(&amp;mutex1) != 0)</a:t>
            </a:r>
            <a:r>
              <a:rPr lang="en-GB" sz="1300" b="1">
                <a:latin typeface="Courier New" panose="02070309020205020404" pitchFamily="49" charset="0"/>
                <a:cs typeface="Courier New" panose="02070309020205020404" pitchFamily="49" charset="0"/>
              </a:rPr>
              <a:t>{</a:t>
            </a:r>
          </a:p>
          <a:p>
            <a:pPr marL="0" indent="0">
              <a:spcBef>
                <a:spcPts val="0"/>
              </a:spcBef>
              <a:buNone/>
            </a:pPr>
            <a:r>
              <a:rPr lang="en-GB" sz="1300" b="1">
                <a:latin typeface="Courier New" panose="02070309020205020404" pitchFamily="49" charset="0"/>
                <a:cs typeface="Courier New" panose="02070309020205020404" pitchFamily="49" charset="0"/>
              </a:rPr>
              <a:t>      return NULL;</a:t>
            </a:r>
          </a:p>
          <a:p>
            <a:pPr marL="0" indent="0">
              <a:spcBef>
                <a:spcPts val="0"/>
              </a:spcBef>
              <a:buNone/>
            </a:pPr>
            <a:r>
              <a:rPr lang="en-GB" sz="1300" b="1">
                <a:latin typeface="Courier New" panose="02070309020205020404" pitchFamily="49" charset="0"/>
                <a:cs typeface="Courier New" panose="02070309020205020404" pitchFamily="49" charset="0"/>
              </a:rPr>
              <a:t>    }</a:t>
            </a:r>
          </a:p>
          <a:p>
            <a:pPr marL="0" indent="0">
              <a:spcBef>
                <a:spcPts val="0"/>
              </a:spcBef>
              <a:buNone/>
            </a:pPr>
            <a:r>
              <a:rPr lang="en-GB" sz="1300" b="1">
                <a:latin typeface="Courier New" panose="02070309020205020404" pitchFamily="49" charset="0"/>
                <a:cs typeface="Courier New" panose="02070309020205020404" pitchFamily="49" charset="0"/>
              </a:rPr>
              <a:t>    counter = doSomething();</a:t>
            </a:r>
          </a:p>
          <a:p>
            <a:pPr marL="0" indent="0">
              <a:spcBef>
                <a:spcPts val="0"/>
              </a:spcBef>
              <a:buNone/>
            </a:pPr>
            <a:r>
              <a:rPr lang="en-GB" sz="1300" b="1">
                <a:latin typeface="Courier New" panose="02070309020205020404" pitchFamily="49" charset="0"/>
                <a:cs typeface="Courier New" panose="02070309020205020404" pitchFamily="49" charset="0"/>
              </a:rPr>
              <a:t>    pthread_mutex_unlock(&amp;mutex1);</a:t>
            </a:r>
          </a:p>
          <a:p>
            <a:pPr marL="0" indent="0">
              <a:spcBef>
                <a:spcPts val="0"/>
              </a:spcBef>
              <a:buNone/>
            </a:pPr>
            <a:r>
              <a:rPr lang="en-GB" sz="1300" b="1">
                <a:latin typeface="Courier New" panose="02070309020205020404" pitchFamily="49" charset="0"/>
                <a:cs typeface="Courier New" panose="02070309020205020404" pitchFamily="49" charset="0"/>
              </a:rPr>
              <a:t>    pthread_mutex_unlock(&amp;mutex2);</a:t>
            </a:r>
          </a:p>
          <a:p>
            <a:pPr marL="0" indent="0">
              <a:spcBef>
                <a:spcPts val="0"/>
              </a:spcBef>
              <a:buNone/>
            </a:pPr>
            <a:r>
              <a:rPr lang="en-GB" sz="1300" b="1">
                <a:latin typeface="Courier New" panose="02070309020205020404" pitchFamily="49" charset="0"/>
                <a:cs typeface="Courier New" panose="02070309020205020404" pitchFamily="49" charset="0"/>
              </a:rPr>
              <a:t>  }</a:t>
            </a:r>
          </a:p>
          <a:p>
            <a:pPr marL="0" indent="0">
              <a:spcBef>
                <a:spcPts val="0"/>
              </a:spcBef>
              <a:buNone/>
            </a:pPr>
            <a:r>
              <a:rPr lang="en-GB" sz="1300" b="1">
                <a:latin typeface="Courier New" panose="02070309020205020404" pitchFamily="49" charset="0"/>
                <a:cs typeface="Courier New" panose="02070309020205020404" pitchFamily="49" charset="0"/>
              </a:rPr>
              <a:t>  return NULL;</a:t>
            </a:r>
          </a:p>
          <a:p>
            <a:pPr marL="0" indent="0">
              <a:spcBef>
                <a:spcPts val="0"/>
              </a:spcBef>
              <a:buNone/>
            </a:pPr>
            <a:r>
              <a:rPr lang="en-GB" sz="1300" b="1">
                <a:latin typeface="Courier New" panose="02070309020205020404" pitchFamily="49" charset="0"/>
                <a:cs typeface="Courier New" panose="02070309020205020404" pitchFamily="49" charset="0"/>
              </a:rPr>
              <a:t>}</a:t>
            </a:r>
          </a:p>
        </p:txBody>
      </p:sp>
      <p:sp>
        <p:nvSpPr>
          <p:cNvPr id="4" name="Content Placeholder 2">
            <a:extLst>
              <a:ext uri="{FF2B5EF4-FFF2-40B4-BE49-F238E27FC236}">
                <a16:creationId xmlns:a16="http://schemas.microsoft.com/office/drawing/2014/main" id="{10A034A5-A98A-850A-D638-993984789553}"/>
              </a:ext>
            </a:extLst>
          </p:cNvPr>
          <p:cNvSpPr txBox="1">
            <a:spLocks/>
          </p:cNvSpPr>
          <p:nvPr/>
        </p:nvSpPr>
        <p:spPr bwMode="auto">
          <a:xfrm>
            <a:off x="6456040" y="1052736"/>
            <a:ext cx="5472608" cy="561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884" indent="-342884" algn="l" rtl="0" eaLnBrk="1" fontAlgn="base" hangingPunct="1">
              <a:spcBef>
                <a:spcPct val="20000"/>
              </a:spcBef>
              <a:spcAft>
                <a:spcPct val="0"/>
              </a:spcAft>
              <a:buChar char="•"/>
              <a:defRPr sz="3200">
                <a:solidFill>
                  <a:schemeClr val="tx1"/>
                </a:solidFill>
                <a:latin typeface="+mn-lt"/>
                <a:ea typeface="+mn-ea"/>
                <a:cs typeface="+mn-cs"/>
              </a:defRPr>
            </a:lvl1pPr>
            <a:lvl2pPr marL="742913" indent="-285736" algn="l" rtl="0" eaLnBrk="1" fontAlgn="base" hangingPunct="1">
              <a:spcBef>
                <a:spcPct val="20000"/>
              </a:spcBef>
              <a:spcAft>
                <a:spcPct val="0"/>
              </a:spcAft>
              <a:buChar char="–"/>
              <a:defRPr sz="2800">
                <a:solidFill>
                  <a:schemeClr val="tx1"/>
                </a:solidFill>
                <a:latin typeface="+mn-lt"/>
              </a:defRPr>
            </a:lvl2pPr>
            <a:lvl3pPr marL="1142944" indent="-228588" algn="l" rtl="0" eaLnBrk="1" fontAlgn="base" hangingPunct="1">
              <a:spcBef>
                <a:spcPct val="20000"/>
              </a:spcBef>
              <a:spcAft>
                <a:spcPct val="0"/>
              </a:spcAft>
              <a:buChar char="•"/>
              <a:defRPr sz="2400">
                <a:solidFill>
                  <a:schemeClr val="tx1"/>
                </a:solidFill>
                <a:latin typeface="+mn-lt"/>
              </a:defRPr>
            </a:lvl3pPr>
            <a:lvl4pPr marL="1600120" indent="-228588" algn="l" rtl="0" eaLnBrk="1" fontAlgn="base" hangingPunct="1">
              <a:spcBef>
                <a:spcPct val="20000"/>
              </a:spcBef>
              <a:spcAft>
                <a:spcPct val="0"/>
              </a:spcAft>
              <a:buChar char="–"/>
              <a:defRPr sz="2000">
                <a:solidFill>
                  <a:schemeClr val="tx1"/>
                </a:solidFill>
                <a:latin typeface="+mn-lt"/>
              </a:defRPr>
            </a:lvl4pPr>
            <a:lvl5pPr marL="2057297" indent="-228588" algn="l" rtl="0" eaLnBrk="1" fontAlgn="base" hangingPunct="1">
              <a:spcBef>
                <a:spcPct val="20000"/>
              </a:spcBef>
              <a:spcAft>
                <a:spcPct val="0"/>
              </a:spcAft>
              <a:buChar char="»"/>
              <a:defRPr sz="2000">
                <a:solidFill>
                  <a:schemeClr val="tx1"/>
                </a:solidFill>
                <a:latin typeface="+mn-lt"/>
              </a:defRPr>
            </a:lvl5pPr>
            <a:lvl6pPr marL="2514474" indent="-228588" algn="l" rtl="0" eaLnBrk="1" fontAlgn="base" hangingPunct="1">
              <a:spcBef>
                <a:spcPct val="20000"/>
              </a:spcBef>
              <a:spcAft>
                <a:spcPct val="0"/>
              </a:spcAft>
              <a:buChar char="»"/>
              <a:defRPr sz="2000">
                <a:solidFill>
                  <a:schemeClr val="tx1"/>
                </a:solidFill>
                <a:latin typeface="+mn-lt"/>
              </a:defRPr>
            </a:lvl6pPr>
            <a:lvl7pPr marL="2971652" indent="-228588" algn="l" rtl="0" eaLnBrk="1" fontAlgn="base" hangingPunct="1">
              <a:spcBef>
                <a:spcPct val="20000"/>
              </a:spcBef>
              <a:spcAft>
                <a:spcPct val="0"/>
              </a:spcAft>
              <a:buChar char="»"/>
              <a:defRPr sz="2000">
                <a:solidFill>
                  <a:schemeClr val="tx1"/>
                </a:solidFill>
                <a:latin typeface="+mn-lt"/>
              </a:defRPr>
            </a:lvl7pPr>
            <a:lvl8pPr marL="3428829" indent="-228588" algn="l" rtl="0" eaLnBrk="1" fontAlgn="base" hangingPunct="1">
              <a:spcBef>
                <a:spcPct val="20000"/>
              </a:spcBef>
              <a:spcAft>
                <a:spcPct val="0"/>
              </a:spcAft>
              <a:buChar char="»"/>
              <a:defRPr sz="2000">
                <a:solidFill>
                  <a:schemeClr val="tx1"/>
                </a:solidFill>
                <a:latin typeface="+mn-lt"/>
              </a:defRPr>
            </a:lvl8pPr>
            <a:lvl9pPr marL="3886006" indent="-228588" algn="l" rtl="0" eaLnBrk="1" fontAlgn="base" hangingPunct="1">
              <a:spcBef>
                <a:spcPct val="20000"/>
              </a:spcBef>
              <a:spcAft>
                <a:spcPct val="0"/>
              </a:spcAft>
              <a:buChar char="»"/>
              <a:defRPr sz="2000">
                <a:solidFill>
                  <a:schemeClr val="tx1"/>
                </a:solidFill>
                <a:latin typeface="+mn-lt"/>
              </a:defRPr>
            </a:lvl9pPr>
          </a:lstStyle>
          <a:p>
            <a:pPr marL="0" indent="0">
              <a:buFontTx/>
              <a:buNone/>
            </a:pPr>
            <a:r>
              <a:rPr lang="en-GB" sz="1300" b="1" kern="0">
                <a:latin typeface="Courier New" panose="02070309020205020404" pitchFamily="49" charset="0"/>
                <a:cs typeface="Courier New" panose="02070309020205020404" pitchFamily="49" charset="0"/>
              </a:rPr>
              <a:t>void main()</a:t>
            </a:r>
          </a:p>
          <a:p>
            <a:pPr marL="0" indent="0">
              <a:buFontTx/>
              <a:buNone/>
            </a:pPr>
            <a:r>
              <a:rPr lang="en-GB" sz="1300" b="1" kern="0">
                <a:latin typeface="Courier New" panose="02070309020205020404" pitchFamily="49" charset="0"/>
                <a:cs typeface="Courier New" panose="02070309020205020404" pitchFamily="49" charset="0"/>
              </a:rPr>
              <a:t>{</a:t>
            </a:r>
          </a:p>
          <a:p>
            <a:pPr marL="0" indent="0">
              <a:buFontTx/>
              <a:buNone/>
            </a:pPr>
            <a:r>
              <a:rPr lang="en-GB" sz="1300" b="1" kern="0">
                <a:latin typeface="Courier New" panose="02070309020205020404" pitchFamily="49" charset="0"/>
                <a:cs typeface="Courier New" panose="02070309020205020404" pitchFamily="49" charset="0"/>
              </a:rPr>
              <a:t>  pthread_t thrID1, thrID2;</a:t>
            </a:r>
          </a:p>
          <a:p>
            <a:pPr marL="0" indent="0">
              <a:buFontTx/>
              <a:buNone/>
            </a:pPr>
            <a:r>
              <a:rPr lang="en-GB" sz="1300" b="1" kern="0">
                <a:latin typeface="Courier New" panose="02070309020205020404" pitchFamily="49" charset="0"/>
                <a:cs typeface="Courier New" panose="02070309020205020404" pitchFamily="49" charset="0"/>
              </a:rPr>
              <a:t>  </a:t>
            </a:r>
          </a:p>
          <a:p>
            <a:pPr marL="0" indent="0">
              <a:buFontTx/>
              <a:buNone/>
            </a:pPr>
            <a:r>
              <a:rPr lang="en-GB" sz="1300" b="1" kern="0">
                <a:latin typeface="Courier New" panose="02070309020205020404" pitchFamily="49" charset="0"/>
                <a:cs typeface="Courier New" panose="02070309020205020404" pitchFamily="49" charset="0"/>
              </a:rPr>
              <a:t>  pthread_mutex_init(&amp;mutex1,NULL);</a:t>
            </a:r>
          </a:p>
          <a:p>
            <a:pPr marL="0" indent="0">
              <a:buFontTx/>
              <a:buNone/>
            </a:pPr>
            <a:r>
              <a:rPr lang="en-GB" sz="1300" b="1" kern="0">
                <a:latin typeface="Courier New" panose="02070309020205020404" pitchFamily="49" charset="0"/>
                <a:cs typeface="Courier New" panose="02070309020205020404" pitchFamily="49" charset="0"/>
              </a:rPr>
              <a:t>  pthread_mutex_init(&amp;mutex2,NULL);</a:t>
            </a:r>
          </a:p>
          <a:p>
            <a:pPr marL="0" indent="0">
              <a:buFontTx/>
              <a:buNone/>
            </a:pPr>
            <a:endParaRPr lang="en-GB" sz="1300" b="1" kern="0">
              <a:latin typeface="Courier New" panose="02070309020205020404" pitchFamily="49" charset="0"/>
              <a:cs typeface="Courier New" panose="02070309020205020404" pitchFamily="49" charset="0"/>
            </a:endParaRPr>
          </a:p>
          <a:p>
            <a:pPr marL="0" indent="0">
              <a:buFontTx/>
              <a:buNone/>
            </a:pPr>
            <a:r>
              <a:rPr lang="en-GB" sz="1300" b="1" kern="0">
                <a:latin typeface="Courier New" panose="02070309020205020404" pitchFamily="49" charset="0"/>
                <a:cs typeface="Courier New" panose="02070309020205020404" pitchFamily="49" charset="0"/>
              </a:rPr>
              <a:t>  pthread_create(&amp;thrID1, NULL, threadOne, NULL);</a:t>
            </a:r>
          </a:p>
          <a:p>
            <a:pPr marL="0" indent="0">
              <a:buFontTx/>
              <a:buNone/>
            </a:pPr>
            <a:r>
              <a:rPr lang="en-GB" sz="1300" b="1" kern="0">
                <a:latin typeface="Courier New" panose="02070309020205020404" pitchFamily="49" charset="0"/>
                <a:cs typeface="Courier New" panose="02070309020205020404" pitchFamily="49" charset="0"/>
              </a:rPr>
              <a:t>  pthread_create(&amp;thrID2, NULL, threadTwo, NULL);</a:t>
            </a:r>
          </a:p>
          <a:p>
            <a:pPr marL="0" indent="0">
              <a:buFontTx/>
              <a:buNone/>
            </a:pPr>
            <a:r>
              <a:rPr lang="en-GB" sz="1300" b="1" kern="0">
                <a:latin typeface="Courier New" panose="02070309020205020404" pitchFamily="49" charset="0"/>
                <a:cs typeface="Courier New" panose="02070309020205020404" pitchFamily="49" charset="0"/>
              </a:rPr>
              <a:t>  pthread_join(thrID1, NULL);</a:t>
            </a:r>
          </a:p>
          <a:p>
            <a:pPr marL="0" indent="0">
              <a:buFontTx/>
              <a:buNone/>
            </a:pPr>
            <a:r>
              <a:rPr lang="en-GB" sz="1300" b="1" kern="0">
                <a:latin typeface="Courier New" panose="02070309020205020404" pitchFamily="49" charset="0"/>
                <a:cs typeface="Courier New" panose="02070309020205020404" pitchFamily="49" charset="0"/>
              </a:rPr>
              <a:t>  pthread_join(thrID2, NULL);</a:t>
            </a:r>
          </a:p>
          <a:p>
            <a:pPr marL="0" indent="0">
              <a:buFontTx/>
              <a:buNone/>
            </a:pPr>
            <a:r>
              <a:rPr lang="en-GB" sz="1300" b="1" kern="0">
                <a:latin typeface="Courier New" panose="02070309020205020404" pitchFamily="49" charset="0"/>
                <a:cs typeface="Courier New" panose="02070309020205020404" pitchFamily="49" charset="0"/>
              </a:rPr>
              <a:t>  printf("Final counter = %d\n", counter);</a:t>
            </a:r>
          </a:p>
          <a:p>
            <a:pPr marL="0" indent="0">
              <a:buFontTx/>
              <a:buNone/>
            </a:pPr>
            <a:r>
              <a:rPr lang="en-GB" sz="1300" b="1" kern="0">
                <a:latin typeface="Courier New" panose="02070309020205020404" pitchFamily="49" charset="0"/>
                <a:cs typeface="Courier New" panose="02070309020205020404" pitchFamily="49" charset="0"/>
              </a:rPr>
              <a:t>  pthread_mutex_destroy(&amp;mutex1);</a:t>
            </a:r>
          </a:p>
          <a:p>
            <a:pPr marL="0" indent="0">
              <a:buFontTx/>
              <a:buNone/>
            </a:pPr>
            <a:r>
              <a:rPr lang="en-GB" sz="1300" b="1" kern="0">
                <a:latin typeface="Courier New" panose="02070309020205020404" pitchFamily="49" charset="0"/>
                <a:cs typeface="Courier New" panose="02070309020205020404" pitchFamily="49" charset="0"/>
              </a:rPr>
              <a:t>  pthread_mutex_destroy(&amp;mutex2);</a:t>
            </a:r>
          </a:p>
          <a:p>
            <a:pPr marL="0" indent="0">
              <a:buFontTx/>
              <a:buNone/>
            </a:pPr>
            <a:r>
              <a:rPr lang="en-GB" sz="1300" b="1" kern="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550484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Semaphores</a:t>
            </a:r>
          </a:p>
        </p:txBody>
      </p:sp>
      <p:sp>
        <p:nvSpPr>
          <p:cNvPr id="3" name="Content Placeholder 2"/>
          <p:cNvSpPr>
            <a:spLocks noGrp="1"/>
          </p:cNvSpPr>
          <p:nvPr>
            <p:ph idx="1"/>
          </p:nvPr>
        </p:nvSpPr>
        <p:spPr/>
        <p:txBody>
          <a:bodyPr/>
          <a:lstStyle/>
          <a:p>
            <a:r>
              <a:rPr lang="en-GB" dirty="0"/>
              <a:t>Mutexes allow only one thread to enter a critical section at a time. </a:t>
            </a:r>
          </a:p>
          <a:p>
            <a:r>
              <a:rPr lang="en-GB" dirty="0"/>
              <a:t>This can have a significant performance impact when there are lots of threads</a:t>
            </a:r>
          </a:p>
          <a:p>
            <a:r>
              <a:rPr lang="en-GB" b="1" dirty="0"/>
              <a:t>Semaphores</a:t>
            </a:r>
            <a:r>
              <a:rPr lang="en-GB" dirty="0"/>
              <a:t> are an alternative method of synchronizing multiple threads</a:t>
            </a:r>
          </a:p>
          <a:p>
            <a:r>
              <a:rPr lang="en-GB" dirty="0"/>
              <a:t>This can allow multiple threads to access a "pool" of resources at the same time without interfering with each other.</a:t>
            </a:r>
          </a:p>
        </p:txBody>
      </p:sp>
    </p:spTree>
    <p:extLst>
      <p:ext uri="{BB962C8B-B14F-4D97-AF65-F5344CB8AC3E}">
        <p14:creationId xmlns:p14="http://schemas.microsoft.com/office/powerpoint/2010/main" val="35635602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Semaphore functions</a:t>
            </a:r>
          </a:p>
        </p:txBody>
      </p:sp>
      <p:sp>
        <p:nvSpPr>
          <p:cNvPr id="3" name="Content Placeholder 2"/>
          <p:cNvSpPr>
            <a:spLocks noGrp="1"/>
          </p:cNvSpPr>
          <p:nvPr>
            <p:ph idx="1"/>
          </p:nvPr>
        </p:nvSpPr>
        <p:spPr/>
        <p:txBody>
          <a:bodyPr>
            <a:normAutofit fontScale="85000" lnSpcReduction="10000"/>
          </a:bodyPr>
          <a:lstStyle/>
          <a:p>
            <a:r>
              <a:rPr lang="en-GB" dirty="0" err="1"/>
              <a:t>int</a:t>
            </a:r>
            <a:r>
              <a:rPr lang="en-GB" dirty="0"/>
              <a:t> </a:t>
            </a:r>
            <a:r>
              <a:rPr lang="en-GB" dirty="0" err="1"/>
              <a:t>sem_init</a:t>
            </a:r>
            <a:r>
              <a:rPr lang="en-GB" dirty="0"/>
              <a:t> (</a:t>
            </a:r>
            <a:r>
              <a:rPr lang="en-GB" dirty="0" err="1"/>
              <a:t>sem_t</a:t>
            </a:r>
            <a:r>
              <a:rPr lang="en-GB" dirty="0"/>
              <a:t> *</a:t>
            </a:r>
            <a:r>
              <a:rPr lang="en-GB" dirty="0" err="1"/>
              <a:t>sem</a:t>
            </a:r>
            <a:r>
              <a:rPr lang="en-GB" dirty="0"/>
              <a:t>, </a:t>
            </a:r>
            <a:r>
              <a:rPr lang="en-GB" dirty="0" err="1"/>
              <a:t>int</a:t>
            </a:r>
            <a:r>
              <a:rPr lang="en-GB" dirty="0"/>
              <a:t> </a:t>
            </a:r>
            <a:r>
              <a:rPr lang="en-GB" dirty="0" err="1"/>
              <a:t>pshared</a:t>
            </a:r>
            <a:r>
              <a:rPr lang="en-GB" dirty="0"/>
              <a:t>, unsigned </a:t>
            </a:r>
            <a:r>
              <a:rPr lang="en-GB" dirty="0" err="1"/>
              <a:t>int</a:t>
            </a:r>
            <a:r>
              <a:rPr lang="en-GB" dirty="0"/>
              <a:t> value) </a:t>
            </a:r>
          </a:p>
          <a:p>
            <a:pPr lvl="1"/>
            <a:r>
              <a:rPr lang="en-GB" dirty="0" err="1"/>
              <a:t>sem_init</a:t>
            </a:r>
            <a:r>
              <a:rPr lang="en-GB" dirty="0"/>
              <a:t> initializes the semaphore. The </a:t>
            </a:r>
            <a:r>
              <a:rPr lang="en-GB" dirty="0" err="1"/>
              <a:t>pshared</a:t>
            </a:r>
            <a:r>
              <a:rPr lang="en-GB" dirty="0"/>
              <a:t>  indicates whether the semaphore is local to the current process (0) or is to be shared between several processes (not zero)., The value is the initial count value of the semaphore.</a:t>
            </a:r>
          </a:p>
          <a:p>
            <a:r>
              <a:rPr lang="en-GB" dirty="0" err="1"/>
              <a:t>int</a:t>
            </a:r>
            <a:r>
              <a:rPr lang="en-GB" dirty="0"/>
              <a:t> </a:t>
            </a:r>
            <a:r>
              <a:rPr lang="en-GB" dirty="0" err="1"/>
              <a:t>sem_destroy</a:t>
            </a:r>
            <a:r>
              <a:rPr lang="en-GB" dirty="0"/>
              <a:t> (</a:t>
            </a:r>
            <a:r>
              <a:rPr lang="en-GB" dirty="0" err="1"/>
              <a:t>sem_t</a:t>
            </a:r>
            <a:r>
              <a:rPr lang="en-GB" dirty="0"/>
              <a:t> * </a:t>
            </a:r>
            <a:r>
              <a:rPr lang="en-GB" dirty="0" err="1"/>
              <a:t>sem</a:t>
            </a:r>
            <a:r>
              <a:rPr lang="en-GB" dirty="0"/>
              <a:t>) </a:t>
            </a:r>
          </a:p>
          <a:p>
            <a:pPr lvl="1"/>
            <a:r>
              <a:rPr lang="en-GB" dirty="0" err="1"/>
              <a:t>sem_destroy</a:t>
            </a:r>
            <a:r>
              <a:rPr lang="en-GB" dirty="0"/>
              <a:t> frees the resources </a:t>
            </a:r>
            <a:r>
              <a:rPr lang="en-GB" dirty="0" err="1"/>
              <a:t>hled</a:t>
            </a:r>
            <a:r>
              <a:rPr lang="en-GB" dirty="0"/>
              <a:t> by the </a:t>
            </a:r>
            <a:r>
              <a:rPr lang="en-GB"/>
              <a:t>semaphore.</a:t>
            </a:r>
            <a:endParaRPr lang="en-GB" dirty="0"/>
          </a:p>
          <a:p>
            <a:r>
              <a:rPr lang="en-GB" dirty="0" err="1"/>
              <a:t>int</a:t>
            </a:r>
            <a:r>
              <a:rPr lang="en-GB" dirty="0"/>
              <a:t> </a:t>
            </a:r>
            <a:r>
              <a:rPr lang="en-GB" dirty="0" err="1"/>
              <a:t>sem_wait</a:t>
            </a:r>
            <a:r>
              <a:rPr lang="en-GB" dirty="0"/>
              <a:t> (</a:t>
            </a:r>
            <a:r>
              <a:rPr lang="en-GB" dirty="0" err="1"/>
              <a:t>sem_t</a:t>
            </a:r>
            <a:r>
              <a:rPr lang="en-GB" dirty="0"/>
              <a:t> * </a:t>
            </a:r>
            <a:r>
              <a:rPr lang="en-GB" dirty="0" err="1"/>
              <a:t>sem</a:t>
            </a:r>
            <a:r>
              <a:rPr lang="en-GB" dirty="0"/>
              <a:t>)</a:t>
            </a:r>
          </a:p>
          <a:p>
            <a:pPr lvl="1"/>
            <a:r>
              <a:rPr lang="en-GB" dirty="0" err="1"/>
              <a:t>sem_wait</a:t>
            </a:r>
            <a:r>
              <a:rPr lang="en-GB" dirty="0"/>
              <a:t> suspends the calling thread until the semaphore pointed to by </a:t>
            </a:r>
            <a:r>
              <a:rPr lang="en-GB" dirty="0" err="1"/>
              <a:t>sem</a:t>
            </a:r>
            <a:r>
              <a:rPr lang="en-GB" dirty="0"/>
              <a:t> has non-zero count. It then  decreases the semaphore count.</a:t>
            </a:r>
          </a:p>
          <a:p>
            <a:r>
              <a:rPr lang="en-GB" dirty="0" err="1"/>
              <a:t>int</a:t>
            </a:r>
            <a:r>
              <a:rPr lang="en-GB" dirty="0"/>
              <a:t> </a:t>
            </a:r>
            <a:r>
              <a:rPr lang="en-GB" dirty="0" err="1"/>
              <a:t>sem_post</a:t>
            </a:r>
            <a:r>
              <a:rPr lang="en-GB" dirty="0"/>
              <a:t> (</a:t>
            </a:r>
            <a:r>
              <a:rPr lang="en-GB" dirty="0" err="1"/>
              <a:t>sem_t</a:t>
            </a:r>
            <a:r>
              <a:rPr lang="en-GB" dirty="0"/>
              <a:t> * </a:t>
            </a:r>
            <a:r>
              <a:rPr lang="en-GB" dirty="0" err="1"/>
              <a:t>sem</a:t>
            </a:r>
            <a:r>
              <a:rPr lang="en-GB" dirty="0"/>
              <a:t>) </a:t>
            </a:r>
          </a:p>
          <a:p>
            <a:pPr lvl="1"/>
            <a:r>
              <a:rPr lang="en-GB" dirty="0" err="1"/>
              <a:t>sem_post</a:t>
            </a:r>
            <a:r>
              <a:rPr lang="en-GB" dirty="0"/>
              <a:t> increases the count of the semaphore pointed to by sem. This function never </a:t>
            </a:r>
            <a:r>
              <a:rPr lang="en-GB"/>
              <a:t>blocks.</a:t>
            </a:r>
          </a:p>
          <a:p>
            <a:r>
              <a:rPr lang="en-GB"/>
              <a:t>int sem_getvalue (sem_t * sem, int* value) </a:t>
            </a:r>
          </a:p>
          <a:p>
            <a:pPr lvl="1"/>
            <a:r>
              <a:rPr lang="en-GB"/>
              <a:t>sem_getvalue get the current value of the semaphore and stores it in value.</a:t>
            </a:r>
          </a:p>
          <a:p>
            <a:pPr lvl="1"/>
            <a:endParaRPr lang="en-GB" dirty="0"/>
          </a:p>
        </p:txBody>
      </p:sp>
    </p:spTree>
    <p:extLst>
      <p:ext uri="{BB962C8B-B14F-4D97-AF65-F5344CB8AC3E}">
        <p14:creationId xmlns:p14="http://schemas.microsoft.com/office/powerpoint/2010/main" val="37003427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Simple Semaphore example</a:t>
            </a:r>
          </a:p>
        </p:txBody>
      </p:sp>
      <p:sp>
        <p:nvSpPr>
          <p:cNvPr id="3" name="Content Placeholder 2"/>
          <p:cNvSpPr>
            <a:spLocks noGrp="1"/>
          </p:cNvSpPr>
          <p:nvPr>
            <p:ph idx="1"/>
          </p:nvPr>
        </p:nvSpPr>
        <p:spPr/>
        <p:txBody>
          <a:bodyPr numCol="2">
            <a:normAutofit/>
          </a:bodyPr>
          <a:lstStyle/>
          <a:p>
            <a:pPr>
              <a:buNone/>
            </a:pPr>
            <a:r>
              <a:rPr lang="en-GB" sz="1200" b="1" dirty="0">
                <a:latin typeface="Courier New" pitchFamily="49" charset="0"/>
                <a:cs typeface="Courier New" pitchFamily="49" charset="0"/>
              </a:rPr>
              <a:t>#include &lt;</a:t>
            </a:r>
            <a:r>
              <a:rPr lang="en-GB" sz="1200" b="1" dirty="0" err="1">
                <a:latin typeface="Courier New" pitchFamily="49" charset="0"/>
                <a:cs typeface="Courier New" pitchFamily="49" charset="0"/>
              </a:rPr>
              <a:t>stdio.h</a:t>
            </a:r>
            <a:r>
              <a:rPr lang="en-GB" sz="1200" b="1" dirty="0">
                <a:latin typeface="Courier New" pitchFamily="49" charset="0"/>
                <a:cs typeface="Courier New" pitchFamily="49" charset="0"/>
              </a:rPr>
              <a:t>&gt;</a:t>
            </a:r>
          </a:p>
          <a:p>
            <a:pPr>
              <a:buNone/>
            </a:pPr>
            <a:r>
              <a:rPr lang="en-GB" sz="1200" b="1" dirty="0">
                <a:latin typeface="Courier New" pitchFamily="49" charset="0"/>
                <a:cs typeface="Courier New" pitchFamily="49" charset="0"/>
              </a:rPr>
              <a:t>#include &lt;</a:t>
            </a:r>
            <a:r>
              <a:rPr lang="en-GB" sz="1200" b="1" dirty="0" err="1">
                <a:latin typeface="Courier New" pitchFamily="49" charset="0"/>
                <a:cs typeface="Courier New" pitchFamily="49" charset="0"/>
              </a:rPr>
              <a:t>pthread.h</a:t>
            </a:r>
            <a:r>
              <a:rPr lang="en-GB" sz="1200" b="1" dirty="0">
                <a:latin typeface="Courier New" pitchFamily="49" charset="0"/>
                <a:cs typeface="Courier New" pitchFamily="49" charset="0"/>
              </a:rPr>
              <a:t>&gt;</a:t>
            </a:r>
          </a:p>
          <a:p>
            <a:pPr>
              <a:buNone/>
            </a:pPr>
            <a:r>
              <a:rPr lang="en-GB" sz="1200" b="1" dirty="0">
                <a:latin typeface="Courier New" pitchFamily="49" charset="0"/>
                <a:cs typeface="Courier New" pitchFamily="49" charset="0"/>
              </a:rPr>
              <a:t>#include &lt;</a:t>
            </a:r>
            <a:r>
              <a:rPr lang="en-GB" sz="1200" b="1" dirty="0" err="1">
                <a:latin typeface="Courier New" pitchFamily="49" charset="0"/>
                <a:cs typeface="Courier New" pitchFamily="49" charset="0"/>
              </a:rPr>
              <a:t>unistd.h</a:t>
            </a:r>
            <a:r>
              <a:rPr lang="en-GB" sz="1200" b="1" dirty="0">
                <a:latin typeface="Courier New" pitchFamily="49" charset="0"/>
                <a:cs typeface="Courier New" pitchFamily="49" charset="0"/>
              </a:rPr>
              <a:t>&gt;</a:t>
            </a:r>
          </a:p>
          <a:p>
            <a:pPr>
              <a:buNone/>
            </a:pPr>
            <a:r>
              <a:rPr lang="en-GB" sz="1200" b="1" dirty="0">
                <a:latin typeface="Courier New" pitchFamily="49" charset="0"/>
                <a:cs typeface="Courier New" pitchFamily="49" charset="0"/>
              </a:rPr>
              <a:t>#include &lt;</a:t>
            </a:r>
            <a:r>
              <a:rPr lang="en-GB" sz="1200" b="1" dirty="0" err="1">
                <a:latin typeface="Courier New" pitchFamily="49" charset="0"/>
                <a:cs typeface="Courier New" pitchFamily="49" charset="0"/>
              </a:rPr>
              <a:t>semaphore.h</a:t>
            </a:r>
            <a:r>
              <a:rPr lang="en-GB" sz="1200" b="1" dirty="0">
                <a:latin typeface="Courier New" pitchFamily="49" charset="0"/>
                <a:cs typeface="Courier New" pitchFamily="49" charset="0"/>
              </a:rPr>
              <a:t>&gt; </a:t>
            </a:r>
          </a:p>
          <a:p>
            <a:pPr>
              <a:buNone/>
            </a:pPr>
            <a:endParaRPr lang="en-GB" sz="1200" b="1" dirty="0">
              <a:latin typeface="Courier New" pitchFamily="49" charset="0"/>
              <a:cs typeface="Courier New" pitchFamily="49" charset="0"/>
            </a:endParaRPr>
          </a:p>
          <a:p>
            <a:pPr>
              <a:buNone/>
            </a:pPr>
            <a:r>
              <a:rPr lang="en-GB" sz="1200" b="1" dirty="0" err="1">
                <a:latin typeface="Courier New" pitchFamily="49" charset="0"/>
                <a:cs typeface="Courier New" pitchFamily="49" charset="0"/>
              </a:rPr>
              <a:t>sem_t</a:t>
            </a: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semaBooks</a:t>
            </a:r>
            <a:r>
              <a:rPr lang="en-GB" sz="1200" b="1" dirty="0">
                <a:latin typeface="Courier New" pitchFamily="49" charset="0"/>
                <a:cs typeface="Courier New" pitchFamily="49" charset="0"/>
              </a:rPr>
              <a:t>; </a:t>
            </a:r>
          </a:p>
          <a:p>
            <a:pPr>
              <a:buNone/>
            </a:pPr>
            <a:r>
              <a:rPr lang="en-GB" sz="1200" b="1" dirty="0">
                <a:latin typeface="Courier New" pitchFamily="49" charset="0"/>
                <a:cs typeface="Courier New" pitchFamily="49" charset="0"/>
              </a:rPr>
              <a:t>int </a:t>
            </a:r>
            <a:r>
              <a:rPr lang="en-GB" sz="1200" b="1" dirty="0" err="1">
                <a:latin typeface="Courier New" pitchFamily="49" charset="0"/>
                <a:cs typeface="Courier New" pitchFamily="49" charset="0"/>
              </a:rPr>
              <a:t>booksAvailable</a:t>
            </a:r>
            <a:r>
              <a:rPr lang="en-GB" sz="1200" b="1" dirty="0">
                <a:latin typeface="Courier New" pitchFamily="49" charset="0"/>
                <a:cs typeface="Courier New" pitchFamily="49" charset="0"/>
              </a:rPr>
              <a:t> = 3;</a:t>
            </a:r>
          </a:p>
          <a:p>
            <a:pPr>
              <a:buNone/>
            </a:pPr>
            <a:endParaRPr lang="en-GB" sz="1200" b="1" dirty="0">
              <a:latin typeface="Courier New" pitchFamily="49" charset="0"/>
              <a:cs typeface="Courier New" pitchFamily="49" charset="0"/>
            </a:endParaRPr>
          </a:p>
          <a:p>
            <a:pPr>
              <a:buNone/>
            </a:pPr>
            <a:r>
              <a:rPr lang="en-GB" sz="1200" b="1" dirty="0">
                <a:latin typeface="Courier New" pitchFamily="49" charset="0"/>
                <a:cs typeface="Courier New" pitchFamily="49" charset="0"/>
              </a:rPr>
              <a:t>void *borrower(void *p)</a:t>
            </a:r>
          </a:p>
          <a:p>
            <a:pPr>
              <a:buNone/>
            </a:pPr>
            <a:r>
              <a:rPr lang="en-GB" sz="1200" b="1" dirty="0">
                <a:latin typeface="Courier New" pitchFamily="49" charset="0"/>
                <a:cs typeface="Courier New" pitchFamily="49" charset="0"/>
              </a:rPr>
              <a:t>{</a:t>
            </a:r>
          </a:p>
          <a:p>
            <a:pPr>
              <a:buNone/>
            </a:pPr>
            <a:r>
              <a:rPr lang="en-GB" sz="1200" b="1" dirty="0">
                <a:latin typeface="Courier New" pitchFamily="49" charset="0"/>
                <a:cs typeface="Courier New" pitchFamily="49" charset="0"/>
              </a:rPr>
              <a:t>  for(int </a:t>
            </a:r>
            <a:r>
              <a:rPr lang="en-GB" sz="1200" b="1" dirty="0" err="1">
                <a:latin typeface="Courier New" pitchFamily="49" charset="0"/>
                <a:cs typeface="Courier New" pitchFamily="49" charset="0"/>
              </a:rPr>
              <a:t>i</a:t>
            </a:r>
            <a:r>
              <a:rPr lang="en-GB" sz="1200" b="1" dirty="0">
                <a:latin typeface="Courier New" pitchFamily="49" charset="0"/>
                <a:cs typeface="Courier New" pitchFamily="49" charset="0"/>
              </a:rPr>
              <a:t> = 0; </a:t>
            </a:r>
            <a:r>
              <a:rPr lang="en-GB" sz="1200" b="1" dirty="0" err="1">
                <a:latin typeface="Courier New" pitchFamily="49" charset="0"/>
                <a:cs typeface="Courier New" pitchFamily="49" charset="0"/>
              </a:rPr>
              <a:t>i</a:t>
            </a:r>
            <a:r>
              <a:rPr lang="en-GB" sz="1200" b="1" dirty="0">
                <a:latin typeface="Courier New" pitchFamily="49" charset="0"/>
                <a:cs typeface="Courier New" pitchFamily="49" charset="0"/>
              </a:rPr>
              <a:t>&lt;=10; </a:t>
            </a:r>
            <a:r>
              <a:rPr lang="en-GB" sz="1200" b="1" dirty="0" err="1">
                <a:latin typeface="Courier New" pitchFamily="49" charset="0"/>
                <a:cs typeface="Courier New" pitchFamily="49" charset="0"/>
              </a:rPr>
              <a:t>i</a:t>
            </a:r>
            <a:r>
              <a:rPr lang="en-GB" sz="1200" b="1" dirty="0">
                <a:latin typeface="Courier New" pitchFamily="49" charset="0"/>
                <a:cs typeface="Courier New" pitchFamily="49" charset="0"/>
              </a:rPr>
              <a:t>++){</a:t>
            </a:r>
          </a:p>
          <a:p>
            <a:pPr>
              <a:buNone/>
            </a:pPr>
            <a:r>
              <a:rPr lang="en-GB" sz="1200" b="1" dirty="0">
                <a:solidFill>
                  <a:schemeClr val="bg1">
                    <a:lumMod val="50000"/>
                  </a:schemeClr>
                </a:solidFill>
                <a:latin typeface="Courier New" pitchFamily="49" charset="0"/>
                <a:cs typeface="Courier New" pitchFamily="49" charset="0"/>
              </a:rPr>
              <a:t>    </a:t>
            </a:r>
            <a:r>
              <a:rPr lang="en-GB" sz="1200" b="1" dirty="0" err="1">
                <a:solidFill>
                  <a:schemeClr val="bg1">
                    <a:lumMod val="50000"/>
                  </a:schemeClr>
                </a:solidFill>
                <a:latin typeface="Courier New" pitchFamily="49" charset="0"/>
                <a:cs typeface="Courier New" pitchFamily="49" charset="0"/>
              </a:rPr>
              <a:t>printf</a:t>
            </a:r>
            <a:r>
              <a:rPr lang="en-GB" sz="1200" b="1" dirty="0">
                <a:solidFill>
                  <a:schemeClr val="bg1">
                    <a:lumMod val="50000"/>
                  </a:schemeClr>
                </a:solidFill>
                <a:latin typeface="Courier New" pitchFamily="49" charset="0"/>
                <a:cs typeface="Courier New" pitchFamily="49" charset="0"/>
              </a:rPr>
              <a:t>("Borrower %d wants to borrow a book. ",(int)p);</a:t>
            </a:r>
          </a:p>
          <a:p>
            <a:pPr>
              <a:buNone/>
            </a:pPr>
            <a:r>
              <a:rPr lang="en-GB" sz="1200" b="1" dirty="0">
                <a:solidFill>
                  <a:schemeClr val="bg1">
                    <a:lumMod val="50000"/>
                  </a:schemeClr>
                </a:solidFill>
                <a:latin typeface="Courier New" pitchFamily="49" charset="0"/>
                <a:cs typeface="Courier New" pitchFamily="49" charset="0"/>
              </a:rPr>
              <a:t>    </a:t>
            </a:r>
            <a:r>
              <a:rPr lang="en-GB" sz="1200" b="1" dirty="0" err="1">
                <a:solidFill>
                  <a:schemeClr val="bg1">
                    <a:lumMod val="50000"/>
                  </a:schemeClr>
                </a:solidFill>
                <a:latin typeface="Courier New" pitchFamily="49" charset="0"/>
                <a:cs typeface="Courier New" pitchFamily="49" charset="0"/>
              </a:rPr>
              <a:t>printf</a:t>
            </a:r>
            <a:r>
              <a:rPr lang="en-GB" sz="1200" b="1" dirty="0">
                <a:solidFill>
                  <a:schemeClr val="bg1">
                    <a:lumMod val="50000"/>
                  </a:schemeClr>
                </a:solidFill>
                <a:latin typeface="Courier New" pitchFamily="49" charset="0"/>
                <a:cs typeface="Courier New" pitchFamily="49" charset="0"/>
              </a:rPr>
              <a:t>("Books available = %d\n",</a:t>
            </a:r>
            <a:r>
              <a:rPr lang="en-GB" sz="1200" b="1" dirty="0" err="1">
                <a:solidFill>
                  <a:schemeClr val="bg1">
                    <a:lumMod val="50000"/>
                  </a:schemeClr>
                </a:solidFill>
                <a:latin typeface="Courier New" pitchFamily="49" charset="0"/>
                <a:cs typeface="Courier New" pitchFamily="49" charset="0"/>
              </a:rPr>
              <a:t>booksAvailable</a:t>
            </a:r>
            <a:r>
              <a:rPr lang="en-GB" sz="1200" b="1" dirty="0">
                <a:solidFill>
                  <a:schemeClr val="bg1">
                    <a:lumMod val="50000"/>
                  </a:schemeClr>
                </a:solidFill>
                <a:latin typeface="Courier New" pitchFamily="49" charset="0"/>
                <a:cs typeface="Courier New" pitchFamily="49" charset="0"/>
              </a:rPr>
              <a:t>);</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sem_wait</a:t>
            </a:r>
            <a:r>
              <a:rPr lang="en-GB" sz="1200" b="1" dirty="0">
                <a:latin typeface="Courier New" pitchFamily="49" charset="0"/>
                <a:cs typeface="Courier New" pitchFamily="49" charset="0"/>
              </a:rPr>
              <a:t>(&amp;</a:t>
            </a:r>
            <a:r>
              <a:rPr lang="en-GB" sz="1200" b="1" dirty="0" err="1">
                <a:latin typeface="Courier New" pitchFamily="49" charset="0"/>
                <a:cs typeface="Courier New" pitchFamily="49" charset="0"/>
              </a:rPr>
              <a:t>semaBooks</a:t>
            </a:r>
            <a:r>
              <a:rPr lang="en-GB" sz="1200" b="1" dirty="0">
                <a:latin typeface="Courier New" pitchFamily="49" charset="0"/>
                <a:cs typeface="Courier New" pitchFamily="49" charset="0"/>
              </a:rPr>
              <a:t>); //Borrowing a book</a:t>
            </a:r>
          </a:p>
          <a:p>
            <a:pPr>
              <a:buNone/>
            </a:pPr>
            <a:r>
              <a:rPr lang="en-GB" sz="1200" b="1" dirty="0">
                <a:solidFill>
                  <a:schemeClr val="bg1">
                    <a:lumMod val="50000"/>
                  </a:schemeClr>
                </a:solidFill>
                <a:latin typeface="Courier New" pitchFamily="49" charset="0"/>
                <a:cs typeface="Courier New" pitchFamily="49" charset="0"/>
              </a:rPr>
              <a:t>    </a:t>
            </a:r>
            <a:r>
              <a:rPr lang="en-GB" sz="1200" b="1" dirty="0" err="1">
                <a:solidFill>
                  <a:schemeClr val="bg1">
                    <a:lumMod val="50000"/>
                  </a:schemeClr>
                </a:solidFill>
                <a:latin typeface="Courier New" pitchFamily="49" charset="0"/>
                <a:cs typeface="Courier New" pitchFamily="49" charset="0"/>
              </a:rPr>
              <a:t>printf</a:t>
            </a:r>
            <a:r>
              <a:rPr lang="en-GB" sz="1200" b="1" dirty="0">
                <a:solidFill>
                  <a:schemeClr val="bg1">
                    <a:lumMod val="50000"/>
                  </a:schemeClr>
                </a:solidFill>
                <a:latin typeface="Courier New" pitchFamily="49" charset="0"/>
                <a:cs typeface="Courier New" pitchFamily="49" charset="0"/>
              </a:rPr>
              <a:t>("Borrower %d gets a book. ", (int)p);</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booksAvailable</a:t>
            </a:r>
            <a:r>
              <a:rPr lang="en-GB" sz="1200" b="1" dirty="0">
                <a:latin typeface="Courier New" pitchFamily="49" charset="0"/>
                <a:cs typeface="Courier New" pitchFamily="49" charset="0"/>
              </a:rPr>
              <a:t>--; </a:t>
            </a:r>
          </a:p>
          <a:p>
            <a:pPr>
              <a:buNone/>
            </a:pPr>
            <a:r>
              <a:rPr lang="en-GB" sz="1200" b="1" dirty="0">
                <a:solidFill>
                  <a:schemeClr val="bg1">
                    <a:lumMod val="50000"/>
                  </a:schemeClr>
                </a:solidFill>
                <a:latin typeface="Courier New" pitchFamily="49" charset="0"/>
                <a:cs typeface="Courier New" pitchFamily="49" charset="0"/>
              </a:rPr>
              <a:t>    </a:t>
            </a:r>
            <a:r>
              <a:rPr lang="en-GB" sz="1200" b="1" dirty="0" err="1">
                <a:solidFill>
                  <a:schemeClr val="bg1">
                    <a:lumMod val="50000"/>
                  </a:schemeClr>
                </a:solidFill>
                <a:latin typeface="Courier New" pitchFamily="49" charset="0"/>
                <a:cs typeface="Courier New" pitchFamily="49" charset="0"/>
              </a:rPr>
              <a:t>printf</a:t>
            </a:r>
            <a:r>
              <a:rPr lang="en-GB" sz="1200" b="1" dirty="0">
                <a:solidFill>
                  <a:schemeClr val="bg1">
                    <a:lumMod val="50000"/>
                  </a:schemeClr>
                </a:solidFill>
                <a:latin typeface="Courier New" pitchFamily="49" charset="0"/>
                <a:cs typeface="Courier New" pitchFamily="49" charset="0"/>
              </a:rPr>
              <a:t>("Books available = %d\n",</a:t>
            </a:r>
            <a:r>
              <a:rPr lang="en-GB" sz="1200" b="1" dirty="0" err="1">
                <a:solidFill>
                  <a:schemeClr val="bg1">
                    <a:lumMod val="50000"/>
                  </a:schemeClr>
                </a:solidFill>
                <a:latin typeface="Courier New" pitchFamily="49" charset="0"/>
                <a:cs typeface="Courier New" pitchFamily="49" charset="0"/>
              </a:rPr>
              <a:t>booksAvailable</a:t>
            </a:r>
            <a:r>
              <a:rPr lang="en-GB" sz="1200" b="1" dirty="0">
                <a:solidFill>
                  <a:schemeClr val="bg1">
                    <a:lumMod val="50000"/>
                  </a:schemeClr>
                </a:solidFill>
                <a:latin typeface="Courier New" pitchFamily="49" charset="0"/>
                <a:cs typeface="Courier New" pitchFamily="49" charset="0"/>
              </a:rPr>
              <a:t>);</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usleep</a:t>
            </a:r>
            <a:r>
              <a:rPr lang="en-GB" sz="1200" b="1" dirty="0">
                <a:latin typeface="Courier New" pitchFamily="49" charset="0"/>
                <a:cs typeface="Courier New" pitchFamily="49" charset="0"/>
              </a:rPr>
              <a:t>(10000); //reading book</a:t>
            </a:r>
          </a:p>
          <a:p>
            <a:pPr>
              <a:buNone/>
            </a:pPr>
            <a:r>
              <a:rPr lang="en-GB" sz="1200" b="1" dirty="0">
                <a:solidFill>
                  <a:schemeClr val="bg1">
                    <a:lumMod val="50000"/>
                  </a:schemeClr>
                </a:solidFill>
                <a:latin typeface="Courier New" pitchFamily="49" charset="0"/>
                <a:cs typeface="Courier New" pitchFamily="49" charset="0"/>
              </a:rPr>
              <a:t>    </a:t>
            </a:r>
            <a:r>
              <a:rPr lang="en-GB" sz="1200" b="1" dirty="0" err="1">
                <a:solidFill>
                  <a:schemeClr val="bg1">
                    <a:lumMod val="50000"/>
                  </a:schemeClr>
                </a:solidFill>
                <a:latin typeface="Courier New" pitchFamily="49" charset="0"/>
                <a:cs typeface="Courier New" pitchFamily="49" charset="0"/>
              </a:rPr>
              <a:t>printf</a:t>
            </a:r>
            <a:r>
              <a:rPr lang="en-GB" sz="1200" b="1" dirty="0">
                <a:solidFill>
                  <a:schemeClr val="bg1">
                    <a:lumMod val="50000"/>
                  </a:schemeClr>
                </a:solidFill>
                <a:latin typeface="Courier New" pitchFamily="49" charset="0"/>
                <a:cs typeface="Courier New" pitchFamily="49" charset="0"/>
              </a:rPr>
              <a:t>("Borrower %d is returning a book. ", (int)p);</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booksAvailable</a:t>
            </a:r>
            <a:r>
              <a:rPr lang="en-GB" sz="1200" b="1" dirty="0">
                <a:latin typeface="Courier New" pitchFamily="49" charset="0"/>
                <a:cs typeface="Courier New" pitchFamily="49" charset="0"/>
              </a:rPr>
              <a:t>++; </a:t>
            </a:r>
          </a:p>
          <a:p>
            <a:pPr>
              <a:buNone/>
            </a:pPr>
            <a:r>
              <a:rPr lang="en-GB" sz="1200" b="1" dirty="0">
                <a:solidFill>
                  <a:schemeClr val="bg1">
                    <a:lumMod val="50000"/>
                  </a:schemeClr>
                </a:solidFill>
                <a:latin typeface="Courier New" pitchFamily="49" charset="0"/>
                <a:cs typeface="Courier New" pitchFamily="49" charset="0"/>
              </a:rPr>
              <a:t>    </a:t>
            </a:r>
            <a:r>
              <a:rPr lang="en-GB" sz="1200" b="1" dirty="0" err="1">
                <a:solidFill>
                  <a:schemeClr val="bg1">
                    <a:lumMod val="50000"/>
                  </a:schemeClr>
                </a:solidFill>
                <a:latin typeface="Courier New" pitchFamily="49" charset="0"/>
                <a:cs typeface="Courier New" pitchFamily="49" charset="0"/>
              </a:rPr>
              <a:t>printf</a:t>
            </a:r>
            <a:r>
              <a:rPr lang="en-GB" sz="1200" b="1" dirty="0">
                <a:solidFill>
                  <a:schemeClr val="bg1">
                    <a:lumMod val="50000"/>
                  </a:schemeClr>
                </a:solidFill>
                <a:latin typeface="Courier New" pitchFamily="49" charset="0"/>
                <a:cs typeface="Courier New" pitchFamily="49" charset="0"/>
              </a:rPr>
              <a:t>("Books available = %d\n",</a:t>
            </a:r>
            <a:r>
              <a:rPr lang="en-GB" sz="1200" b="1" dirty="0" err="1">
                <a:solidFill>
                  <a:schemeClr val="bg1">
                    <a:lumMod val="50000"/>
                  </a:schemeClr>
                </a:solidFill>
                <a:latin typeface="Courier New" pitchFamily="49" charset="0"/>
                <a:cs typeface="Courier New" pitchFamily="49" charset="0"/>
              </a:rPr>
              <a:t>booksAvailable</a:t>
            </a:r>
            <a:r>
              <a:rPr lang="en-GB" sz="1200" b="1" dirty="0">
                <a:solidFill>
                  <a:schemeClr val="bg1">
                    <a:lumMod val="50000"/>
                  </a:schemeClr>
                </a:solidFill>
                <a:latin typeface="Courier New" pitchFamily="49" charset="0"/>
                <a:cs typeface="Courier New" pitchFamily="49" charset="0"/>
              </a:rPr>
              <a:t>);</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sem_post</a:t>
            </a:r>
            <a:r>
              <a:rPr lang="en-GB" sz="1200" b="1" dirty="0">
                <a:latin typeface="Courier New" pitchFamily="49" charset="0"/>
                <a:cs typeface="Courier New" pitchFamily="49" charset="0"/>
              </a:rPr>
              <a:t>(&amp;</a:t>
            </a:r>
            <a:r>
              <a:rPr lang="en-GB" sz="1200" b="1" dirty="0" err="1">
                <a:latin typeface="Courier New" pitchFamily="49" charset="0"/>
                <a:cs typeface="Courier New" pitchFamily="49" charset="0"/>
              </a:rPr>
              <a:t>semaBooks</a:t>
            </a:r>
            <a:r>
              <a:rPr lang="en-GB" sz="1200" b="1" dirty="0">
                <a:latin typeface="Courier New" pitchFamily="49" charset="0"/>
                <a:cs typeface="Courier New" pitchFamily="49" charset="0"/>
              </a:rPr>
              <a:t>); //Returning a book</a:t>
            </a:r>
          </a:p>
          <a:p>
            <a:pPr>
              <a:buNone/>
            </a:pPr>
            <a:r>
              <a:rPr lang="en-GB" sz="1200" b="1" dirty="0">
                <a:latin typeface="Courier New" pitchFamily="49" charset="0"/>
                <a:cs typeface="Courier New" pitchFamily="49" charset="0"/>
              </a:rPr>
              <a:t>}</a:t>
            </a:r>
          </a:p>
          <a:p>
            <a:pPr>
              <a:buNone/>
            </a:pPr>
            <a:r>
              <a:rPr lang="en-GB" sz="1200" b="1" dirty="0">
                <a:latin typeface="Courier New" pitchFamily="49" charset="0"/>
                <a:cs typeface="Courier New" pitchFamily="49" charset="0"/>
              </a:rPr>
              <a:t>  return NULL;</a:t>
            </a:r>
          </a:p>
          <a:p>
            <a:pPr>
              <a:buNone/>
            </a:pPr>
            <a:r>
              <a:rPr lang="en-GB" sz="1200" b="1">
                <a:latin typeface="Courier New" pitchFamily="49" charset="0"/>
                <a:cs typeface="Courier New" pitchFamily="49" charset="0"/>
              </a:rPr>
              <a:t>}</a:t>
            </a:r>
          </a:p>
          <a:p>
            <a:pPr>
              <a:buNone/>
            </a:pPr>
            <a:r>
              <a:rPr lang="en-GB" sz="1200" b="1">
                <a:latin typeface="Courier New" pitchFamily="49" charset="0"/>
                <a:cs typeface="Courier New" pitchFamily="49" charset="0"/>
              </a:rPr>
              <a:t>void </a:t>
            </a:r>
            <a:r>
              <a:rPr lang="en-GB" sz="1200" b="1" dirty="0">
                <a:latin typeface="Courier New" pitchFamily="49" charset="0"/>
                <a:cs typeface="Courier New" pitchFamily="49" charset="0"/>
              </a:rPr>
              <a:t>main()</a:t>
            </a:r>
          </a:p>
          <a:p>
            <a:pPr>
              <a:buNone/>
            </a:pPr>
            <a:r>
              <a:rPr lang="en-GB" sz="1200" b="1" dirty="0">
                <a:latin typeface="Courier New" pitchFamily="49" charset="0"/>
                <a:cs typeface="Courier New" pitchFamily="49" charset="0"/>
              </a:rPr>
              <a:t>{</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pthread_t</a:t>
            </a:r>
            <a:r>
              <a:rPr lang="en-GB" sz="1200" b="1" dirty="0">
                <a:latin typeface="Courier New" pitchFamily="49" charset="0"/>
                <a:cs typeface="Courier New" pitchFamily="49" charset="0"/>
              </a:rPr>
              <a:t> thrID1, thrID2, thrID3;</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pthread_t</a:t>
            </a:r>
            <a:r>
              <a:rPr lang="en-GB" sz="1200" b="1" dirty="0">
                <a:latin typeface="Courier New" pitchFamily="49" charset="0"/>
                <a:cs typeface="Courier New" pitchFamily="49" charset="0"/>
              </a:rPr>
              <a:t> thrID4, thrID5, thrID6;</a:t>
            </a:r>
          </a:p>
          <a:p>
            <a:pPr>
              <a:buNone/>
            </a:pPr>
            <a:endParaRPr lang="en-GB" sz="1200" b="1" dirty="0">
              <a:latin typeface="Courier New" pitchFamily="49" charset="0"/>
              <a:cs typeface="Courier New" pitchFamily="49" charset="0"/>
            </a:endParaRP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sem_init</a:t>
            </a:r>
            <a:r>
              <a:rPr lang="en-GB" sz="1200" b="1" dirty="0">
                <a:latin typeface="Courier New" pitchFamily="49" charset="0"/>
                <a:cs typeface="Courier New" pitchFamily="49" charset="0"/>
              </a:rPr>
              <a:t>(&amp;</a:t>
            </a:r>
            <a:r>
              <a:rPr lang="en-GB" sz="1200" b="1" dirty="0" err="1">
                <a:latin typeface="Courier New" pitchFamily="49" charset="0"/>
                <a:cs typeface="Courier New" pitchFamily="49" charset="0"/>
              </a:rPr>
              <a:t>semaBooks</a:t>
            </a:r>
            <a:r>
              <a:rPr lang="en-GB" sz="1200" b="1" dirty="0">
                <a:latin typeface="Courier New" pitchFamily="49" charset="0"/>
                <a:cs typeface="Courier New" pitchFamily="49" charset="0"/>
              </a:rPr>
              <a:t>, 0</a:t>
            </a:r>
            <a:r>
              <a:rPr lang="en-GB" sz="1200" b="1">
                <a:latin typeface="Courier New" pitchFamily="49" charset="0"/>
                <a:cs typeface="Courier New" pitchFamily="49" charset="0"/>
              </a:rPr>
              <a:t>, booksAvailable </a:t>
            </a:r>
            <a:r>
              <a:rPr lang="en-GB" sz="1200" b="1" dirty="0">
                <a:latin typeface="Courier New" pitchFamily="49" charset="0"/>
                <a:cs typeface="Courier New" pitchFamily="49" charset="0"/>
              </a:rPr>
              <a:t>); </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pthread_create</a:t>
            </a:r>
            <a:r>
              <a:rPr lang="en-GB" sz="1200" b="1" dirty="0">
                <a:latin typeface="Courier New" pitchFamily="49" charset="0"/>
                <a:cs typeface="Courier New" pitchFamily="49" charset="0"/>
              </a:rPr>
              <a:t>(&amp;thrID1, NULL, borrower, (void *)1);</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pthread_create</a:t>
            </a:r>
            <a:r>
              <a:rPr lang="en-GB" sz="1200" b="1" dirty="0">
                <a:latin typeface="Courier New" pitchFamily="49" charset="0"/>
                <a:cs typeface="Courier New" pitchFamily="49" charset="0"/>
              </a:rPr>
              <a:t>(&amp;thrID2, NULL, borrower, (void *)2);</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pthread_create</a:t>
            </a:r>
            <a:r>
              <a:rPr lang="en-GB" sz="1200" b="1" dirty="0">
                <a:latin typeface="Courier New" pitchFamily="49" charset="0"/>
                <a:cs typeface="Courier New" pitchFamily="49" charset="0"/>
              </a:rPr>
              <a:t>(&amp;thrID3, NULL, borrower, (void *)3);</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pthread_create</a:t>
            </a:r>
            <a:r>
              <a:rPr lang="en-GB" sz="1200" b="1" dirty="0">
                <a:latin typeface="Courier New" pitchFamily="49" charset="0"/>
                <a:cs typeface="Courier New" pitchFamily="49" charset="0"/>
              </a:rPr>
              <a:t>(&amp;thrID4, NULL, borrower, (void *)4);</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pthread_create</a:t>
            </a:r>
            <a:r>
              <a:rPr lang="en-GB" sz="1200" b="1" dirty="0">
                <a:latin typeface="Courier New" pitchFamily="49" charset="0"/>
                <a:cs typeface="Courier New" pitchFamily="49" charset="0"/>
              </a:rPr>
              <a:t>(&amp;thrID5, NULL, borrower, (void *)5);</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pthread_create</a:t>
            </a:r>
            <a:r>
              <a:rPr lang="en-GB" sz="1200" b="1" dirty="0">
                <a:latin typeface="Courier New" pitchFamily="49" charset="0"/>
                <a:cs typeface="Courier New" pitchFamily="49" charset="0"/>
              </a:rPr>
              <a:t>(&amp;thrID6, NULL, borrower, (void *)6);</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pthread_join</a:t>
            </a:r>
            <a:r>
              <a:rPr lang="en-GB" sz="1200" b="1" dirty="0">
                <a:latin typeface="Courier New" pitchFamily="49" charset="0"/>
                <a:cs typeface="Courier New" pitchFamily="49" charset="0"/>
              </a:rPr>
              <a:t>(thrID1, NULL);</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pthread_join</a:t>
            </a:r>
            <a:r>
              <a:rPr lang="en-GB" sz="1200" b="1" dirty="0">
                <a:latin typeface="Courier New" pitchFamily="49" charset="0"/>
                <a:cs typeface="Courier New" pitchFamily="49" charset="0"/>
              </a:rPr>
              <a:t>(thrID2, NULL);</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pthread_join</a:t>
            </a:r>
            <a:r>
              <a:rPr lang="en-GB" sz="1200" b="1" dirty="0">
                <a:latin typeface="Courier New" pitchFamily="49" charset="0"/>
                <a:cs typeface="Courier New" pitchFamily="49" charset="0"/>
              </a:rPr>
              <a:t>(thrID3, NULL);</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pthread_join</a:t>
            </a:r>
            <a:r>
              <a:rPr lang="en-GB" sz="1200" b="1" dirty="0">
                <a:latin typeface="Courier New" pitchFamily="49" charset="0"/>
                <a:cs typeface="Courier New" pitchFamily="49" charset="0"/>
              </a:rPr>
              <a:t>(thrID4, NULL);</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pthread_join</a:t>
            </a:r>
            <a:r>
              <a:rPr lang="en-GB" sz="1200" b="1" dirty="0">
                <a:latin typeface="Courier New" pitchFamily="49" charset="0"/>
                <a:cs typeface="Courier New" pitchFamily="49" charset="0"/>
              </a:rPr>
              <a:t>(thrID5, NULL);</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pthread_join</a:t>
            </a:r>
            <a:r>
              <a:rPr lang="en-GB" sz="1200" b="1" dirty="0">
                <a:latin typeface="Courier New" pitchFamily="49" charset="0"/>
                <a:cs typeface="Courier New" pitchFamily="49" charset="0"/>
              </a:rPr>
              <a:t>(thrID6, NULL);</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sem_destroy</a:t>
            </a:r>
            <a:r>
              <a:rPr lang="en-GB" sz="1200" b="1" dirty="0">
                <a:latin typeface="Courier New" pitchFamily="49" charset="0"/>
                <a:cs typeface="Courier New" pitchFamily="49" charset="0"/>
              </a:rPr>
              <a:t>(&amp;</a:t>
            </a:r>
            <a:r>
              <a:rPr lang="en-GB" sz="1200" b="1" dirty="0" err="1">
                <a:latin typeface="Courier New" pitchFamily="49" charset="0"/>
                <a:cs typeface="Courier New" pitchFamily="49" charset="0"/>
              </a:rPr>
              <a:t>semaBooks</a:t>
            </a:r>
            <a:r>
              <a:rPr lang="en-GB" sz="1200" b="1" dirty="0">
                <a:latin typeface="Courier New" pitchFamily="49" charset="0"/>
                <a:cs typeface="Courier New" pitchFamily="49" charset="0"/>
              </a:rPr>
              <a:t>);</a:t>
            </a:r>
          </a:p>
          <a:p>
            <a:pPr>
              <a:buNone/>
            </a:pPr>
            <a:r>
              <a:rPr lang="en-GB" sz="1200" b="1" dirty="0">
                <a:latin typeface="Courier New" pitchFamily="49" charset="0"/>
                <a:cs typeface="Courier New" pitchFamily="49" charset="0"/>
              </a:rPr>
              <a:t>}</a:t>
            </a:r>
          </a:p>
          <a:p>
            <a:pPr>
              <a:buNone/>
            </a:pPr>
            <a:endParaRPr lang="en-GB" sz="1000" b="1" dirty="0">
              <a:latin typeface="Courier New" pitchFamily="49" charset="0"/>
              <a:cs typeface="Courier New" pitchFamily="49" charset="0"/>
            </a:endParaRPr>
          </a:p>
          <a:p>
            <a:pPr>
              <a:buNone/>
            </a:pPr>
            <a:endParaRPr lang="en-GB" sz="1000" b="1" dirty="0">
              <a:latin typeface="Courier New" pitchFamily="49" charset="0"/>
              <a:cs typeface="Courier New" pitchFamily="49" charset="0"/>
            </a:endParaRPr>
          </a:p>
          <a:p>
            <a:pPr>
              <a:buNone/>
            </a:pPr>
            <a:endParaRPr lang="en-GB" sz="1000" b="1" dirty="0">
              <a:latin typeface="Courier New" pitchFamily="49" charset="0"/>
              <a:cs typeface="Courier New" pitchFamily="49" charset="0"/>
            </a:endParaRPr>
          </a:p>
          <a:p>
            <a:pPr>
              <a:buNone/>
            </a:pPr>
            <a:endParaRPr lang="en-GB" sz="1000" b="1" dirty="0">
              <a:latin typeface="Courier New" pitchFamily="49" charset="0"/>
              <a:cs typeface="Courier New" pitchFamily="49" charset="0"/>
            </a:endParaRPr>
          </a:p>
          <a:p>
            <a:pPr>
              <a:buNone/>
            </a:pPr>
            <a:endParaRPr lang="en-GB" sz="1000" b="1" dirty="0">
              <a:latin typeface="Courier New" pitchFamily="49" charset="0"/>
              <a:cs typeface="Courier New" pitchFamily="49" charset="0"/>
            </a:endParaRPr>
          </a:p>
        </p:txBody>
      </p:sp>
    </p:spTree>
    <p:extLst>
      <p:ext uri="{BB962C8B-B14F-4D97-AF65-F5344CB8AC3E}">
        <p14:creationId xmlns:p14="http://schemas.microsoft.com/office/powerpoint/2010/main" val="30101007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773AC-F70E-4BE6-B4BC-5E88E7DE1ED4}"/>
              </a:ext>
            </a:extLst>
          </p:cNvPr>
          <p:cNvSpPr>
            <a:spLocks noGrp="1"/>
          </p:cNvSpPr>
          <p:nvPr>
            <p:ph type="title"/>
          </p:nvPr>
        </p:nvSpPr>
        <p:spPr/>
        <p:txBody>
          <a:bodyPr/>
          <a:lstStyle/>
          <a:p>
            <a:r>
              <a:rPr lang="en-GB" dirty="0"/>
              <a:t>Issues</a:t>
            </a:r>
          </a:p>
        </p:txBody>
      </p:sp>
      <p:sp>
        <p:nvSpPr>
          <p:cNvPr id="3" name="Content Placeholder 2">
            <a:extLst>
              <a:ext uri="{FF2B5EF4-FFF2-40B4-BE49-F238E27FC236}">
                <a16:creationId xmlns:a16="http://schemas.microsoft.com/office/drawing/2014/main" id="{11C3A8FF-776C-4F75-AE70-3FDEDBAB0FE9}"/>
              </a:ext>
            </a:extLst>
          </p:cNvPr>
          <p:cNvSpPr>
            <a:spLocks noGrp="1"/>
          </p:cNvSpPr>
          <p:nvPr>
            <p:ph idx="1"/>
          </p:nvPr>
        </p:nvSpPr>
        <p:spPr/>
        <p:txBody>
          <a:bodyPr/>
          <a:lstStyle/>
          <a:p>
            <a:r>
              <a:rPr lang="en-GB" dirty="0"/>
              <a:t>Busy-waiting enforces the order threads access a critical section, at the expense of CPU usage.</a:t>
            </a:r>
          </a:p>
          <a:p>
            <a:r>
              <a:rPr lang="en-GB" dirty="0"/>
              <a:t>Using mutexes, the order is left to chance and the system.</a:t>
            </a:r>
          </a:p>
          <a:p>
            <a:r>
              <a:rPr lang="en-GB" dirty="0"/>
              <a:t>There are situations where we need to control the order threads access the critical section.</a:t>
            </a:r>
          </a:p>
        </p:txBody>
      </p:sp>
    </p:spTree>
    <p:extLst>
      <p:ext uri="{BB962C8B-B14F-4D97-AF65-F5344CB8AC3E}">
        <p14:creationId xmlns:p14="http://schemas.microsoft.com/office/powerpoint/2010/main" val="34534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DDB5DAD-455E-4DED-B05F-DDACF24BCA56}"/>
              </a:ext>
            </a:extLst>
          </p:cNvPr>
          <p:cNvSpPr>
            <a:spLocks noGrp="1"/>
          </p:cNvSpPr>
          <p:nvPr>
            <p:ph type="ctrTitle"/>
          </p:nvPr>
        </p:nvSpPr>
        <p:spPr/>
        <p:txBody>
          <a:bodyPr/>
          <a:lstStyle/>
          <a:p>
            <a:r>
              <a:rPr lang="en-GB" dirty="0"/>
              <a:t>Barriers and Condition Variables</a:t>
            </a:r>
          </a:p>
        </p:txBody>
      </p:sp>
      <p:sp>
        <p:nvSpPr>
          <p:cNvPr id="5" name="Subtitle 4">
            <a:extLst>
              <a:ext uri="{FF2B5EF4-FFF2-40B4-BE49-F238E27FC236}">
                <a16:creationId xmlns:a16="http://schemas.microsoft.com/office/drawing/2014/main" id="{8E700D04-AAB7-4EFF-B13A-885680968D16}"/>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126779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D1AB8-77CA-4F30-8A0F-D7BEA1A243F2}"/>
              </a:ext>
            </a:extLst>
          </p:cNvPr>
          <p:cNvSpPr>
            <a:spLocks noGrp="1"/>
          </p:cNvSpPr>
          <p:nvPr>
            <p:ph type="title"/>
          </p:nvPr>
        </p:nvSpPr>
        <p:spPr/>
        <p:txBody>
          <a:bodyPr/>
          <a:lstStyle/>
          <a:p>
            <a:r>
              <a:rPr lang="en-GB" dirty="0"/>
              <a:t>Barriers</a:t>
            </a:r>
          </a:p>
        </p:txBody>
      </p:sp>
      <p:sp>
        <p:nvSpPr>
          <p:cNvPr id="3" name="Content Placeholder 2">
            <a:extLst>
              <a:ext uri="{FF2B5EF4-FFF2-40B4-BE49-F238E27FC236}">
                <a16:creationId xmlns:a16="http://schemas.microsoft.com/office/drawing/2014/main" id="{74512F27-FF13-4609-8614-12AD529C9CD9}"/>
              </a:ext>
            </a:extLst>
          </p:cNvPr>
          <p:cNvSpPr>
            <a:spLocks noGrp="1"/>
          </p:cNvSpPr>
          <p:nvPr>
            <p:ph idx="1"/>
          </p:nvPr>
        </p:nvSpPr>
        <p:spPr/>
        <p:txBody>
          <a:bodyPr/>
          <a:lstStyle/>
          <a:p>
            <a:r>
              <a:rPr lang="en-GB" dirty="0"/>
              <a:t>Synchronizing the threads to make sure that they all are at the same point in a program is called a barrier.</a:t>
            </a:r>
            <a:br>
              <a:rPr lang="en-GB" dirty="0"/>
            </a:br>
            <a:endParaRPr lang="en-GB" dirty="0"/>
          </a:p>
          <a:p>
            <a:r>
              <a:rPr lang="en-GB" dirty="0"/>
              <a:t>No thread can cross the barrier until all the threads have reached it.</a:t>
            </a:r>
          </a:p>
        </p:txBody>
      </p:sp>
    </p:spTree>
    <p:extLst>
      <p:ext uri="{BB962C8B-B14F-4D97-AF65-F5344CB8AC3E}">
        <p14:creationId xmlns:p14="http://schemas.microsoft.com/office/powerpoint/2010/main" val="2435912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7BB03-A934-4C46-AB95-DCA372FD01EE}"/>
              </a:ext>
            </a:extLst>
          </p:cNvPr>
          <p:cNvSpPr>
            <a:spLocks noGrp="1"/>
          </p:cNvSpPr>
          <p:nvPr>
            <p:ph type="title"/>
          </p:nvPr>
        </p:nvSpPr>
        <p:spPr/>
        <p:txBody>
          <a:bodyPr/>
          <a:lstStyle/>
          <a:p>
            <a:r>
              <a:rPr lang="en-GB" dirty="0"/>
              <a:t>Busy-waiting and a Mutex</a:t>
            </a:r>
          </a:p>
        </p:txBody>
      </p:sp>
      <p:sp>
        <p:nvSpPr>
          <p:cNvPr id="3" name="Content Placeholder 2">
            <a:extLst>
              <a:ext uri="{FF2B5EF4-FFF2-40B4-BE49-F238E27FC236}">
                <a16:creationId xmlns:a16="http://schemas.microsoft.com/office/drawing/2014/main" id="{E7D73A17-59C6-472F-A42B-8CCDD6CEC369}"/>
              </a:ext>
            </a:extLst>
          </p:cNvPr>
          <p:cNvSpPr>
            <a:spLocks noGrp="1"/>
          </p:cNvSpPr>
          <p:nvPr>
            <p:ph idx="1"/>
          </p:nvPr>
        </p:nvSpPr>
        <p:spPr/>
        <p:txBody>
          <a:bodyPr/>
          <a:lstStyle/>
          <a:p>
            <a:r>
              <a:rPr lang="en-GB" dirty="0"/>
              <a:t>Implementing a barrier using busy-waiting and a mutex is straightforward.</a:t>
            </a:r>
          </a:p>
          <a:p>
            <a:r>
              <a:rPr lang="en-GB" dirty="0"/>
              <a:t>We use a shared counter protected by the mutex.</a:t>
            </a:r>
          </a:p>
          <a:p>
            <a:r>
              <a:rPr lang="en-GB" dirty="0"/>
              <a:t>When the counter indicates that every thread has entered the critical section, threads can leave the critical section.</a:t>
            </a:r>
          </a:p>
          <a:p>
            <a:pPr marL="0" indent="0">
              <a:buNone/>
            </a:pPr>
            <a:endParaRPr lang="en-GB" dirty="0"/>
          </a:p>
        </p:txBody>
      </p:sp>
    </p:spTree>
    <p:extLst>
      <p:ext uri="{BB962C8B-B14F-4D97-AF65-F5344CB8AC3E}">
        <p14:creationId xmlns:p14="http://schemas.microsoft.com/office/powerpoint/2010/main" val="32112005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326842F2-4B9D-4601-A42B-7EB0007C01E3}"/>
              </a:ext>
            </a:extLst>
          </p:cNvPr>
          <p:cNvSpPr>
            <a:spLocks noGrp="1"/>
          </p:cNvSpPr>
          <p:nvPr>
            <p:ph type="title"/>
          </p:nvPr>
        </p:nvSpPr>
        <p:spPr/>
        <p:txBody>
          <a:bodyPr/>
          <a:lstStyle/>
          <a:p>
            <a:r>
              <a:rPr lang="en-US" dirty="0"/>
              <a:t>Busy-waiting and a Mutex</a:t>
            </a:r>
          </a:p>
        </p:txBody>
      </p:sp>
      <p:sp>
        <p:nvSpPr>
          <p:cNvPr id="2" name="Content Placeholder 1">
            <a:extLst>
              <a:ext uri="{FF2B5EF4-FFF2-40B4-BE49-F238E27FC236}">
                <a16:creationId xmlns:a16="http://schemas.microsoft.com/office/drawing/2014/main" id="{10D70741-80E3-7DAF-D07E-C608487989BF}"/>
              </a:ext>
            </a:extLst>
          </p:cNvPr>
          <p:cNvSpPr>
            <a:spLocks noGrp="1"/>
          </p:cNvSpPr>
          <p:nvPr>
            <p:ph idx="1"/>
          </p:nvPr>
        </p:nvSpPr>
        <p:spPr>
          <a:xfrm>
            <a:off x="239350" y="1052737"/>
            <a:ext cx="6792754" cy="5616625"/>
          </a:xfrm>
        </p:spPr>
        <p:txBody>
          <a:bodyPr/>
          <a:lstStyle/>
          <a:p>
            <a:pPr marL="0" indent="0">
              <a:spcBef>
                <a:spcPts val="0"/>
              </a:spcBef>
              <a:buNone/>
            </a:pPr>
            <a:r>
              <a:rPr lang="en-GB" sz="1800" b="1">
                <a:latin typeface="Courier New" panose="02070309020205020404" pitchFamily="49" charset="0"/>
                <a:cs typeface="Courier New" panose="02070309020205020404" pitchFamily="49" charset="0"/>
              </a:rPr>
              <a:t>int counter=0;</a:t>
            </a:r>
          </a:p>
          <a:p>
            <a:pPr marL="0" indent="0">
              <a:spcBef>
                <a:spcPts val="0"/>
              </a:spcBef>
              <a:buNone/>
            </a:pPr>
            <a:r>
              <a:rPr lang="en-GB" sz="1800" b="1">
                <a:latin typeface="Courier New" panose="02070309020205020404" pitchFamily="49" charset="0"/>
                <a:cs typeface="Courier New" panose="02070309020205020404" pitchFamily="49" charset="0"/>
              </a:rPr>
              <a:t>int threadcount=5;</a:t>
            </a:r>
          </a:p>
          <a:p>
            <a:pPr marL="0" indent="0">
              <a:spcBef>
                <a:spcPts val="0"/>
              </a:spcBef>
              <a:buNone/>
            </a:pPr>
            <a:r>
              <a:rPr lang="en-GB" sz="1800" b="1">
                <a:latin typeface="Courier New" panose="02070309020205020404" pitchFamily="49" charset="0"/>
                <a:cs typeface="Courier New" panose="02070309020205020404" pitchFamily="49" charset="0"/>
              </a:rPr>
              <a:t>pthread_mutex_t mutex;</a:t>
            </a:r>
          </a:p>
          <a:p>
            <a:pPr marL="0" indent="0">
              <a:spcBef>
                <a:spcPts val="0"/>
              </a:spcBef>
              <a:buNone/>
            </a:pPr>
            <a:endParaRPr lang="en-GB" sz="1800" b="1">
              <a:latin typeface="Courier New" panose="02070309020205020404" pitchFamily="49" charset="0"/>
              <a:cs typeface="Courier New" panose="02070309020205020404" pitchFamily="49" charset="0"/>
            </a:endParaRPr>
          </a:p>
          <a:p>
            <a:pPr marL="0" indent="0">
              <a:spcBef>
                <a:spcPts val="0"/>
              </a:spcBef>
              <a:buNone/>
            </a:pPr>
            <a:r>
              <a:rPr lang="en-GB" sz="1800" b="1">
                <a:latin typeface="Courier New" panose="02070309020205020404" pitchFamily="49" charset="0"/>
                <a:cs typeface="Courier New" panose="02070309020205020404" pitchFamily="49" charset="0"/>
              </a:rPr>
              <a:t>void *threadmain(void *p)</a:t>
            </a:r>
          </a:p>
          <a:p>
            <a:pPr marL="0" indent="0">
              <a:spcBef>
                <a:spcPts val="0"/>
              </a:spcBef>
              <a:buNone/>
            </a:pPr>
            <a:r>
              <a:rPr lang="en-GB" sz="1800" b="1">
                <a:latin typeface="Courier New" panose="02070309020205020404" pitchFamily="49" charset="0"/>
                <a:cs typeface="Courier New" panose="02070309020205020404" pitchFamily="49" charset="0"/>
              </a:rPr>
              <a:t>{</a:t>
            </a:r>
          </a:p>
          <a:p>
            <a:pPr marL="0" indent="0">
              <a:spcBef>
                <a:spcPts val="0"/>
              </a:spcBef>
              <a:buNone/>
            </a:pPr>
            <a:r>
              <a:rPr lang="en-GB" sz="1800" b="1">
                <a:latin typeface="Courier New" panose="02070309020205020404" pitchFamily="49" charset="0"/>
                <a:cs typeface="Courier New" panose="02070309020205020404" pitchFamily="49" charset="0"/>
              </a:rPr>
              <a:t>    printf("Thread %ld started\n",p);</a:t>
            </a:r>
          </a:p>
          <a:p>
            <a:pPr marL="0" indent="0">
              <a:spcBef>
                <a:spcPts val="0"/>
              </a:spcBef>
              <a:buNone/>
            </a:pPr>
            <a:r>
              <a:rPr lang="en-GB" sz="1800" b="1">
                <a:latin typeface="Courier New" panose="02070309020205020404" pitchFamily="49" charset="0"/>
                <a:cs typeface="Courier New" panose="02070309020205020404" pitchFamily="49" charset="0"/>
              </a:rPr>
              <a:t>    usleep(p * 1000000);</a:t>
            </a:r>
          </a:p>
          <a:p>
            <a:pPr marL="0" indent="0">
              <a:spcBef>
                <a:spcPts val="0"/>
              </a:spcBef>
              <a:buNone/>
            </a:pPr>
            <a:r>
              <a:rPr lang="en-GB" sz="1800" b="1">
                <a:latin typeface="Courier New" panose="02070309020205020404" pitchFamily="49" charset="0"/>
                <a:cs typeface="Courier New" panose="02070309020205020404" pitchFamily="49" charset="0"/>
              </a:rPr>
              <a:t>    pthread_mutex_lock(&amp;mutex);</a:t>
            </a:r>
          </a:p>
          <a:p>
            <a:pPr marL="0" indent="0">
              <a:spcBef>
                <a:spcPts val="0"/>
              </a:spcBef>
              <a:buNone/>
            </a:pPr>
            <a:r>
              <a:rPr lang="en-GB" sz="1800" b="1">
                <a:latin typeface="Courier New" panose="02070309020205020404" pitchFamily="49" charset="0"/>
                <a:cs typeface="Courier New" panose="02070309020205020404" pitchFamily="49" charset="0"/>
              </a:rPr>
              <a:t>    counter++;</a:t>
            </a:r>
          </a:p>
          <a:p>
            <a:pPr marL="0" indent="0">
              <a:spcBef>
                <a:spcPts val="0"/>
              </a:spcBef>
              <a:buNone/>
            </a:pPr>
            <a:r>
              <a:rPr lang="en-GB" sz="1800" b="1">
                <a:latin typeface="Courier New" panose="02070309020205020404" pitchFamily="49" charset="0"/>
                <a:cs typeface="Courier New" panose="02070309020205020404" pitchFamily="49" charset="0"/>
              </a:rPr>
              <a:t>    pthread_mutex_unlock(&amp;mutex);</a:t>
            </a:r>
          </a:p>
          <a:p>
            <a:pPr marL="0" indent="0">
              <a:spcBef>
                <a:spcPts val="0"/>
              </a:spcBef>
              <a:buNone/>
            </a:pPr>
            <a:r>
              <a:rPr lang="en-GB" sz="1800" b="1">
                <a:latin typeface="Courier New" panose="02070309020205020404" pitchFamily="49" charset="0"/>
                <a:cs typeface="Courier New" panose="02070309020205020404" pitchFamily="49" charset="0"/>
              </a:rPr>
              <a:t>    printf("Thread %ld reach barrier\n",p);</a:t>
            </a:r>
          </a:p>
          <a:p>
            <a:pPr marL="0" indent="0">
              <a:spcBef>
                <a:spcPts val="0"/>
              </a:spcBef>
              <a:buNone/>
            </a:pPr>
            <a:r>
              <a:rPr lang="en-GB" sz="1800" b="1">
                <a:latin typeface="Courier New" panose="02070309020205020404" pitchFamily="49" charset="0"/>
                <a:cs typeface="Courier New" panose="02070309020205020404" pitchFamily="49" charset="0"/>
              </a:rPr>
              <a:t>    while(counter &lt; threadcount);/* busy wait */</a:t>
            </a:r>
          </a:p>
          <a:p>
            <a:pPr marL="0" indent="0">
              <a:spcBef>
                <a:spcPts val="0"/>
              </a:spcBef>
              <a:buNone/>
            </a:pPr>
            <a:r>
              <a:rPr lang="en-GB" sz="1800" b="1">
                <a:latin typeface="Courier New" panose="02070309020205020404" pitchFamily="49" charset="0"/>
                <a:cs typeface="Courier New" panose="02070309020205020404" pitchFamily="49" charset="0"/>
              </a:rPr>
              <a:t>    printf("Thread %ld passed barrier\n",p);</a:t>
            </a:r>
          </a:p>
          <a:p>
            <a:pPr marL="0" indent="0">
              <a:spcBef>
                <a:spcPts val="0"/>
              </a:spcBef>
              <a:buNone/>
            </a:pPr>
            <a:r>
              <a:rPr lang="en-GB" sz="1800" b="1">
                <a:latin typeface="Courier New" panose="02070309020205020404" pitchFamily="49" charset="0"/>
                <a:cs typeface="Courier New" panose="02070309020205020404" pitchFamily="49" charset="0"/>
              </a:rPr>
              <a:t>    return NULL;</a:t>
            </a:r>
          </a:p>
          <a:p>
            <a:pPr marL="0" indent="0">
              <a:spcBef>
                <a:spcPts val="0"/>
              </a:spcBef>
              <a:buNone/>
            </a:pPr>
            <a:r>
              <a:rPr lang="en-GB" sz="1800" b="1">
                <a:latin typeface="Courier New" panose="02070309020205020404" pitchFamily="49" charset="0"/>
                <a:cs typeface="Courier New" panose="02070309020205020404" pitchFamily="49" charset="0"/>
              </a:rPr>
              <a:t>}</a:t>
            </a:r>
          </a:p>
        </p:txBody>
      </p:sp>
      <p:sp>
        <p:nvSpPr>
          <p:cNvPr id="3" name="Content Placeholder 1">
            <a:extLst>
              <a:ext uri="{FF2B5EF4-FFF2-40B4-BE49-F238E27FC236}">
                <a16:creationId xmlns:a16="http://schemas.microsoft.com/office/drawing/2014/main" id="{C0E7CE07-0B27-AC17-5898-E1DD20BDF59A}"/>
              </a:ext>
            </a:extLst>
          </p:cNvPr>
          <p:cNvSpPr txBox="1">
            <a:spLocks/>
          </p:cNvSpPr>
          <p:nvPr/>
        </p:nvSpPr>
        <p:spPr bwMode="auto">
          <a:xfrm>
            <a:off x="7248128" y="1052736"/>
            <a:ext cx="4824536" cy="561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884" indent="-342884" algn="l" rtl="0" eaLnBrk="1" fontAlgn="base" hangingPunct="1">
              <a:spcBef>
                <a:spcPct val="20000"/>
              </a:spcBef>
              <a:spcAft>
                <a:spcPct val="0"/>
              </a:spcAft>
              <a:buChar char="•"/>
              <a:defRPr sz="3200">
                <a:solidFill>
                  <a:schemeClr val="tx1"/>
                </a:solidFill>
                <a:latin typeface="+mn-lt"/>
                <a:ea typeface="+mn-ea"/>
                <a:cs typeface="+mn-cs"/>
              </a:defRPr>
            </a:lvl1pPr>
            <a:lvl2pPr marL="742913" indent="-285736" algn="l" rtl="0" eaLnBrk="1" fontAlgn="base" hangingPunct="1">
              <a:spcBef>
                <a:spcPct val="20000"/>
              </a:spcBef>
              <a:spcAft>
                <a:spcPct val="0"/>
              </a:spcAft>
              <a:buChar char="–"/>
              <a:defRPr sz="2800">
                <a:solidFill>
                  <a:schemeClr val="tx1"/>
                </a:solidFill>
                <a:latin typeface="+mn-lt"/>
              </a:defRPr>
            </a:lvl2pPr>
            <a:lvl3pPr marL="1142944" indent="-228588" algn="l" rtl="0" eaLnBrk="1" fontAlgn="base" hangingPunct="1">
              <a:spcBef>
                <a:spcPct val="20000"/>
              </a:spcBef>
              <a:spcAft>
                <a:spcPct val="0"/>
              </a:spcAft>
              <a:buChar char="•"/>
              <a:defRPr sz="2400">
                <a:solidFill>
                  <a:schemeClr val="tx1"/>
                </a:solidFill>
                <a:latin typeface="+mn-lt"/>
              </a:defRPr>
            </a:lvl3pPr>
            <a:lvl4pPr marL="1600120" indent="-228588" algn="l" rtl="0" eaLnBrk="1" fontAlgn="base" hangingPunct="1">
              <a:spcBef>
                <a:spcPct val="20000"/>
              </a:spcBef>
              <a:spcAft>
                <a:spcPct val="0"/>
              </a:spcAft>
              <a:buChar char="–"/>
              <a:defRPr sz="2000">
                <a:solidFill>
                  <a:schemeClr val="tx1"/>
                </a:solidFill>
                <a:latin typeface="+mn-lt"/>
              </a:defRPr>
            </a:lvl4pPr>
            <a:lvl5pPr marL="2057297" indent="-228588" algn="l" rtl="0" eaLnBrk="1" fontAlgn="base" hangingPunct="1">
              <a:spcBef>
                <a:spcPct val="20000"/>
              </a:spcBef>
              <a:spcAft>
                <a:spcPct val="0"/>
              </a:spcAft>
              <a:buChar char="»"/>
              <a:defRPr sz="2000">
                <a:solidFill>
                  <a:schemeClr val="tx1"/>
                </a:solidFill>
                <a:latin typeface="+mn-lt"/>
              </a:defRPr>
            </a:lvl5pPr>
            <a:lvl6pPr marL="2514474" indent="-228588" algn="l" rtl="0" eaLnBrk="1" fontAlgn="base" hangingPunct="1">
              <a:spcBef>
                <a:spcPct val="20000"/>
              </a:spcBef>
              <a:spcAft>
                <a:spcPct val="0"/>
              </a:spcAft>
              <a:buChar char="»"/>
              <a:defRPr sz="2000">
                <a:solidFill>
                  <a:schemeClr val="tx1"/>
                </a:solidFill>
                <a:latin typeface="+mn-lt"/>
              </a:defRPr>
            </a:lvl6pPr>
            <a:lvl7pPr marL="2971652" indent="-228588" algn="l" rtl="0" eaLnBrk="1" fontAlgn="base" hangingPunct="1">
              <a:spcBef>
                <a:spcPct val="20000"/>
              </a:spcBef>
              <a:spcAft>
                <a:spcPct val="0"/>
              </a:spcAft>
              <a:buChar char="»"/>
              <a:defRPr sz="2000">
                <a:solidFill>
                  <a:schemeClr val="tx1"/>
                </a:solidFill>
                <a:latin typeface="+mn-lt"/>
              </a:defRPr>
            </a:lvl7pPr>
            <a:lvl8pPr marL="3428829" indent="-228588" algn="l" rtl="0" eaLnBrk="1" fontAlgn="base" hangingPunct="1">
              <a:spcBef>
                <a:spcPct val="20000"/>
              </a:spcBef>
              <a:spcAft>
                <a:spcPct val="0"/>
              </a:spcAft>
              <a:buChar char="»"/>
              <a:defRPr sz="2000">
                <a:solidFill>
                  <a:schemeClr val="tx1"/>
                </a:solidFill>
                <a:latin typeface="+mn-lt"/>
              </a:defRPr>
            </a:lvl8pPr>
            <a:lvl9pPr marL="3886006" indent="-228588" algn="l" rtl="0" eaLnBrk="1" fontAlgn="base" hangingPunct="1">
              <a:spcBef>
                <a:spcPct val="20000"/>
              </a:spcBef>
              <a:spcAft>
                <a:spcPct val="0"/>
              </a:spcAft>
              <a:buChar char="»"/>
              <a:defRPr sz="2000">
                <a:solidFill>
                  <a:schemeClr val="tx1"/>
                </a:solidFill>
                <a:latin typeface="+mn-lt"/>
              </a:defRPr>
            </a:lvl9pPr>
          </a:lstStyle>
          <a:p>
            <a:pPr marL="0" indent="0">
              <a:spcBef>
                <a:spcPts val="0"/>
              </a:spcBef>
              <a:buNone/>
            </a:pPr>
            <a:endParaRPr lang="en-GB" sz="1600" b="1">
              <a:latin typeface="Courier New" panose="02070309020205020404" pitchFamily="49" charset="0"/>
              <a:cs typeface="Courier New" panose="02070309020205020404" pitchFamily="49" charset="0"/>
            </a:endParaRPr>
          </a:p>
          <a:p>
            <a:pPr marL="0" indent="0">
              <a:spcBef>
                <a:spcPts val="0"/>
              </a:spcBef>
              <a:buNone/>
            </a:pPr>
            <a:r>
              <a:rPr lang="en-GB" sz="1600" b="1">
                <a:latin typeface="Courier New" panose="02070309020205020404" pitchFamily="49" charset="0"/>
                <a:cs typeface="Courier New" panose="02070309020205020404" pitchFamily="49" charset="0"/>
              </a:rPr>
              <a:t>void main()</a:t>
            </a:r>
          </a:p>
          <a:p>
            <a:pPr marL="0" indent="0">
              <a:spcBef>
                <a:spcPts val="0"/>
              </a:spcBef>
              <a:buNone/>
            </a:pPr>
            <a:r>
              <a:rPr lang="en-GB" sz="1600" b="1">
                <a:latin typeface="Courier New" panose="02070309020205020404" pitchFamily="49" charset="0"/>
                <a:cs typeface="Courier New" panose="02070309020205020404" pitchFamily="49" charset="0"/>
              </a:rPr>
              <a:t>{</a:t>
            </a:r>
          </a:p>
          <a:p>
            <a:pPr marL="0" indent="0">
              <a:spcBef>
                <a:spcPts val="0"/>
              </a:spcBef>
              <a:buNone/>
            </a:pPr>
            <a:r>
              <a:rPr lang="en-GB" sz="1600" b="1">
                <a:latin typeface="Courier New" panose="02070309020205020404" pitchFamily="49" charset="0"/>
                <a:cs typeface="Courier New" panose="02070309020205020404" pitchFamily="49" charset="0"/>
              </a:rPr>
              <a:t>  pthread_t thrID[threadcount];</a:t>
            </a:r>
          </a:p>
          <a:p>
            <a:pPr marL="0" indent="0">
              <a:spcBef>
                <a:spcPts val="0"/>
              </a:spcBef>
              <a:buNone/>
            </a:pPr>
            <a:endParaRPr lang="en-GB" sz="1600" b="1">
              <a:latin typeface="Courier New" panose="02070309020205020404" pitchFamily="49" charset="0"/>
              <a:cs typeface="Courier New" panose="02070309020205020404" pitchFamily="49" charset="0"/>
            </a:endParaRPr>
          </a:p>
          <a:p>
            <a:pPr marL="0" indent="0">
              <a:spcBef>
                <a:spcPts val="0"/>
              </a:spcBef>
              <a:buNone/>
            </a:pPr>
            <a:r>
              <a:rPr lang="en-GB" sz="1600" b="1">
                <a:latin typeface="Courier New" panose="02070309020205020404" pitchFamily="49" charset="0"/>
                <a:cs typeface="Courier New" panose="02070309020205020404" pitchFamily="49" charset="0"/>
              </a:rPr>
              <a:t>  pthread_mutex_init(&amp;mutex,NULL);</a:t>
            </a:r>
          </a:p>
          <a:p>
            <a:pPr marL="0" indent="0">
              <a:spcBef>
                <a:spcPts val="0"/>
              </a:spcBef>
              <a:buNone/>
            </a:pPr>
            <a:r>
              <a:rPr lang="en-GB" sz="1600" b="1">
                <a:latin typeface="Courier New" panose="02070309020205020404" pitchFamily="49" charset="0"/>
                <a:cs typeface="Courier New" panose="02070309020205020404" pitchFamily="49" charset="0"/>
              </a:rPr>
              <a:t>  for(int i=0; i &lt; threadcount; i++)</a:t>
            </a:r>
          </a:p>
          <a:p>
            <a:pPr marL="0" indent="0">
              <a:spcBef>
                <a:spcPts val="0"/>
              </a:spcBef>
              <a:buNone/>
            </a:pPr>
            <a:r>
              <a:rPr lang="en-GB" sz="1600" b="1">
                <a:latin typeface="Courier New" panose="02070309020205020404" pitchFamily="49" charset="0"/>
                <a:cs typeface="Courier New" panose="02070309020205020404" pitchFamily="49" charset="0"/>
              </a:rPr>
              <a:t>      pthread_create(&amp;thrID[i], NULL,</a:t>
            </a:r>
          </a:p>
          <a:p>
            <a:pPr marL="0" indent="0">
              <a:spcBef>
                <a:spcPts val="0"/>
              </a:spcBef>
              <a:buNone/>
            </a:pPr>
            <a:r>
              <a:rPr lang="en-GB" sz="1600" b="1">
                <a:latin typeface="Courier New" panose="02070309020205020404" pitchFamily="49" charset="0"/>
                <a:cs typeface="Courier New" panose="02070309020205020404" pitchFamily="49" charset="0"/>
              </a:rPr>
              <a:t>                     threadmain, i);</a:t>
            </a:r>
          </a:p>
          <a:p>
            <a:pPr marL="0" indent="0">
              <a:spcBef>
                <a:spcPts val="0"/>
              </a:spcBef>
              <a:buNone/>
            </a:pPr>
            <a:r>
              <a:rPr lang="en-GB" sz="1600" b="1">
                <a:latin typeface="Courier New" panose="02070309020205020404" pitchFamily="49" charset="0"/>
                <a:cs typeface="Courier New" panose="02070309020205020404" pitchFamily="49" charset="0"/>
              </a:rPr>
              <a:t>  for(int i=0; i &lt; threadcount; i++)</a:t>
            </a:r>
          </a:p>
          <a:p>
            <a:pPr marL="0" indent="0">
              <a:spcBef>
                <a:spcPts val="0"/>
              </a:spcBef>
              <a:buNone/>
            </a:pPr>
            <a:r>
              <a:rPr lang="en-GB" sz="1600" b="1">
                <a:latin typeface="Courier New" panose="02070309020205020404" pitchFamily="49" charset="0"/>
                <a:cs typeface="Courier New" panose="02070309020205020404" pitchFamily="49" charset="0"/>
              </a:rPr>
              <a:t>      pthread_join(thrID[i], NULL);</a:t>
            </a:r>
          </a:p>
          <a:p>
            <a:pPr marL="0" indent="0">
              <a:spcBef>
                <a:spcPts val="0"/>
              </a:spcBef>
              <a:buNone/>
            </a:pPr>
            <a:r>
              <a:rPr lang="en-GB" sz="1600" b="1">
                <a:latin typeface="Courier New" panose="02070309020205020404" pitchFamily="49" charset="0"/>
                <a:cs typeface="Courier New" panose="02070309020205020404" pitchFamily="49" charset="0"/>
              </a:rPr>
              <a:t>  pthread_mutex_destroy(&amp;mutex);</a:t>
            </a:r>
          </a:p>
          <a:p>
            <a:pPr marL="0" indent="0">
              <a:spcBef>
                <a:spcPts val="0"/>
              </a:spcBef>
              <a:buNone/>
            </a:pPr>
            <a:r>
              <a:rPr lang="en-GB" sz="1600" b="1">
                <a:latin typeface="Courier New" panose="02070309020205020404" pitchFamily="49" charset="0"/>
                <a:cs typeface="Courier New" panose="02070309020205020404" pitchFamily="49" charset="0"/>
              </a:rPr>
              <a:t>}</a:t>
            </a:r>
          </a:p>
          <a:p>
            <a:pPr marL="0" indent="0">
              <a:spcBef>
                <a:spcPts val="0"/>
              </a:spcBef>
              <a:buNone/>
            </a:pPr>
            <a:endParaRPr lang="en-GB" sz="1600" b="1">
              <a:latin typeface="Courier New" panose="02070309020205020404" pitchFamily="49" charset="0"/>
              <a:cs typeface="Courier New" panose="02070309020205020404" pitchFamily="49" charset="0"/>
            </a:endParaRPr>
          </a:p>
          <a:p>
            <a:pPr marL="0" indent="0">
              <a:spcBef>
                <a:spcPts val="0"/>
              </a:spcBef>
              <a:buNone/>
            </a:pPr>
            <a:endParaRPr lang="en-GB" sz="1600" b="1">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632213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98BD6-65DC-4E69-91D9-DE049D445D97}"/>
              </a:ext>
            </a:extLst>
          </p:cNvPr>
          <p:cNvSpPr>
            <a:spLocks noGrp="1"/>
          </p:cNvSpPr>
          <p:nvPr>
            <p:ph type="title"/>
          </p:nvPr>
        </p:nvSpPr>
        <p:spPr/>
        <p:txBody>
          <a:bodyPr wrap="square" anchor="ctr">
            <a:normAutofit/>
          </a:bodyPr>
          <a:lstStyle/>
          <a:p>
            <a:r>
              <a:rPr lang="en-GB" dirty="0"/>
              <a:t>Implementing a barrier with semaphores</a:t>
            </a:r>
          </a:p>
        </p:txBody>
      </p:sp>
      <p:sp>
        <p:nvSpPr>
          <p:cNvPr id="3" name="Content Placeholder 2">
            <a:extLst>
              <a:ext uri="{FF2B5EF4-FFF2-40B4-BE49-F238E27FC236}">
                <a16:creationId xmlns:a16="http://schemas.microsoft.com/office/drawing/2014/main" id="{B7FEE19A-3A87-5926-4717-074D68A366B0}"/>
              </a:ext>
            </a:extLst>
          </p:cNvPr>
          <p:cNvSpPr>
            <a:spLocks noGrp="1"/>
          </p:cNvSpPr>
          <p:nvPr>
            <p:ph idx="1"/>
          </p:nvPr>
        </p:nvSpPr>
        <p:spPr>
          <a:xfrm>
            <a:off x="239350" y="1052737"/>
            <a:ext cx="5712634" cy="5616625"/>
          </a:xfrm>
        </p:spPr>
        <p:txBody>
          <a:bodyPr/>
          <a:lstStyle/>
          <a:p>
            <a:pPr marL="0" indent="0">
              <a:spcBef>
                <a:spcPts val="0"/>
              </a:spcBef>
              <a:buNone/>
            </a:pPr>
            <a:r>
              <a:rPr lang="en-GB" sz="1600" b="1" dirty="0">
                <a:latin typeface="Courier New" panose="02070309020205020404" pitchFamily="49" charset="0"/>
                <a:cs typeface="Courier New" panose="02070309020205020404" pitchFamily="49" charset="0"/>
              </a:rPr>
              <a:t>int </a:t>
            </a:r>
            <a:r>
              <a:rPr lang="en-GB" sz="1600" b="1" dirty="0" err="1">
                <a:latin typeface="Courier New" panose="02070309020205020404" pitchFamily="49" charset="0"/>
                <a:cs typeface="Courier New" panose="02070309020205020404" pitchFamily="49" charset="0"/>
              </a:rPr>
              <a:t>threadcount</a:t>
            </a:r>
            <a:r>
              <a:rPr lang="en-GB" sz="1600" b="1" dirty="0">
                <a:latin typeface="Courier New" panose="02070309020205020404" pitchFamily="49" charset="0"/>
                <a:cs typeface="Courier New" panose="02070309020205020404" pitchFamily="49" charset="0"/>
              </a:rPr>
              <a:t>=5;</a:t>
            </a:r>
          </a:p>
          <a:p>
            <a:pPr marL="0" indent="0">
              <a:spcBef>
                <a:spcPts val="0"/>
              </a:spcBef>
              <a:buNone/>
            </a:pPr>
            <a:r>
              <a:rPr lang="en-GB" sz="1600" b="1" dirty="0" err="1">
                <a:latin typeface="Courier New" panose="02070309020205020404" pitchFamily="49" charset="0"/>
                <a:cs typeface="Courier New" panose="02070309020205020404" pitchFamily="49" charset="0"/>
              </a:rPr>
              <a:t>sem_t</a:t>
            </a:r>
            <a:r>
              <a:rPr lang="en-GB" sz="1600" b="1" dirty="0">
                <a:latin typeface="Courier New" panose="02070309020205020404" pitchFamily="49" charset="0"/>
                <a:cs typeface="Courier New" panose="02070309020205020404" pitchFamily="49" charset="0"/>
              </a:rPr>
              <a:t> </a:t>
            </a:r>
            <a:r>
              <a:rPr lang="en-GB" sz="1600" b="1" dirty="0" err="1">
                <a:latin typeface="Courier New" panose="02070309020205020404" pitchFamily="49" charset="0"/>
                <a:cs typeface="Courier New" panose="02070309020205020404" pitchFamily="49" charset="0"/>
              </a:rPr>
              <a:t>semaBarrier</a:t>
            </a:r>
            <a:r>
              <a:rPr lang="en-GB" sz="1600" b="1" dirty="0">
                <a:latin typeface="Courier New" panose="02070309020205020404" pitchFamily="49" charset="0"/>
                <a:cs typeface="Courier New" panose="02070309020205020404" pitchFamily="49" charset="0"/>
              </a:rPr>
              <a:t>; </a:t>
            </a:r>
          </a:p>
          <a:p>
            <a:pPr marL="0" indent="0">
              <a:spcBef>
                <a:spcPts val="0"/>
              </a:spcBef>
              <a:buNone/>
            </a:pPr>
            <a:r>
              <a:rPr lang="en-GB" sz="1600" b="1" dirty="0" err="1">
                <a:latin typeface="Courier New" panose="02070309020205020404" pitchFamily="49" charset="0"/>
                <a:cs typeface="Courier New" panose="02070309020205020404" pitchFamily="49" charset="0"/>
              </a:rPr>
              <a:t>sem_t</a:t>
            </a:r>
            <a:r>
              <a:rPr lang="en-GB" sz="1600" b="1" dirty="0">
                <a:latin typeface="Courier New" panose="02070309020205020404" pitchFamily="49" charset="0"/>
                <a:cs typeface="Courier New" panose="02070309020205020404" pitchFamily="49" charset="0"/>
              </a:rPr>
              <a:t> </a:t>
            </a:r>
            <a:r>
              <a:rPr lang="en-GB" sz="1600" b="1" dirty="0" err="1">
                <a:latin typeface="Courier New" panose="02070309020205020404" pitchFamily="49" charset="0"/>
                <a:cs typeface="Courier New" panose="02070309020205020404" pitchFamily="49" charset="0"/>
              </a:rPr>
              <a:t>semaCounter</a:t>
            </a:r>
            <a:r>
              <a:rPr lang="en-GB" sz="1600" b="1" dirty="0">
                <a:latin typeface="Courier New" panose="02070309020205020404" pitchFamily="49" charset="0"/>
                <a:cs typeface="Courier New" panose="02070309020205020404" pitchFamily="49" charset="0"/>
              </a:rPr>
              <a:t>; </a:t>
            </a:r>
          </a:p>
          <a:p>
            <a:pPr marL="0" indent="0">
              <a:spcBef>
                <a:spcPts val="0"/>
              </a:spcBef>
              <a:buNone/>
            </a:pPr>
            <a:endParaRPr lang="en-GB" sz="1600" b="1" dirty="0">
              <a:latin typeface="Courier New" panose="02070309020205020404" pitchFamily="49" charset="0"/>
              <a:cs typeface="Courier New" panose="02070309020205020404" pitchFamily="49" charset="0"/>
            </a:endParaRPr>
          </a:p>
          <a:p>
            <a:pPr marL="0" indent="0">
              <a:spcBef>
                <a:spcPts val="0"/>
              </a:spcBef>
              <a:buNone/>
            </a:pPr>
            <a:r>
              <a:rPr lang="en-GB" sz="1600" b="1" dirty="0">
                <a:latin typeface="Courier New" panose="02070309020205020404" pitchFamily="49" charset="0"/>
                <a:cs typeface="Courier New" panose="02070309020205020404" pitchFamily="49" charset="0"/>
              </a:rPr>
              <a:t>void *</a:t>
            </a:r>
            <a:r>
              <a:rPr lang="en-GB" sz="1600" b="1" dirty="0" err="1">
                <a:latin typeface="Courier New" panose="02070309020205020404" pitchFamily="49" charset="0"/>
                <a:cs typeface="Courier New" panose="02070309020205020404" pitchFamily="49" charset="0"/>
              </a:rPr>
              <a:t>threadmain</a:t>
            </a:r>
            <a:r>
              <a:rPr lang="en-GB" sz="1600" b="1" dirty="0">
                <a:latin typeface="Courier New" panose="02070309020205020404" pitchFamily="49" charset="0"/>
                <a:cs typeface="Courier New" panose="02070309020205020404" pitchFamily="49" charset="0"/>
              </a:rPr>
              <a:t>(void *p)</a:t>
            </a:r>
          </a:p>
          <a:p>
            <a:pPr marL="0" indent="0">
              <a:spcBef>
                <a:spcPts val="0"/>
              </a:spcBef>
              <a:buNone/>
            </a:pPr>
            <a:r>
              <a:rPr lang="en-GB" sz="1600" b="1" dirty="0">
                <a:latin typeface="Courier New" panose="02070309020205020404" pitchFamily="49" charset="0"/>
                <a:cs typeface="Courier New" panose="02070309020205020404" pitchFamily="49" charset="0"/>
              </a:rPr>
              <a:t>{</a:t>
            </a:r>
          </a:p>
          <a:p>
            <a:pPr marL="0" indent="0">
              <a:spcBef>
                <a:spcPts val="0"/>
              </a:spcBef>
              <a:buNone/>
            </a:pPr>
            <a:r>
              <a:rPr lang="en-GB" sz="1600" b="1" dirty="0">
                <a:latin typeface="Courier New" panose="02070309020205020404" pitchFamily="49" charset="0"/>
                <a:cs typeface="Courier New" panose="02070309020205020404" pitchFamily="49" charset="0"/>
              </a:rPr>
              <a:t>    int </a:t>
            </a:r>
            <a:r>
              <a:rPr lang="en-GB" sz="1600" b="1" dirty="0" err="1">
                <a:latin typeface="Courier New" panose="02070309020205020404" pitchFamily="49" charset="0"/>
                <a:cs typeface="Courier New" panose="02070309020205020404" pitchFamily="49" charset="0"/>
              </a:rPr>
              <a:t>semaValue</a:t>
            </a:r>
            <a:r>
              <a:rPr lang="en-GB" sz="1600" b="1" dirty="0">
                <a:latin typeface="Courier New" panose="02070309020205020404" pitchFamily="49" charset="0"/>
                <a:cs typeface="Courier New" panose="02070309020205020404" pitchFamily="49" charset="0"/>
              </a:rPr>
              <a:t>;</a:t>
            </a:r>
          </a:p>
          <a:p>
            <a:pPr marL="0" indent="0">
              <a:spcBef>
                <a:spcPts val="0"/>
              </a:spcBef>
              <a:buNone/>
            </a:pPr>
            <a:r>
              <a:rPr lang="en-GB" sz="1600" b="1" dirty="0">
                <a:latin typeface="Courier New" panose="02070309020205020404" pitchFamily="49" charset="0"/>
                <a:cs typeface="Courier New" panose="02070309020205020404" pitchFamily="49" charset="0"/>
              </a:rPr>
              <a:t>    </a:t>
            </a:r>
            <a:r>
              <a:rPr lang="en-GB" sz="1600" b="1" dirty="0" err="1">
                <a:latin typeface="Courier New" panose="02070309020205020404" pitchFamily="49" charset="0"/>
                <a:cs typeface="Courier New" panose="02070309020205020404" pitchFamily="49" charset="0"/>
              </a:rPr>
              <a:t>usleep</a:t>
            </a:r>
            <a:r>
              <a:rPr lang="en-GB" sz="1600" b="1" dirty="0">
                <a:latin typeface="Courier New" panose="02070309020205020404" pitchFamily="49" charset="0"/>
                <a:cs typeface="Courier New" panose="02070309020205020404" pitchFamily="49" charset="0"/>
              </a:rPr>
              <a:t>((long)p * 1000000);</a:t>
            </a:r>
          </a:p>
          <a:p>
            <a:pPr marL="0" indent="0">
              <a:spcBef>
                <a:spcPts val="0"/>
              </a:spcBef>
              <a:buNone/>
            </a:pPr>
            <a:r>
              <a:rPr lang="en-GB" sz="1600" b="1" dirty="0">
                <a:latin typeface="Courier New" panose="02070309020205020404" pitchFamily="49" charset="0"/>
                <a:cs typeface="Courier New" panose="02070309020205020404" pitchFamily="49" charset="0"/>
              </a:rPr>
              <a:t>    </a:t>
            </a:r>
            <a:r>
              <a:rPr lang="en-GB" sz="1600" b="1" dirty="0" err="1">
                <a:latin typeface="Courier New" panose="02070309020205020404" pitchFamily="49" charset="0"/>
                <a:cs typeface="Courier New" panose="02070309020205020404" pitchFamily="49" charset="0"/>
              </a:rPr>
              <a:t>printf</a:t>
            </a:r>
            <a:r>
              <a:rPr lang="en-GB" sz="1600" b="1" dirty="0">
                <a:latin typeface="Courier New" panose="02070309020205020404" pitchFamily="49" charset="0"/>
                <a:cs typeface="Courier New" panose="02070309020205020404" pitchFamily="49" charset="0"/>
              </a:rPr>
              <a:t>("Thread %</a:t>
            </a:r>
            <a:r>
              <a:rPr lang="en-GB" sz="1600" b="1" dirty="0" err="1">
                <a:latin typeface="Courier New" panose="02070309020205020404" pitchFamily="49" charset="0"/>
                <a:cs typeface="Courier New" panose="02070309020205020404" pitchFamily="49" charset="0"/>
              </a:rPr>
              <a:t>ld</a:t>
            </a:r>
            <a:r>
              <a:rPr lang="en-GB" sz="1600" b="1" dirty="0">
                <a:latin typeface="Courier New" panose="02070309020205020404" pitchFamily="49" charset="0"/>
                <a:cs typeface="Courier New" panose="02070309020205020404" pitchFamily="49" charset="0"/>
              </a:rPr>
              <a:t> reach barrier\n", p);</a:t>
            </a:r>
          </a:p>
          <a:p>
            <a:pPr marL="0" indent="0">
              <a:spcBef>
                <a:spcPts val="0"/>
              </a:spcBef>
              <a:buNone/>
            </a:pPr>
            <a:r>
              <a:rPr lang="en-GB" sz="1600" b="1" dirty="0">
                <a:latin typeface="Courier New" panose="02070309020205020404" pitchFamily="49" charset="0"/>
                <a:cs typeface="Courier New" panose="02070309020205020404" pitchFamily="49" charset="0"/>
              </a:rPr>
              <a:t>    </a:t>
            </a:r>
            <a:r>
              <a:rPr lang="en-GB" sz="1600" b="1" dirty="0" err="1">
                <a:latin typeface="Courier New" panose="02070309020205020404" pitchFamily="49" charset="0"/>
                <a:cs typeface="Courier New" panose="02070309020205020404" pitchFamily="49" charset="0"/>
              </a:rPr>
              <a:t>sem_post</a:t>
            </a:r>
            <a:r>
              <a:rPr lang="en-GB" sz="1600" b="1" dirty="0">
                <a:latin typeface="Courier New" panose="02070309020205020404" pitchFamily="49" charset="0"/>
                <a:cs typeface="Courier New" panose="02070309020205020404" pitchFamily="49" charset="0"/>
              </a:rPr>
              <a:t>(&amp;</a:t>
            </a:r>
            <a:r>
              <a:rPr lang="en-GB" sz="1600" b="1" dirty="0" err="1">
                <a:latin typeface="Courier New" panose="02070309020205020404" pitchFamily="49" charset="0"/>
                <a:cs typeface="Courier New" panose="02070309020205020404" pitchFamily="49" charset="0"/>
              </a:rPr>
              <a:t>semaCounter</a:t>
            </a:r>
            <a:r>
              <a:rPr lang="en-GB" sz="1600" b="1" dirty="0">
                <a:latin typeface="Courier New" panose="02070309020205020404" pitchFamily="49" charset="0"/>
                <a:cs typeface="Courier New" panose="02070309020205020404" pitchFamily="49" charset="0"/>
              </a:rPr>
              <a:t>);</a:t>
            </a:r>
          </a:p>
          <a:p>
            <a:pPr marL="0" indent="0">
              <a:spcBef>
                <a:spcPts val="0"/>
              </a:spcBef>
              <a:buNone/>
            </a:pPr>
            <a:r>
              <a:rPr lang="en-GB" sz="1600" b="1" dirty="0">
                <a:latin typeface="Courier New" panose="02070309020205020404" pitchFamily="49" charset="0"/>
                <a:cs typeface="Courier New" panose="02070309020205020404" pitchFamily="49" charset="0"/>
              </a:rPr>
              <a:t>    </a:t>
            </a:r>
            <a:r>
              <a:rPr lang="en-GB" sz="1600" b="1" dirty="0" err="1">
                <a:latin typeface="Courier New" panose="02070309020205020404" pitchFamily="49" charset="0"/>
                <a:cs typeface="Courier New" panose="02070309020205020404" pitchFamily="49" charset="0"/>
              </a:rPr>
              <a:t>sem_getvalue</a:t>
            </a:r>
            <a:r>
              <a:rPr lang="en-GB" sz="1600" b="1" dirty="0">
                <a:latin typeface="Courier New" panose="02070309020205020404" pitchFamily="49" charset="0"/>
                <a:cs typeface="Courier New" panose="02070309020205020404" pitchFamily="49" charset="0"/>
              </a:rPr>
              <a:t>(&amp;</a:t>
            </a:r>
            <a:r>
              <a:rPr lang="en-GB" sz="1600" b="1" dirty="0" err="1">
                <a:latin typeface="Courier New" panose="02070309020205020404" pitchFamily="49" charset="0"/>
                <a:cs typeface="Courier New" panose="02070309020205020404" pitchFamily="49" charset="0"/>
              </a:rPr>
              <a:t>semaCounter</a:t>
            </a:r>
            <a:r>
              <a:rPr lang="en-GB" sz="1600" b="1" dirty="0">
                <a:latin typeface="Courier New" panose="02070309020205020404" pitchFamily="49" charset="0"/>
                <a:cs typeface="Courier New" panose="02070309020205020404" pitchFamily="49" charset="0"/>
              </a:rPr>
              <a:t>, &amp;</a:t>
            </a:r>
            <a:r>
              <a:rPr lang="en-GB" sz="1600" b="1" dirty="0" err="1">
                <a:latin typeface="Courier New" panose="02070309020205020404" pitchFamily="49" charset="0"/>
                <a:cs typeface="Courier New" panose="02070309020205020404" pitchFamily="49" charset="0"/>
              </a:rPr>
              <a:t>semaValue</a:t>
            </a:r>
            <a:r>
              <a:rPr lang="en-GB" sz="1600" b="1" dirty="0">
                <a:latin typeface="Courier New" panose="02070309020205020404" pitchFamily="49" charset="0"/>
                <a:cs typeface="Courier New" panose="02070309020205020404" pitchFamily="49" charset="0"/>
              </a:rPr>
              <a:t>);</a:t>
            </a:r>
          </a:p>
          <a:p>
            <a:pPr marL="0" indent="0">
              <a:spcBef>
                <a:spcPts val="0"/>
              </a:spcBef>
              <a:buNone/>
            </a:pPr>
            <a:r>
              <a:rPr lang="en-GB" sz="1600" b="1" dirty="0">
                <a:latin typeface="Courier New" panose="02070309020205020404" pitchFamily="49" charset="0"/>
                <a:cs typeface="Courier New" panose="02070309020205020404" pitchFamily="49" charset="0"/>
              </a:rPr>
              <a:t>    if(</a:t>
            </a:r>
            <a:r>
              <a:rPr lang="en-GB" sz="1600" b="1" dirty="0" err="1">
                <a:latin typeface="Courier New" panose="02070309020205020404" pitchFamily="49" charset="0"/>
                <a:cs typeface="Courier New" panose="02070309020205020404" pitchFamily="49" charset="0"/>
              </a:rPr>
              <a:t>semaValue</a:t>
            </a:r>
            <a:r>
              <a:rPr lang="en-GB" sz="1600" b="1" dirty="0">
                <a:latin typeface="Courier New" panose="02070309020205020404" pitchFamily="49" charset="0"/>
                <a:cs typeface="Courier New" panose="02070309020205020404" pitchFamily="49" charset="0"/>
              </a:rPr>
              <a:t> == </a:t>
            </a:r>
            <a:r>
              <a:rPr lang="en-GB" sz="1600" b="1" dirty="0" err="1">
                <a:latin typeface="Courier New" panose="02070309020205020404" pitchFamily="49" charset="0"/>
                <a:cs typeface="Courier New" panose="02070309020205020404" pitchFamily="49" charset="0"/>
              </a:rPr>
              <a:t>threadcount</a:t>
            </a:r>
            <a:r>
              <a:rPr lang="en-GB" sz="1600" b="1" dirty="0">
                <a:latin typeface="Courier New" panose="02070309020205020404" pitchFamily="49" charset="0"/>
                <a:cs typeface="Courier New" panose="02070309020205020404" pitchFamily="49" charset="0"/>
              </a:rPr>
              <a:t>)</a:t>
            </a:r>
          </a:p>
          <a:p>
            <a:pPr marL="0" indent="0">
              <a:spcBef>
                <a:spcPts val="0"/>
              </a:spcBef>
              <a:buNone/>
            </a:pPr>
            <a:r>
              <a:rPr lang="en-GB" sz="1600" b="1" dirty="0">
                <a:latin typeface="Courier New" panose="02070309020205020404" pitchFamily="49" charset="0"/>
                <a:cs typeface="Courier New" panose="02070309020205020404" pitchFamily="49" charset="0"/>
              </a:rPr>
              <a:t>        for(int </a:t>
            </a:r>
            <a:r>
              <a:rPr lang="en-GB" sz="1600" b="1" dirty="0" err="1">
                <a:latin typeface="Courier New" panose="02070309020205020404" pitchFamily="49" charset="0"/>
                <a:cs typeface="Courier New" panose="02070309020205020404" pitchFamily="49" charset="0"/>
              </a:rPr>
              <a:t>i</a:t>
            </a:r>
            <a:r>
              <a:rPr lang="en-GB" sz="1600" b="1" dirty="0">
                <a:latin typeface="Courier New" panose="02070309020205020404" pitchFamily="49" charset="0"/>
                <a:cs typeface="Courier New" panose="02070309020205020404" pitchFamily="49" charset="0"/>
              </a:rPr>
              <a:t> =0; </a:t>
            </a:r>
            <a:r>
              <a:rPr lang="en-GB" sz="1600" b="1" dirty="0" err="1">
                <a:latin typeface="Courier New" panose="02070309020205020404" pitchFamily="49" charset="0"/>
                <a:cs typeface="Courier New" panose="02070309020205020404" pitchFamily="49" charset="0"/>
              </a:rPr>
              <a:t>i</a:t>
            </a:r>
            <a:r>
              <a:rPr lang="en-GB" sz="1600" b="1" dirty="0">
                <a:latin typeface="Courier New" panose="02070309020205020404" pitchFamily="49" charset="0"/>
                <a:cs typeface="Courier New" panose="02070309020205020404" pitchFamily="49" charset="0"/>
              </a:rPr>
              <a:t> &lt; </a:t>
            </a:r>
            <a:r>
              <a:rPr lang="en-GB" sz="1600" b="1" dirty="0" err="1">
                <a:latin typeface="Courier New" panose="02070309020205020404" pitchFamily="49" charset="0"/>
                <a:cs typeface="Courier New" panose="02070309020205020404" pitchFamily="49" charset="0"/>
              </a:rPr>
              <a:t>threadcount</a:t>
            </a:r>
            <a:r>
              <a:rPr lang="en-GB" sz="1600" b="1" dirty="0">
                <a:latin typeface="Courier New" panose="02070309020205020404" pitchFamily="49" charset="0"/>
                <a:cs typeface="Courier New" panose="02070309020205020404" pitchFamily="49" charset="0"/>
              </a:rPr>
              <a:t>; </a:t>
            </a:r>
            <a:r>
              <a:rPr lang="en-GB" sz="1600" b="1" dirty="0" err="1">
                <a:latin typeface="Courier New" panose="02070309020205020404" pitchFamily="49" charset="0"/>
                <a:cs typeface="Courier New" panose="02070309020205020404" pitchFamily="49" charset="0"/>
              </a:rPr>
              <a:t>i</a:t>
            </a:r>
            <a:r>
              <a:rPr lang="en-GB" sz="1600" b="1" dirty="0">
                <a:latin typeface="Courier New" panose="02070309020205020404" pitchFamily="49" charset="0"/>
                <a:cs typeface="Courier New" panose="02070309020205020404" pitchFamily="49" charset="0"/>
              </a:rPr>
              <a:t>++)</a:t>
            </a:r>
          </a:p>
          <a:p>
            <a:pPr marL="0" indent="0">
              <a:spcBef>
                <a:spcPts val="0"/>
              </a:spcBef>
              <a:buNone/>
            </a:pPr>
            <a:r>
              <a:rPr lang="en-GB" sz="1600" b="1" dirty="0">
                <a:latin typeface="Courier New" panose="02070309020205020404" pitchFamily="49" charset="0"/>
                <a:cs typeface="Courier New" panose="02070309020205020404" pitchFamily="49" charset="0"/>
              </a:rPr>
              <a:t>            </a:t>
            </a:r>
            <a:r>
              <a:rPr lang="en-GB" sz="1600" b="1" dirty="0" err="1">
                <a:latin typeface="Courier New" panose="02070309020205020404" pitchFamily="49" charset="0"/>
                <a:cs typeface="Courier New" panose="02070309020205020404" pitchFamily="49" charset="0"/>
              </a:rPr>
              <a:t>sem_post</a:t>
            </a:r>
            <a:r>
              <a:rPr lang="en-GB" sz="1600" b="1" dirty="0">
                <a:latin typeface="Courier New" panose="02070309020205020404" pitchFamily="49" charset="0"/>
                <a:cs typeface="Courier New" panose="02070309020205020404" pitchFamily="49" charset="0"/>
              </a:rPr>
              <a:t>(&amp;</a:t>
            </a:r>
            <a:r>
              <a:rPr lang="en-GB" sz="1600" b="1" dirty="0" err="1">
                <a:latin typeface="Courier New" panose="02070309020205020404" pitchFamily="49" charset="0"/>
                <a:cs typeface="Courier New" panose="02070309020205020404" pitchFamily="49" charset="0"/>
              </a:rPr>
              <a:t>semaBarrier</a:t>
            </a:r>
            <a:r>
              <a:rPr lang="en-GB" sz="1600" b="1" dirty="0">
                <a:latin typeface="Courier New" panose="02070309020205020404" pitchFamily="49" charset="0"/>
                <a:cs typeface="Courier New" panose="02070309020205020404" pitchFamily="49" charset="0"/>
              </a:rPr>
              <a:t>);</a:t>
            </a:r>
          </a:p>
          <a:p>
            <a:pPr marL="0" indent="0">
              <a:spcBef>
                <a:spcPts val="0"/>
              </a:spcBef>
              <a:buNone/>
            </a:pPr>
            <a:r>
              <a:rPr lang="en-GB" sz="1600" b="1" dirty="0">
                <a:latin typeface="Courier New" panose="02070309020205020404" pitchFamily="49" charset="0"/>
                <a:cs typeface="Courier New" panose="02070309020205020404" pitchFamily="49" charset="0"/>
              </a:rPr>
              <a:t>    else</a:t>
            </a:r>
          </a:p>
          <a:p>
            <a:pPr marL="0" indent="0">
              <a:spcBef>
                <a:spcPts val="0"/>
              </a:spcBef>
              <a:buNone/>
            </a:pPr>
            <a:r>
              <a:rPr lang="en-GB" sz="1600" b="1" dirty="0">
                <a:latin typeface="Courier New" panose="02070309020205020404" pitchFamily="49" charset="0"/>
                <a:cs typeface="Courier New" panose="02070309020205020404" pitchFamily="49" charset="0"/>
              </a:rPr>
              <a:t>        </a:t>
            </a:r>
            <a:r>
              <a:rPr lang="en-GB" sz="1600" b="1" dirty="0" err="1">
                <a:latin typeface="Courier New" panose="02070309020205020404" pitchFamily="49" charset="0"/>
                <a:cs typeface="Courier New" panose="02070309020205020404" pitchFamily="49" charset="0"/>
              </a:rPr>
              <a:t>sem_wait</a:t>
            </a:r>
            <a:r>
              <a:rPr lang="en-GB" sz="1600" b="1" dirty="0">
                <a:latin typeface="Courier New" panose="02070309020205020404" pitchFamily="49" charset="0"/>
                <a:cs typeface="Courier New" panose="02070309020205020404" pitchFamily="49" charset="0"/>
              </a:rPr>
              <a:t>(&amp;</a:t>
            </a:r>
            <a:r>
              <a:rPr lang="en-GB" sz="1600" b="1" dirty="0" err="1">
                <a:latin typeface="Courier New" panose="02070309020205020404" pitchFamily="49" charset="0"/>
                <a:cs typeface="Courier New" panose="02070309020205020404" pitchFamily="49" charset="0"/>
              </a:rPr>
              <a:t>semaBarrier</a:t>
            </a:r>
            <a:r>
              <a:rPr lang="en-GB" sz="1600" b="1" dirty="0">
                <a:latin typeface="Courier New" panose="02070309020205020404" pitchFamily="49" charset="0"/>
                <a:cs typeface="Courier New" panose="02070309020205020404" pitchFamily="49" charset="0"/>
              </a:rPr>
              <a:t>);</a:t>
            </a:r>
          </a:p>
          <a:p>
            <a:pPr marL="0" indent="0">
              <a:spcBef>
                <a:spcPts val="0"/>
              </a:spcBef>
              <a:buNone/>
            </a:pPr>
            <a:r>
              <a:rPr lang="en-GB" sz="1600" b="1" dirty="0">
                <a:latin typeface="Courier New" panose="02070309020205020404" pitchFamily="49" charset="0"/>
                <a:cs typeface="Courier New" panose="02070309020205020404" pitchFamily="49" charset="0"/>
              </a:rPr>
              <a:t>    </a:t>
            </a:r>
            <a:r>
              <a:rPr lang="en-GB" sz="1600" b="1" dirty="0" err="1">
                <a:latin typeface="Courier New" panose="02070309020205020404" pitchFamily="49" charset="0"/>
                <a:cs typeface="Courier New" panose="02070309020205020404" pitchFamily="49" charset="0"/>
              </a:rPr>
              <a:t>printf</a:t>
            </a:r>
            <a:r>
              <a:rPr lang="en-GB" sz="1600" b="1" dirty="0">
                <a:latin typeface="Courier New" panose="02070309020205020404" pitchFamily="49" charset="0"/>
                <a:cs typeface="Courier New" panose="02070309020205020404" pitchFamily="49" charset="0"/>
              </a:rPr>
              <a:t>("Thread %</a:t>
            </a:r>
            <a:r>
              <a:rPr lang="en-GB" sz="1600" b="1" dirty="0" err="1">
                <a:latin typeface="Courier New" panose="02070309020205020404" pitchFamily="49" charset="0"/>
                <a:cs typeface="Courier New" panose="02070309020205020404" pitchFamily="49" charset="0"/>
              </a:rPr>
              <a:t>ld</a:t>
            </a:r>
            <a:r>
              <a:rPr lang="en-GB" sz="1600" b="1" dirty="0">
                <a:latin typeface="Courier New" panose="02070309020205020404" pitchFamily="49" charset="0"/>
                <a:cs typeface="Courier New" panose="02070309020205020404" pitchFamily="49" charset="0"/>
              </a:rPr>
              <a:t> passed barrier\n", p);</a:t>
            </a:r>
          </a:p>
          <a:p>
            <a:pPr marL="0" indent="0">
              <a:spcBef>
                <a:spcPts val="0"/>
              </a:spcBef>
              <a:buNone/>
            </a:pPr>
            <a:r>
              <a:rPr lang="en-GB" sz="1600" b="1" dirty="0">
                <a:latin typeface="Courier New" panose="02070309020205020404" pitchFamily="49" charset="0"/>
                <a:cs typeface="Courier New" panose="02070309020205020404" pitchFamily="49" charset="0"/>
              </a:rPr>
              <a:t>    return NULL;</a:t>
            </a:r>
          </a:p>
          <a:p>
            <a:pPr marL="0" indent="0">
              <a:spcBef>
                <a:spcPts val="0"/>
              </a:spcBef>
              <a:buNone/>
            </a:pPr>
            <a:r>
              <a:rPr lang="en-GB" sz="1600" b="1" dirty="0">
                <a:latin typeface="Courier New" panose="02070309020205020404" pitchFamily="49" charset="0"/>
                <a:cs typeface="Courier New" panose="02070309020205020404" pitchFamily="49" charset="0"/>
              </a:rPr>
              <a:t>}</a:t>
            </a:r>
          </a:p>
        </p:txBody>
      </p:sp>
      <p:sp>
        <p:nvSpPr>
          <p:cNvPr id="4" name="Content Placeholder 2">
            <a:extLst>
              <a:ext uri="{FF2B5EF4-FFF2-40B4-BE49-F238E27FC236}">
                <a16:creationId xmlns:a16="http://schemas.microsoft.com/office/drawing/2014/main" id="{45382AB1-3CDB-B6AE-7CB4-26EA99A9EBE7}"/>
              </a:ext>
            </a:extLst>
          </p:cNvPr>
          <p:cNvSpPr txBox="1">
            <a:spLocks/>
          </p:cNvSpPr>
          <p:nvPr/>
        </p:nvSpPr>
        <p:spPr bwMode="auto">
          <a:xfrm>
            <a:off x="7176120" y="1052736"/>
            <a:ext cx="4896544" cy="561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884" indent="-342884" algn="l" rtl="0" eaLnBrk="1" fontAlgn="base" hangingPunct="1">
              <a:spcBef>
                <a:spcPct val="20000"/>
              </a:spcBef>
              <a:spcAft>
                <a:spcPct val="0"/>
              </a:spcAft>
              <a:buChar char="•"/>
              <a:defRPr sz="3200">
                <a:solidFill>
                  <a:schemeClr val="tx1"/>
                </a:solidFill>
                <a:latin typeface="+mn-lt"/>
                <a:ea typeface="+mn-ea"/>
                <a:cs typeface="+mn-cs"/>
              </a:defRPr>
            </a:lvl1pPr>
            <a:lvl2pPr marL="742913" indent="-285736" algn="l" rtl="0" eaLnBrk="1" fontAlgn="base" hangingPunct="1">
              <a:spcBef>
                <a:spcPct val="20000"/>
              </a:spcBef>
              <a:spcAft>
                <a:spcPct val="0"/>
              </a:spcAft>
              <a:buChar char="–"/>
              <a:defRPr sz="2800">
                <a:solidFill>
                  <a:schemeClr val="tx1"/>
                </a:solidFill>
                <a:latin typeface="+mn-lt"/>
              </a:defRPr>
            </a:lvl2pPr>
            <a:lvl3pPr marL="1142944" indent="-228588" algn="l" rtl="0" eaLnBrk="1" fontAlgn="base" hangingPunct="1">
              <a:spcBef>
                <a:spcPct val="20000"/>
              </a:spcBef>
              <a:spcAft>
                <a:spcPct val="0"/>
              </a:spcAft>
              <a:buChar char="•"/>
              <a:defRPr sz="2400">
                <a:solidFill>
                  <a:schemeClr val="tx1"/>
                </a:solidFill>
                <a:latin typeface="+mn-lt"/>
              </a:defRPr>
            </a:lvl3pPr>
            <a:lvl4pPr marL="1600120" indent="-228588" algn="l" rtl="0" eaLnBrk="1" fontAlgn="base" hangingPunct="1">
              <a:spcBef>
                <a:spcPct val="20000"/>
              </a:spcBef>
              <a:spcAft>
                <a:spcPct val="0"/>
              </a:spcAft>
              <a:buChar char="–"/>
              <a:defRPr sz="2000">
                <a:solidFill>
                  <a:schemeClr val="tx1"/>
                </a:solidFill>
                <a:latin typeface="+mn-lt"/>
              </a:defRPr>
            </a:lvl4pPr>
            <a:lvl5pPr marL="2057297" indent="-228588" algn="l" rtl="0" eaLnBrk="1" fontAlgn="base" hangingPunct="1">
              <a:spcBef>
                <a:spcPct val="20000"/>
              </a:spcBef>
              <a:spcAft>
                <a:spcPct val="0"/>
              </a:spcAft>
              <a:buChar char="»"/>
              <a:defRPr sz="2000">
                <a:solidFill>
                  <a:schemeClr val="tx1"/>
                </a:solidFill>
                <a:latin typeface="+mn-lt"/>
              </a:defRPr>
            </a:lvl5pPr>
            <a:lvl6pPr marL="2514474" indent="-228588" algn="l" rtl="0" eaLnBrk="1" fontAlgn="base" hangingPunct="1">
              <a:spcBef>
                <a:spcPct val="20000"/>
              </a:spcBef>
              <a:spcAft>
                <a:spcPct val="0"/>
              </a:spcAft>
              <a:buChar char="»"/>
              <a:defRPr sz="2000">
                <a:solidFill>
                  <a:schemeClr val="tx1"/>
                </a:solidFill>
                <a:latin typeface="+mn-lt"/>
              </a:defRPr>
            </a:lvl6pPr>
            <a:lvl7pPr marL="2971652" indent="-228588" algn="l" rtl="0" eaLnBrk="1" fontAlgn="base" hangingPunct="1">
              <a:spcBef>
                <a:spcPct val="20000"/>
              </a:spcBef>
              <a:spcAft>
                <a:spcPct val="0"/>
              </a:spcAft>
              <a:buChar char="»"/>
              <a:defRPr sz="2000">
                <a:solidFill>
                  <a:schemeClr val="tx1"/>
                </a:solidFill>
                <a:latin typeface="+mn-lt"/>
              </a:defRPr>
            </a:lvl7pPr>
            <a:lvl8pPr marL="3428829" indent="-228588" algn="l" rtl="0" eaLnBrk="1" fontAlgn="base" hangingPunct="1">
              <a:spcBef>
                <a:spcPct val="20000"/>
              </a:spcBef>
              <a:spcAft>
                <a:spcPct val="0"/>
              </a:spcAft>
              <a:buChar char="»"/>
              <a:defRPr sz="2000">
                <a:solidFill>
                  <a:schemeClr val="tx1"/>
                </a:solidFill>
                <a:latin typeface="+mn-lt"/>
              </a:defRPr>
            </a:lvl8pPr>
            <a:lvl9pPr marL="3886006" indent="-228588" algn="l" rtl="0" eaLnBrk="1" fontAlgn="base" hangingPunct="1">
              <a:spcBef>
                <a:spcPct val="20000"/>
              </a:spcBef>
              <a:spcAft>
                <a:spcPct val="0"/>
              </a:spcAft>
              <a:buChar char="»"/>
              <a:defRPr sz="2000">
                <a:solidFill>
                  <a:schemeClr val="tx1"/>
                </a:solidFill>
                <a:latin typeface="+mn-lt"/>
              </a:defRPr>
            </a:lvl9pPr>
          </a:lstStyle>
          <a:p>
            <a:pPr marL="0" indent="0">
              <a:spcBef>
                <a:spcPts val="0"/>
              </a:spcBef>
              <a:buNone/>
            </a:pPr>
            <a:endParaRPr lang="en-GB" sz="1600" b="1" dirty="0">
              <a:latin typeface="Courier New" panose="02070309020205020404" pitchFamily="49" charset="0"/>
              <a:cs typeface="Courier New" panose="02070309020205020404" pitchFamily="49" charset="0"/>
            </a:endParaRPr>
          </a:p>
          <a:p>
            <a:pPr marL="0" indent="0">
              <a:spcBef>
                <a:spcPts val="0"/>
              </a:spcBef>
              <a:buNone/>
            </a:pPr>
            <a:r>
              <a:rPr lang="en-GB" sz="1600" b="1" dirty="0">
                <a:latin typeface="Courier New" panose="02070309020205020404" pitchFamily="49" charset="0"/>
                <a:cs typeface="Courier New" panose="02070309020205020404" pitchFamily="49" charset="0"/>
              </a:rPr>
              <a:t>void main()</a:t>
            </a:r>
          </a:p>
          <a:p>
            <a:pPr marL="0" indent="0">
              <a:spcBef>
                <a:spcPts val="0"/>
              </a:spcBef>
              <a:buNone/>
            </a:pPr>
            <a:r>
              <a:rPr lang="en-GB" sz="1600" b="1" dirty="0">
                <a:latin typeface="Courier New" panose="02070309020205020404" pitchFamily="49" charset="0"/>
                <a:cs typeface="Courier New" panose="02070309020205020404" pitchFamily="49" charset="0"/>
              </a:rPr>
              <a:t>{</a:t>
            </a:r>
          </a:p>
          <a:p>
            <a:pPr marL="0" indent="0">
              <a:spcBef>
                <a:spcPts val="0"/>
              </a:spcBef>
              <a:buNone/>
            </a:pPr>
            <a:r>
              <a:rPr lang="en-GB" sz="1600" b="1" dirty="0">
                <a:latin typeface="Courier New" panose="02070309020205020404" pitchFamily="49" charset="0"/>
                <a:cs typeface="Courier New" panose="02070309020205020404" pitchFamily="49" charset="0"/>
              </a:rPr>
              <a:t>  </a:t>
            </a:r>
            <a:r>
              <a:rPr lang="en-GB" sz="1600" b="1" dirty="0" err="1">
                <a:latin typeface="Courier New" panose="02070309020205020404" pitchFamily="49" charset="0"/>
                <a:cs typeface="Courier New" panose="02070309020205020404" pitchFamily="49" charset="0"/>
              </a:rPr>
              <a:t>pthread_t</a:t>
            </a:r>
            <a:r>
              <a:rPr lang="en-GB" sz="1600" b="1" dirty="0">
                <a:latin typeface="Courier New" panose="02070309020205020404" pitchFamily="49" charset="0"/>
                <a:cs typeface="Courier New" panose="02070309020205020404" pitchFamily="49" charset="0"/>
              </a:rPr>
              <a:t> </a:t>
            </a:r>
            <a:r>
              <a:rPr lang="en-GB" sz="1600" b="1" dirty="0" err="1">
                <a:latin typeface="Courier New" panose="02070309020205020404" pitchFamily="49" charset="0"/>
                <a:cs typeface="Courier New" panose="02070309020205020404" pitchFamily="49" charset="0"/>
              </a:rPr>
              <a:t>thrID</a:t>
            </a:r>
            <a:r>
              <a:rPr lang="en-GB" sz="1600" b="1" dirty="0">
                <a:latin typeface="Courier New" panose="02070309020205020404" pitchFamily="49" charset="0"/>
                <a:cs typeface="Courier New" panose="02070309020205020404" pitchFamily="49" charset="0"/>
              </a:rPr>
              <a:t>[</a:t>
            </a:r>
            <a:r>
              <a:rPr lang="en-GB" sz="1600" b="1" dirty="0" err="1">
                <a:latin typeface="Courier New" panose="02070309020205020404" pitchFamily="49" charset="0"/>
                <a:cs typeface="Courier New" panose="02070309020205020404" pitchFamily="49" charset="0"/>
              </a:rPr>
              <a:t>threadcount</a:t>
            </a:r>
            <a:r>
              <a:rPr lang="en-GB" sz="1600" b="1" dirty="0">
                <a:latin typeface="Courier New" panose="02070309020205020404" pitchFamily="49" charset="0"/>
                <a:cs typeface="Courier New" panose="02070309020205020404" pitchFamily="49" charset="0"/>
              </a:rPr>
              <a:t>];</a:t>
            </a:r>
          </a:p>
          <a:p>
            <a:pPr marL="0" indent="0">
              <a:spcBef>
                <a:spcPts val="0"/>
              </a:spcBef>
              <a:buNone/>
            </a:pPr>
            <a:r>
              <a:rPr lang="en-GB" sz="1600" b="1" dirty="0">
                <a:latin typeface="Courier New" panose="02070309020205020404" pitchFamily="49" charset="0"/>
                <a:cs typeface="Courier New" panose="02070309020205020404" pitchFamily="49" charset="0"/>
              </a:rPr>
              <a:t>  </a:t>
            </a:r>
            <a:r>
              <a:rPr lang="en-GB" sz="1600" b="1" dirty="0" err="1">
                <a:latin typeface="Courier New" panose="02070309020205020404" pitchFamily="49" charset="0"/>
                <a:cs typeface="Courier New" panose="02070309020205020404" pitchFamily="49" charset="0"/>
              </a:rPr>
              <a:t>sem_init</a:t>
            </a:r>
            <a:r>
              <a:rPr lang="en-GB" sz="1600" b="1" dirty="0">
                <a:latin typeface="Courier New" panose="02070309020205020404" pitchFamily="49" charset="0"/>
                <a:cs typeface="Courier New" panose="02070309020205020404" pitchFamily="49" charset="0"/>
              </a:rPr>
              <a:t>(&amp;</a:t>
            </a:r>
            <a:r>
              <a:rPr lang="en-GB" sz="1600" b="1" dirty="0" err="1">
                <a:latin typeface="Courier New" panose="02070309020205020404" pitchFamily="49" charset="0"/>
                <a:cs typeface="Courier New" panose="02070309020205020404" pitchFamily="49" charset="0"/>
              </a:rPr>
              <a:t>semaCounter</a:t>
            </a:r>
            <a:r>
              <a:rPr lang="en-GB" sz="1600" b="1" dirty="0">
                <a:latin typeface="Courier New" panose="02070309020205020404" pitchFamily="49" charset="0"/>
                <a:cs typeface="Courier New" panose="02070309020205020404" pitchFamily="49" charset="0"/>
              </a:rPr>
              <a:t>, 0, 0 ); </a:t>
            </a:r>
          </a:p>
          <a:p>
            <a:pPr marL="0" indent="0">
              <a:spcBef>
                <a:spcPts val="0"/>
              </a:spcBef>
              <a:buNone/>
            </a:pPr>
            <a:r>
              <a:rPr lang="en-GB" sz="1600" b="1" dirty="0">
                <a:latin typeface="Courier New" panose="02070309020205020404" pitchFamily="49" charset="0"/>
                <a:cs typeface="Courier New" panose="02070309020205020404" pitchFamily="49" charset="0"/>
              </a:rPr>
              <a:t>  </a:t>
            </a:r>
            <a:r>
              <a:rPr lang="en-GB" sz="1600" b="1" dirty="0" err="1">
                <a:latin typeface="Courier New" panose="02070309020205020404" pitchFamily="49" charset="0"/>
                <a:cs typeface="Courier New" panose="02070309020205020404" pitchFamily="49" charset="0"/>
              </a:rPr>
              <a:t>sem_init</a:t>
            </a:r>
            <a:r>
              <a:rPr lang="en-GB" sz="1600" b="1" dirty="0">
                <a:latin typeface="Courier New" panose="02070309020205020404" pitchFamily="49" charset="0"/>
                <a:cs typeface="Courier New" panose="02070309020205020404" pitchFamily="49" charset="0"/>
              </a:rPr>
              <a:t>(&amp;</a:t>
            </a:r>
            <a:r>
              <a:rPr lang="en-GB" sz="1600" b="1" dirty="0" err="1">
                <a:latin typeface="Courier New" panose="02070309020205020404" pitchFamily="49" charset="0"/>
                <a:cs typeface="Courier New" panose="02070309020205020404" pitchFamily="49" charset="0"/>
              </a:rPr>
              <a:t>semaBarrier</a:t>
            </a:r>
            <a:r>
              <a:rPr lang="en-GB" sz="1600" b="1" dirty="0">
                <a:latin typeface="Courier New" panose="02070309020205020404" pitchFamily="49" charset="0"/>
                <a:cs typeface="Courier New" panose="02070309020205020404" pitchFamily="49" charset="0"/>
              </a:rPr>
              <a:t>, 0, 0 ); </a:t>
            </a:r>
          </a:p>
          <a:p>
            <a:pPr marL="0" indent="0">
              <a:spcBef>
                <a:spcPts val="0"/>
              </a:spcBef>
              <a:buNone/>
            </a:pPr>
            <a:r>
              <a:rPr lang="en-GB" sz="1600" b="1" dirty="0">
                <a:latin typeface="Courier New" panose="02070309020205020404" pitchFamily="49" charset="0"/>
                <a:cs typeface="Courier New" panose="02070309020205020404" pitchFamily="49" charset="0"/>
              </a:rPr>
              <a:t>  for(int </a:t>
            </a:r>
            <a:r>
              <a:rPr lang="en-GB" sz="1600" b="1" dirty="0" err="1">
                <a:latin typeface="Courier New" panose="02070309020205020404" pitchFamily="49" charset="0"/>
                <a:cs typeface="Courier New" panose="02070309020205020404" pitchFamily="49" charset="0"/>
              </a:rPr>
              <a:t>i</a:t>
            </a:r>
            <a:r>
              <a:rPr lang="en-GB" sz="1600" b="1" dirty="0">
                <a:latin typeface="Courier New" panose="02070309020205020404" pitchFamily="49" charset="0"/>
                <a:cs typeface="Courier New" panose="02070309020205020404" pitchFamily="49" charset="0"/>
              </a:rPr>
              <a:t>=0; </a:t>
            </a:r>
            <a:r>
              <a:rPr lang="en-GB" sz="1600" b="1" dirty="0" err="1">
                <a:latin typeface="Courier New" panose="02070309020205020404" pitchFamily="49" charset="0"/>
                <a:cs typeface="Courier New" panose="02070309020205020404" pitchFamily="49" charset="0"/>
              </a:rPr>
              <a:t>i</a:t>
            </a:r>
            <a:r>
              <a:rPr lang="en-GB" sz="1600" b="1" dirty="0">
                <a:latin typeface="Courier New" panose="02070309020205020404" pitchFamily="49" charset="0"/>
                <a:cs typeface="Courier New" panose="02070309020205020404" pitchFamily="49" charset="0"/>
              </a:rPr>
              <a:t> &lt; </a:t>
            </a:r>
            <a:r>
              <a:rPr lang="en-GB" sz="1600" b="1" dirty="0" err="1">
                <a:latin typeface="Courier New" panose="02070309020205020404" pitchFamily="49" charset="0"/>
                <a:cs typeface="Courier New" panose="02070309020205020404" pitchFamily="49" charset="0"/>
              </a:rPr>
              <a:t>threadcount</a:t>
            </a:r>
            <a:r>
              <a:rPr lang="en-GB" sz="1600" b="1" dirty="0">
                <a:latin typeface="Courier New" panose="02070309020205020404" pitchFamily="49" charset="0"/>
                <a:cs typeface="Courier New" panose="02070309020205020404" pitchFamily="49" charset="0"/>
              </a:rPr>
              <a:t>; </a:t>
            </a:r>
            <a:r>
              <a:rPr lang="en-GB" sz="1600" b="1" dirty="0" err="1">
                <a:latin typeface="Courier New" panose="02070309020205020404" pitchFamily="49" charset="0"/>
                <a:cs typeface="Courier New" panose="02070309020205020404" pitchFamily="49" charset="0"/>
              </a:rPr>
              <a:t>i</a:t>
            </a:r>
            <a:r>
              <a:rPr lang="en-GB" sz="1600" b="1" dirty="0">
                <a:latin typeface="Courier New" panose="02070309020205020404" pitchFamily="49" charset="0"/>
                <a:cs typeface="Courier New" panose="02070309020205020404" pitchFamily="49" charset="0"/>
              </a:rPr>
              <a:t>++)</a:t>
            </a:r>
          </a:p>
          <a:p>
            <a:pPr marL="0" indent="0">
              <a:spcBef>
                <a:spcPts val="0"/>
              </a:spcBef>
              <a:buNone/>
            </a:pPr>
            <a:r>
              <a:rPr lang="en-GB" sz="1600" b="1" dirty="0">
                <a:latin typeface="Courier New" panose="02070309020205020404" pitchFamily="49" charset="0"/>
                <a:cs typeface="Courier New" panose="02070309020205020404" pitchFamily="49" charset="0"/>
              </a:rPr>
              <a:t>      </a:t>
            </a:r>
            <a:r>
              <a:rPr lang="en-GB" sz="1600" b="1" dirty="0" err="1">
                <a:latin typeface="Courier New" panose="02070309020205020404" pitchFamily="49" charset="0"/>
                <a:cs typeface="Courier New" panose="02070309020205020404" pitchFamily="49" charset="0"/>
              </a:rPr>
              <a:t>pthread_create</a:t>
            </a:r>
            <a:r>
              <a:rPr lang="en-GB" sz="1600" b="1" dirty="0">
                <a:latin typeface="Courier New" panose="02070309020205020404" pitchFamily="49" charset="0"/>
                <a:cs typeface="Courier New" panose="02070309020205020404" pitchFamily="49" charset="0"/>
              </a:rPr>
              <a:t>(&amp;</a:t>
            </a:r>
            <a:r>
              <a:rPr lang="en-GB" sz="1600" b="1" dirty="0" err="1">
                <a:latin typeface="Courier New" panose="02070309020205020404" pitchFamily="49" charset="0"/>
                <a:cs typeface="Courier New" panose="02070309020205020404" pitchFamily="49" charset="0"/>
              </a:rPr>
              <a:t>thrID</a:t>
            </a:r>
            <a:r>
              <a:rPr lang="en-GB" sz="1600" b="1" dirty="0">
                <a:latin typeface="Courier New" panose="02070309020205020404" pitchFamily="49" charset="0"/>
                <a:cs typeface="Courier New" panose="02070309020205020404" pitchFamily="49" charset="0"/>
              </a:rPr>
              <a:t>[</a:t>
            </a:r>
            <a:r>
              <a:rPr lang="en-GB" sz="1600" b="1" dirty="0" err="1">
                <a:latin typeface="Courier New" panose="02070309020205020404" pitchFamily="49" charset="0"/>
                <a:cs typeface="Courier New" panose="02070309020205020404" pitchFamily="49" charset="0"/>
              </a:rPr>
              <a:t>i</a:t>
            </a:r>
            <a:r>
              <a:rPr lang="en-GB" sz="1600" b="1" dirty="0">
                <a:latin typeface="Courier New" panose="02070309020205020404" pitchFamily="49" charset="0"/>
                <a:cs typeface="Courier New" panose="02070309020205020404" pitchFamily="49" charset="0"/>
              </a:rPr>
              <a:t>], NULL,</a:t>
            </a:r>
          </a:p>
          <a:p>
            <a:pPr marL="0" indent="0">
              <a:spcBef>
                <a:spcPts val="0"/>
              </a:spcBef>
              <a:buNone/>
            </a:pPr>
            <a:r>
              <a:rPr lang="en-GB" sz="1600" b="1" dirty="0">
                <a:latin typeface="Courier New" panose="02070309020205020404" pitchFamily="49" charset="0"/>
                <a:cs typeface="Courier New" panose="02070309020205020404" pitchFamily="49" charset="0"/>
              </a:rPr>
              <a:t>                     </a:t>
            </a:r>
            <a:r>
              <a:rPr lang="en-GB" sz="1600" b="1" dirty="0" err="1">
                <a:latin typeface="Courier New" panose="02070309020205020404" pitchFamily="49" charset="0"/>
                <a:cs typeface="Courier New" panose="02070309020205020404" pitchFamily="49" charset="0"/>
              </a:rPr>
              <a:t>threadmain</a:t>
            </a:r>
            <a:r>
              <a:rPr lang="en-GB" sz="1600" b="1" dirty="0">
                <a:latin typeface="Courier New" panose="02070309020205020404" pitchFamily="49" charset="0"/>
                <a:cs typeface="Courier New" panose="02070309020205020404" pitchFamily="49" charset="0"/>
              </a:rPr>
              <a:t>, </a:t>
            </a:r>
            <a:r>
              <a:rPr lang="en-GB" sz="1600" b="1" dirty="0" err="1">
                <a:latin typeface="Courier New" panose="02070309020205020404" pitchFamily="49" charset="0"/>
                <a:cs typeface="Courier New" panose="02070309020205020404" pitchFamily="49" charset="0"/>
              </a:rPr>
              <a:t>i</a:t>
            </a:r>
            <a:r>
              <a:rPr lang="en-GB" sz="1600" b="1" dirty="0">
                <a:latin typeface="Courier New" panose="02070309020205020404" pitchFamily="49" charset="0"/>
                <a:cs typeface="Courier New" panose="02070309020205020404" pitchFamily="49" charset="0"/>
              </a:rPr>
              <a:t>);</a:t>
            </a:r>
          </a:p>
          <a:p>
            <a:pPr marL="0" indent="0">
              <a:spcBef>
                <a:spcPts val="0"/>
              </a:spcBef>
              <a:buNone/>
            </a:pPr>
            <a:r>
              <a:rPr lang="en-GB" sz="1600" b="1" dirty="0">
                <a:latin typeface="Courier New" panose="02070309020205020404" pitchFamily="49" charset="0"/>
                <a:cs typeface="Courier New" panose="02070309020205020404" pitchFamily="49" charset="0"/>
              </a:rPr>
              <a:t>  for(int </a:t>
            </a:r>
            <a:r>
              <a:rPr lang="en-GB" sz="1600" b="1" dirty="0" err="1">
                <a:latin typeface="Courier New" panose="02070309020205020404" pitchFamily="49" charset="0"/>
                <a:cs typeface="Courier New" panose="02070309020205020404" pitchFamily="49" charset="0"/>
              </a:rPr>
              <a:t>i</a:t>
            </a:r>
            <a:r>
              <a:rPr lang="en-GB" sz="1600" b="1" dirty="0">
                <a:latin typeface="Courier New" panose="02070309020205020404" pitchFamily="49" charset="0"/>
                <a:cs typeface="Courier New" panose="02070309020205020404" pitchFamily="49" charset="0"/>
              </a:rPr>
              <a:t>=0; </a:t>
            </a:r>
            <a:r>
              <a:rPr lang="en-GB" sz="1600" b="1" dirty="0" err="1">
                <a:latin typeface="Courier New" panose="02070309020205020404" pitchFamily="49" charset="0"/>
                <a:cs typeface="Courier New" panose="02070309020205020404" pitchFamily="49" charset="0"/>
              </a:rPr>
              <a:t>i</a:t>
            </a:r>
            <a:r>
              <a:rPr lang="en-GB" sz="1600" b="1" dirty="0">
                <a:latin typeface="Courier New" panose="02070309020205020404" pitchFamily="49" charset="0"/>
                <a:cs typeface="Courier New" panose="02070309020205020404" pitchFamily="49" charset="0"/>
              </a:rPr>
              <a:t> &lt; </a:t>
            </a:r>
            <a:r>
              <a:rPr lang="en-GB" sz="1600" b="1" dirty="0" err="1">
                <a:latin typeface="Courier New" panose="02070309020205020404" pitchFamily="49" charset="0"/>
                <a:cs typeface="Courier New" panose="02070309020205020404" pitchFamily="49" charset="0"/>
              </a:rPr>
              <a:t>threadcount</a:t>
            </a:r>
            <a:r>
              <a:rPr lang="en-GB" sz="1600" b="1" dirty="0">
                <a:latin typeface="Courier New" panose="02070309020205020404" pitchFamily="49" charset="0"/>
                <a:cs typeface="Courier New" panose="02070309020205020404" pitchFamily="49" charset="0"/>
              </a:rPr>
              <a:t>; </a:t>
            </a:r>
            <a:r>
              <a:rPr lang="en-GB" sz="1600" b="1" dirty="0" err="1">
                <a:latin typeface="Courier New" panose="02070309020205020404" pitchFamily="49" charset="0"/>
                <a:cs typeface="Courier New" panose="02070309020205020404" pitchFamily="49" charset="0"/>
              </a:rPr>
              <a:t>i</a:t>
            </a:r>
            <a:r>
              <a:rPr lang="en-GB" sz="1600" b="1" dirty="0">
                <a:latin typeface="Courier New" panose="02070309020205020404" pitchFamily="49" charset="0"/>
                <a:cs typeface="Courier New" panose="02070309020205020404" pitchFamily="49" charset="0"/>
              </a:rPr>
              <a:t>++)</a:t>
            </a:r>
          </a:p>
          <a:p>
            <a:pPr marL="0" indent="0">
              <a:spcBef>
                <a:spcPts val="0"/>
              </a:spcBef>
              <a:buNone/>
            </a:pPr>
            <a:r>
              <a:rPr lang="en-GB" sz="1600" b="1" dirty="0">
                <a:latin typeface="Courier New" panose="02070309020205020404" pitchFamily="49" charset="0"/>
                <a:cs typeface="Courier New" panose="02070309020205020404" pitchFamily="49" charset="0"/>
              </a:rPr>
              <a:t>      </a:t>
            </a:r>
            <a:r>
              <a:rPr lang="en-GB" sz="1600" b="1" dirty="0" err="1">
                <a:latin typeface="Courier New" panose="02070309020205020404" pitchFamily="49" charset="0"/>
                <a:cs typeface="Courier New" panose="02070309020205020404" pitchFamily="49" charset="0"/>
              </a:rPr>
              <a:t>pthread_join</a:t>
            </a:r>
            <a:r>
              <a:rPr lang="en-GB" sz="1600" b="1" dirty="0">
                <a:latin typeface="Courier New" panose="02070309020205020404" pitchFamily="49" charset="0"/>
                <a:cs typeface="Courier New" panose="02070309020205020404" pitchFamily="49" charset="0"/>
              </a:rPr>
              <a:t>(</a:t>
            </a:r>
            <a:r>
              <a:rPr lang="en-GB" sz="1600" b="1" dirty="0" err="1">
                <a:latin typeface="Courier New" panose="02070309020205020404" pitchFamily="49" charset="0"/>
                <a:cs typeface="Courier New" panose="02070309020205020404" pitchFamily="49" charset="0"/>
              </a:rPr>
              <a:t>thrID</a:t>
            </a:r>
            <a:r>
              <a:rPr lang="en-GB" sz="1600" b="1" dirty="0">
                <a:latin typeface="Courier New" panose="02070309020205020404" pitchFamily="49" charset="0"/>
                <a:cs typeface="Courier New" panose="02070309020205020404" pitchFamily="49" charset="0"/>
              </a:rPr>
              <a:t>[</a:t>
            </a:r>
            <a:r>
              <a:rPr lang="en-GB" sz="1600" b="1" dirty="0" err="1">
                <a:latin typeface="Courier New" panose="02070309020205020404" pitchFamily="49" charset="0"/>
                <a:cs typeface="Courier New" panose="02070309020205020404" pitchFamily="49" charset="0"/>
              </a:rPr>
              <a:t>i</a:t>
            </a:r>
            <a:r>
              <a:rPr lang="en-GB" sz="1600" b="1" dirty="0">
                <a:latin typeface="Courier New" panose="02070309020205020404" pitchFamily="49" charset="0"/>
                <a:cs typeface="Courier New" panose="02070309020205020404" pitchFamily="49" charset="0"/>
              </a:rPr>
              <a:t>], NULL);</a:t>
            </a:r>
          </a:p>
          <a:p>
            <a:pPr marL="0" indent="0">
              <a:spcBef>
                <a:spcPts val="0"/>
              </a:spcBef>
              <a:buNone/>
            </a:pPr>
            <a:r>
              <a:rPr lang="en-GB" sz="1600" b="1" dirty="0">
                <a:latin typeface="Courier New" panose="02070309020205020404" pitchFamily="49" charset="0"/>
                <a:cs typeface="Courier New" panose="02070309020205020404" pitchFamily="49" charset="0"/>
              </a:rPr>
              <a:t>  </a:t>
            </a:r>
            <a:r>
              <a:rPr lang="en-GB" sz="1600" b="1" dirty="0" err="1">
                <a:latin typeface="Courier New" panose="02070309020205020404" pitchFamily="49" charset="0"/>
                <a:cs typeface="Courier New" panose="02070309020205020404" pitchFamily="49" charset="0"/>
              </a:rPr>
              <a:t>sem_destroy</a:t>
            </a:r>
            <a:r>
              <a:rPr lang="en-GB" sz="1600" b="1" dirty="0">
                <a:latin typeface="Courier New" panose="02070309020205020404" pitchFamily="49" charset="0"/>
                <a:cs typeface="Courier New" panose="02070309020205020404" pitchFamily="49" charset="0"/>
              </a:rPr>
              <a:t>(&amp;</a:t>
            </a:r>
            <a:r>
              <a:rPr lang="en-GB" sz="1600" b="1" dirty="0" err="1">
                <a:latin typeface="Courier New" panose="02070309020205020404" pitchFamily="49" charset="0"/>
                <a:cs typeface="Courier New" panose="02070309020205020404" pitchFamily="49" charset="0"/>
              </a:rPr>
              <a:t>semaCounter</a:t>
            </a:r>
            <a:r>
              <a:rPr lang="en-GB" sz="1600" b="1" dirty="0">
                <a:latin typeface="Courier New" panose="02070309020205020404" pitchFamily="49" charset="0"/>
                <a:cs typeface="Courier New" panose="02070309020205020404" pitchFamily="49" charset="0"/>
              </a:rPr>
              <a:t>);</a:t>
            </a:r>
          </a:p>
          <a:p>
            <a:pPr marL="0" indent="0">
              <a:spcBef>
                <a:spcPts val="0"/>
              </a:spcBef>
              <a:buNone/>
            </a:pPr>
            <a:r>
              <a:rPr lang="en-GB" sz="1600" b="1" dirty="0">
                <a:latin typeface="Courier New" panose="02070309020205020404" pitchFamily="49" charset="0"/>
                <a:cs typeface="Courier New" panose="02070309020205020404" pitchFamily="49" charset="0"/>
              </a:rPr>
              <a:t>  </a:t>
            </a:r>
            <a:r>
              <a:rPr lang="en-GB" sz="1600" b="1" dirty="0" err="1">
                <a:latin typeface="Courier New" panose="02070309020205020404" pitchFamily="49" charset="0"/>
                <a:cs typeface="Courier New" panose="02070309020205020404" pitchFamily="49" charset="0"/>
              </a:rPr>
              <a:t>sem_destroy</a:t>
            </a:r>
            <a:r>
              <a:rPr lang="en-GB" sz="1600" b="1" dirty="0">
                <a:latin typeface="Courier New" panose="02070309020205020404" pitchFamily="49" charset="0"/>
                <a:cs typeface="Courier New" panose="02070309020205020404" pitchFamily="49" charset="0"/>
              </a:rPr>
              <a:t>(&amp;</a:t>
            </a:r>
            <a:r>
              <a:rPr lang="en-GB" sz="1600" b="1" dirty="0" err="1">
                <a:latin typeface="Courier New" panose="02070309020205020404" pitchFamily="49" charset="0"/>
                <a:cs typeface="Courier New" panose="02070309020205020404" pitchFamily="49" charset="0"/>
              </a:rPr>
              <a:t>semaBarrier</a:t>
            </a:r>
            <a:r>
              <a:rPr lang="en-GB" sz="1600" b="1" dirty="0">
                <a:latin typeface="Courier New" panose="02070309020205020404" pitchFamily="49" charset="0"/>
                <a:cs typeface="Courier New" panose="02070309020205020404" pitchFamily="49" charset="0"/>
              </a:rPr>
              <a:t>);</a:t>
            </a:r>
          </a:p>
          <a:p>
            <a:pPr marL="0" indent="0">
              <a:spcBef>
                <a:spcPts val="0"/>
              </a:spcBef>
              <a:buNone/>
            </a:pPr>
            <a:endParaRPr lang="en-GB" sz="1600" b="1" dirty="0">
              <a:latin typeface="Courier New" panose="02070309020205020404" pitchFamily="49" charset="0"/>
              <a:cs typeface="Courier New" panose="02070309020205020404" pitchFamily="49" charset="0"/>
            </a:endParaRPr>
          </a:p>
          <a:p>
            <a:pPr marL="0" indent="0">
              <a:spcBef>
                <a:spcPts val="0"/>
              </a:spcBef>
              <a:buNone/>
            </a:pPr>
            <a:r>
              <a:rPr lang="en-GB" sz="1600" b="1" dirty="0">
                <a:latin typeface="Courier New" panose="02070309020205020404" pitchFamily="49" charset="0"/>
                <a:cs typeface="Courier New" panose="02070309020205020404" pitchFamily="49" charset="0"/>
              </a:rPr>
              <a:t>}</a:t>
            </a:r>
          </a:p>
          <a:p>
            <a:pPr marL="0" indent="0">
              <a:spcBef>
                <a:spcPts val="0"/>
              </a:spcBef>
              <a:buNone/>
            </a:pPr>
            <a:endParaRPr lang="en-GB" sz="1600" b="1" dirty="0">
              <a:latin typeface="Courier New" panose="02070309020205020404" pitchFamily="49" charset="0"/>
              <a:cs typeface="Courier New" panose="02070309020205020404" pitchFamily="49" charset="0"/>
            </a:endParaRPr>
          </a:p>
          <a:p>
            <a:pPr marL="0" indent="0">
              <a:spcBef>
                <a:spcPts val="0"/>
              </a:spcBef>
              <a:buNone/>
            </a:pPr>
            <a:endParaRPr lang="en-GB" sz="1600" b="1" dirty="0">
              <a:latin typeface="Courier New" panose="02070309020205020404" pitchFamily="49" charset="0"/>
              <a:cs typeface="Courier New" panose="02070309020205020404" pitchFamily="49" charset="0"/>
            </a:endParaRPr>
          </a:p>
          <a:p>
            <a:pPr marL="0" indent="0">
              <a:spcBef>
                <a:spcPts val="0"/>
              </a:spcBef>
              <a:buNone/>
            </a:pPr>
            <a:endParaRPr lang="en-GB" sz="16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7875237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55E22-5857-452B-A8A5-0BA3899E6074}"/>
              </a:ext>
            </a:extLst>
          </p:cNvPr>
          <p:cNvSpPr>
            <a:spLocks noGrp="1"/>
          </p:cNvSpPr>
          <p:nvPr>
            <p:ph type="title"/>
          </p:nvPr>
        </p:nvSpPr>
        <p:spPr/>
        <p:txBody>
          <a:bodyPr/>
          <a:lstStyle/>
          <a:p>
            <a:r>
              <a:rPr lang="en-GB" dirty="0"/>
              <a:t>Condition Variables</a:t>
            </a:r>
          </a:p>
        </p:txBody>
      </p:sp>
      <p:sp>
        <p:nvSpPr>
          <p:cNvPr id="3" name="Content Placeholder 2">
            <a:extLst>
              <a:ext uri="{FF2B5EF4-FFF2-40B4-BE49-F238E27FC236}">
                <a16:creationId xmlns:a16="http://schemas.microsoft.com/office/drawing/2014/main" id="{A90E10B8-EBF2-4278-89C3-2590AD02C0BD}"/>
              </a:ext>
            </a:extLst>
          </p:cNvPr>
          <p:cNvSpPr>
            <a:spLocks noGrp="1"/>
          </p:cNvSpPr>
          <p:nvPr>
            <p:ph idx="1"/>
          </p:nvPr>
        </p:nvSpPr>
        <p:spPr/>
        <p:txBody>
          <a:bodyPr/>
          <a:lstStyle/>
          <a:p>
            <a:r>
              <a:rPr lang="en-GB" dirty="0"/>
              <a:t>A condition variable is a data object that allows a thread to suspend execution until a certain event or condition occurs.</a:t>
            </a:r>
          </a:p>
          <a:p>
            <a:r>
              <a:rPr lang="en-GB" dirty="0"/>
              <a:t>When the event or condition occurs another thread can signal the thread to “wake up.”</a:t>
            </a:r>
          </a:p>
          <a:p>
            <a:r>
              <a:rPr lang="en-GB" dirty="0"/>
              <a:t>A condition variable is always associated with a mutex.</a:t>
            </a:r>
          </a:p>
          <a:p>
            <a:endParaRPr lang="en-GB" dirty="0"/>
          </a:p>
        </p:txBody>
      </p:sp>
    </p:spTree>
    <p:extLst>
      <p:ext uri="{BB962C8B-B14F-4D97-AF65-F5344CB8AC3E}">
        <p14:creationId xmlns:p14="http://schemas.microsoft.com/office/powerpoint/2010/main" val="28302484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55E22-5857-452B-A8A5-0BA3899E6074}"/>
              </a:ext>
            </a:extLst>
          </p:cNvPr>
          <p:cNvSpPr>
            <a:spLocks noGrp="1"/>
          </p:cNvSpPr>
          <p:nvPr>
            <p:ph type="title"/>
          </p:nvPr>
        </p:nvSpPr>
        <p:spPr/>
        <p:txBody>
          <a:bodyPr/>
          <a:lstStyle/>
          <a:p>
            <a:r>
              <a:rPr lang="en-GB" dirty="0"/>
              <a:t>Condition Variables</a:t>
            </a:r>
          </a:p>
        </p:txBody>
      </p:sp>
      <p:sp>
        <p:nvSpPr>
          <p:cNvPr id="3" name="Content Placeholder 2">
            <a:extLst>
              <a:ext uri="{FF2B5EF4-FFF2-40B4-BE49-F238E27FC236}">
                <a16:creationId xmlns:a16="http://schemas.microsoft.com/office/drawing/2014/main" id="{A90E10B8-EBF2-4278-89C3-2590AD02C0BD}"/>
              </a:ext>
            </a:extLst>
          </p:cNvPr>
          <p:cNvSpPr>
            <a:spLocks noGrp="1"/>
          </p:cNvSpPr>
          <p:nvPr>
            <p:ph idx="1"/>
          </p:nvPr>
        </p:nvSpPr>
        <p:spPr/>
        <p:txBody>
          <a:bodyPr>
            <a:normAutofit fontScale="92500" lnSpcReduction="20000"/>
          </a:bodyPr>
          <a:lstStyle/>
          <a:p>
            <a:r>
              <a:rPr lang="en-GB" sz="2400" b="1"/>
              <a:t>int pthread_cond_init(pthread_cond_t *cond, pthread_condattr_t *attr);</a:t>
            </a:r>
          </a:p>
          <a:p>
            <a:pPr lvl="1"/>
            <a:r>
              <a:rPr lang="en-GB" sz="2400"/>
              <a:t>Initializes the condition variable referenced by cond with attributes referenced by attr. If attr is NULL, the default condition variable attributes are used.</a:t>
            </a:r>
          </a:p>
          <a:p>
            <a:r>
              <a:rPr lang="en-GB" sz="2400" b="1"/>
              <a:t>int pthread_cond_wait(pthread_cond_t *cond, pthread_mutex_t *mutex);</a:t>
            </a:r>
          </a:p>
          <a:p>
            <a:pPr lvl="1"/>
            <a:r>
              <a:rPr lang="en-GB" sz="2400"/>
              <a:t>Blocks on a condition variable. It must be called with mutex locked by the calling thread, or undefined behavior will result. A mutex is locked using pthread_mutex_lock(). The pthread_cond_wait() function waits until a pthread_cond_broadcast() or a pthread_cond_signal() is received.</a:t>
            </a:r>
          </a:p>
          <a:p>
            <a:r>
              <a:rPr lang="en-GB" sz="2400" b="1"/>
              <a:t>int pthread_cond_broadcast(pthread_cond_t *cond);</a:t>
            </a:r>
          </a:p>
          <a:p>
            <a:pPr lvl="1"/>
            <a:r>
              <a:rPr lang="en-GB" sz="2400"/>
              <a:t>Unblock all threads that are blocked on the specified condition variable, cond. If more than one thread is blocked, the order in which the threads are unblocked is unspecified.</a:t>
            </a:r>
          </a:p>
          <a:p>
            <a:r>
              <a:rPr lang="en-GB" sz="2400" b="1"/>
              <a:t>int pthread_cond_signal(pthread_cond_t *cond);</a:t>
            </a:r>
          </a:p>
          <a:p>
            <a:pPr lvl="1"/>
            <a:r>
              <a:rPr lang="en-GB" sz="2400"/>
              <a:t>Unblock at least one thread that is blocked on the specified condition variable, cond. If more than one thread is blocked, the order in which the threads are unblocked is unspecified.</a:t>
            </a:r>
          </a:p>
          <a:p>
            <a:r>
              <a:rPr lang="en-GB" sz="2400" b="1"/>
              <a:t>int pthread_cond_destroy(pthread_cond_t *cond);</a:t>
            </a:r>
          </a:p>
          <a:p>
            <a:pPr lvl="1"/>
            <a:r>
              <a:rPr lang="en-GB" sz="2400"/>
              <a:t>Destroys the condition variable object specified by cond.</a:t>
            </a:r>
            <a:endParaRPr lang="en-GB" sz="2400" dirty="0"/>
          </a:p>
        </p:txBody>
      </p:sp>
    </p:spTree>
    <p:extLst>
      <p:ext uri="{BB962C8B-B14F-4D97-AF65-F5344CB8AC3E}">
        <p14:creationId xmlns:p14="http://schemas.microsoft.com/office/powerpoint/2010/main" val="28762357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0DA81-1DDA-4459-8881-F1095E04B10E}"/>
              </a:ext>
            </a:extLst>
          </p:cNvPr>
          <p:cNvSpPr>
            <a:spLocks noGrp="1"/>
          </p:cNvSpPr>
          <p:nvPr>
            <p:ph type="title"/>
          </p:nvPr>
        </p:nvSpPr>
        <p:spPr/>
        <p:txBody>
          <a:bodyPr wrap="square" anchor="ctr">
            <a:normAutofit/>
          </a:bodyPr>
          <a:lstStyle/>
          <a:p>
            <a:pPr>
              <a:lnSpc>
                <a:spcPct val="90000"/>
              </a:lnSpc>
            </a:pPr>
            <a:r>
              <a:rPr lang="en-GB" sz="2400"/>
              <a:t>Implementing a barrier with condition variables</a:t>
            </a:r>
          </a:p>
        </p:txBody>
      </p:sp>
      <p:sp>
        <p:nvSpPr>
          <p:cNvPr id="3" name="Content Placeholder 2">
            <a:extLst>
              <a:ext uri="{FF2B5EF4-FFF2-40B4-BE49-F238E27FC236}">
                <a16:creationId xmlns:a16="http://schemas.microsoft.com/office/drawing/2014/main" id="{81545331-B08A-A7E6-A591-E323072C43E0}"/>
              </a:ext>
            </a:extLst>
          </p:cNvPr>
          <p:cNvSpPr>
            <a:spLocks noGrp="1"/>
          </p:cNvSpPr>
          <p:nvPr>
            <p:ph idx="1"/>
          </p:nvPr>
        </p:nvSpPr>
        <p:spPr>
          <a:xfrm>
            <a:off x="239351" y="1052737"/>
            <a:ext cx="5352594" cy="5616625"/>
          </a:xfrm>
        </p:spPr>
        <p:txBody>
          <a:bodyPr/>
          <a:lstStyle/>
          <a:p>
            <a:pPr marL="0" indent="0">
              <a:spcBef>
                <a:spcPts val="0"/>
              </a:spcBef>
              <a:buNone/>
            </a:pPr>
            <a:r>
              <a:rPr lang="en-GB" sz="1600" b="1" dirty="0">
                <a:latin typeface="Courier New" panose="02070309020205020404" pitchFamily="49" charset="0"/>
                <a:cs typeface="Courier New" panose="02070309020205020404" pitchFamily="49" charset="0"/>
              </a:rPr>
              <a:t>int counter=0;</a:t>
            </a:r>
          </a:p>
          <a:p>
            <a:pPr marL="0" indent="0">
              <a:spcBef>
                <a:spcPts val="0"/>
              </a:spcBef>
              <a:buNone/>
            </a:pPr>
            <a:r>
              <a:rPr lang="en-GB" sz="1600" b="1" dirty="0">
                <a:latin typeface="Courier New" panose="02070309020205020404" pitchFamily="49" charset="0"/>
                <a:cs typeface="Courier New" panose="02070309020205020404" pitchFamily="49" charset="0"/>
              </a:rPr>
              <a:t>int </a:t>
            </a:r>
            <a:r>
              <a:rPr lang="en-GB" sz="1600" b="1" dirty="0" err="1">
                <a:latin typeface="Courier New" panose="02070309020205020404" pitchFamily="49" charset="0"/>
                <a:cs typeface="Courier New" panose="02070309020205020404" pitchFamily="49" charset="0"/>
              </a:rPr>
              <a:t>threadcount</a:t>
            </a:r>
            <a:r>
              <a:rPr lang="en-GB" sz="1600" b="1" dirty="0">
                <a:latin typeface="Courier New" panose="02070309020205020404" pitchFamily="49" charset="0"/>
                <a:cs typeface="Courier New" panose="02070309020205020404" pitchFamily="49" charset="0"/>
              </a:rPr>
              <a:t>=5;</a:t>
            </a:r>
          </a:p>
          <a:p>
            <a:pPr marL="0" indent="0">
              <a:spcBef>
                <a:spcPts val="0"/>
              </a:spcBef>
              <a:buNone/>
            </a:pPr>
            <a:r>
              <a:rPr lang="en-GB" sz="1600" b="1" dirty="0" err="1">
                <a:latin typeface="Courier New" panose="02070309020205020404" pitchFamily="49" charset="0"/>
                <a:cs typeface="Courier New" panose="02070309020205020404" pitchFamily="49" charset="0"/>
              </a:rPr>
              <a:t>pthread_cond_t</a:t>
            </a:r>
            <a:r>
              <a:rPr lang="en-GB" sz="1600" b="1" dirty="0">
                <a:latin typeface="Courier New" panose="02070309020205020404" pitchFamily="49" charset="0"/>
                <a:cs typeface="Courier New" panose="02070309020205020404" pitchFamily="49" charset="0"/>
              </a:rPr>
              <a:t> </a:t>
            </a:r>
            <a:r>
              <a:rPr lang="en-GB" sz="1600" b="1" dirty="0" err="1">
                <a:latin typeface="Courier New" panose="02070309020205020404" pitchFamily="49" charset="0"/>
                <a:cs typeface="Courier New" panose="02070309020205020404" pitchFamily="49" charset="0"/>
              </a:rPr>
              <a:t>cond</a:t>
            </a:r>
            <a:r>
              <a:rPr lang="en-GB" sz="1600" b="1" dirty="0">
                <a:latin typeface="Courier New" panose="02070309020205020404" pitchFamily="49" charset="0"/>
                <a:cs typeface="Courier New" panose="02070309020205020404" pitchFamily="49" charset="0"/>
              </a:rPr>
              <a:t>;  </a:t>
            </a:r>
          </a:p>
          <a:p>
            <a:pPr marL="0" indent="0">
              <a:spcBef>
                <a:spcPts val="0"/>
              </a:spcBef>
              <a:buNone/>
            </a:pPr>
            <a:r>
              <a:rPr lang="en-GB" sz="1600" b="1" dirty="0" err="1">
                <a:latin typeface="Courier New" panose="02070309020205020404" pitchFamily="49" charset="0"/>
                <a:cs typeface="Courier New" panose="02070309020205020404" pitchFamily="49" charset="0"/>
              </a:rPr>
              <a:t>pthread_mutex_t</a:t>
            </a:r>
            <a:r>
              <a:rPr lang="en-GB" sz="1600" b="1" dirty="0">
                <a:latin typeface="Courier New" panose="02070309020205020404" pitchFamily="49" charset="0"/>
                <a:cs typeface="Courier New" panose="02070309020205020404" pitchFamily="49" charset="0"/>
              </a:rPr>
              <a:t> mutex;</a:t>
            </a:r>
          </a:p>
          <a:p>
            <a:pPr marL="0" indent="0">
              <a:spcBef>
                <a:spcPts val="0"/>
              </a:spcBef>
              <a:buNone/>
            </a:pPr>
            <a:endParaRPr lang="en-GB" sz="1600" b="1" dirty="0">
              <a:latin typeface="Courier New" panose="02070309020205020404" pitchFamily="49" charset="0"/>
              <a:cs typeface="Courier New" panose="02070309020205020404" pitchFamily="49" charset="0"/>
            </a:endParaRPr>
          </a:p>
          <a:p>
            <a:pPr marL="0" indent="0">
              <a:spcBef>
                <a:spcPts val="0"/>
              </a:spcBef>
              <a:buNone/>
            </a:pPr>
            <a:r>
              <a:rPr lang="en-GB" sz="1600" b="1" dirty="0">
                <a:latin typeface="Courier New" panose="02070309020205020404" pitchFamily="49" charset="0"/>
                <a:cs typeface="Courier New" panose="02070309020205020404" pitchFamily="49" charset="0"/>
              </a:rPr>
              <a:t>void *</a:t>
            </a:r>
            <a:r>
              <a:rPr lang="en-GB" sz="1600" b="1" dirty="0" err="1">
                <a:latin typeface="Courier New" panose="02070309020205020404" pitchFamily="49" charset="0"/>
                <a:cs typeface="Courier New" panose="02070309020205020404" pitchFamily="49" charset="0"/>
              </a:rPr>
              <a:t>threadmain</a:t>
            </a:r>
            <a:r>
              <a:rPr lang="en-GB" sz="1600" b="1" dirty="0">
                <a:latin typeface="Courier New" panose="02070309020205020404" pitchFamily="49" charset="0"/>
                <a:cs typeface="Courier New" panose="02070309020205020404" pitchFamily="49" charset="0"/>
              </a:rPr>
              <a:t>(void *p)</a:t>
            </a:r>
          </a:p>
          <a:p>
            <a:pPr marL="0" indent="0">
              <a:spcBef>
                <a:spcPts val="0"/>
              </a:spcBef>
              <a:buNone/>
            </a:pPr>
            <a:r>
              <a:rPr lang="en-GB" sz="1600" b="1" dirty="0">
                <a:latin typeface="Courier New" panose="02070309020205020404" pitchFamily="49" charset="0"/>
                <a:cs typeface="Courier New" panose="02070309020205020404" pitchFamily="49" charset="0"/>
              </a:rPr>
              <a:t>{</a:t>
            </a:r>
          </a:p>
          <a:p>
            <a:pPr marL="0" indent="0">
              <a:spcBef>
                <a:spcPts val="0"/>
              </a:spcBef>
              <a:buNone/>
            </a:pPr>
            <a:r>
              <a:rPr lang="en-GB" sz="1600" b="1" dirty="0">
                <a:latin typeface="Courier New" panose="02070309020205020404" pitchFamily="49" charset="0"/>
                <a:cs typeface="Courier New" panose="02070309020205020404" pitchFamily="49" charset="0"/>
              </a:rPr>
              <a:t>  </a:t>
            </a:r>
            <a:r>
              <a:rPr lang="en-GB" sz="1600" b="1" dirty="0" err="1">
                <a:latin typeface="Courier New" panose="02070309020205020404" pitchFamily="49" charset="0"/>
                <a:cs typeface="Courier New" panose="02070309020205020404" pitchFamily="49" charset="0"/>
              </a:rPr>
              <a:t>usleep</a:t>
            </a:r>
            <a:r>
              <a:rPr lang="en-GB" sz="1600" b="1" dirty="0">
                <a:latin typeface="Courier New" panose="02070309020205020404" pitchFamily="49" charset="0"/>
                <a:cs typeface="Courier New" panose="02070309020205020404" pitchFamily="49" charset="0"/>
              </a:rPr>
              <a:t>((long)p * 1000000);</a:t>
            </a:r>
          </a:p>
          <a:p>
            <a:pPr marL="0" indent="0">
              <a:spcBef>
                <a:spcPts val="0"/>
              </a:spcBef>
              <a:buNone/>
            </a:pPr>
            <a:r>
              <a:rPr lang="en-GB" sz="1600" b="1" dirty="0">
                <a:latin typeface="Courier New" panose="02070309020205020404" pitchFamily="49" charset="0"/>
                <a:cs typeface="Courier New" panose="02070309020205020404" pitchFamily="49" charset="0"/>
              </a:rPr>
              <a:t>  </a:t>
            </a:r>
            <a:r>
              <a:rPr lang="en-GB" sz="1600" b="1" dirty="0" err="1">
                <a:latin typeface="Courier New" panose="02070309020205020404" pitchFamily="49" charset="0"/>
                <a:cs typeface="Courier New" panose="02070309020205020404" pitchFamily="49" charset="0"/>
              </a:rPr>
              <a:t>printf</a:t>
            </a:r>
            <a:r>
              <a:rPr lang="en-GB" sz="1600" b="1" dirty="0">
                <a:latin typeface="Courier New" panose="02070309020205020404" pitchFamily="49" charset="0"/>
                <a:cs typeface="Courier New" panose="02070309020205020404" pitchFamily="49" charset="0"/>
              </a:rPr>
              <a:t>("Thread %</a:t>
            </a:r>
            <a:r>
              <a:rPr lang="en-GB" sz="1600" b="1" dirty="0" err="1">
                <a:latin typeface="Courier New" panose="02070309020205020404" pitchFamily="49" charset="0"/>
                <a:cs typeface="Courier New" panose="02070309020205020404" pitchFamily="49" charset="0"/>
              </a:rPr>
              <a:t>ld</a:t>
            </a:r>
            <a:r>
              <a:rPr lang="en-GB" sz="1600" b="1" dirty="0">
                <a:latin typeface="Courier New" panose="02070309020205020404" pitchFamily="49" charset="0"/>
                <a:cs typeface="Courier New" panose="02070309020205020404" pitchFamily="49" charset="0"/>
              </a:rPr>
              <a:t> reach barrier\</a:t>
            </a:r>
            <a:r>
              <a:rPr lang="en-GB" sz="1600" b="1" dirty="0" err="1">
                <a:latin typeface="Courier New" panose="02070309020205020404" pitchFamily="49" charset="0"/>
                <a:cs typeface="Courier New" panose="02070309020205020404" pitchFamily="49" charset="0"/>
              </a:rPr>
              <a:t>n",p</a:t>
            </a:r>
            <a:r>
              <a:rPr lang="en-GB" sz="1600" b="1" dirty="0">
                <a:latin typeface="Courier New" panose="02070309020205020404" pitchFamily="49" charset="0"/>
                <a:cs typeface="Courier New" panose="02070309020205020404" pitchFamily="49" charset="0"/>
              </a:rPr>
              <a:t>);</a:t>
            </a:r>
          </a:p>
          <a:p>
            <a:pPr marL="0" indent="0">
              <a:spcBef>
                <a:spcPts val="0"/>
              </a:spcBef>
              <a:buNone/>
            </a:pPr>
            <a:r>
              <a:rPr lang="en-GB" sz="1600" b="1" dirty="0">
                <a:latin typeface="Courier New" panose="02070309020205020404" pitchFamily="49" charset="0"/>
                <a:cs typeface="Courier New" panose="02070309020205020404" pitchFamily="49" charset="0"/>
              </a:rPr>
              <a:t>  </a:t>
            </a:r>
            <a:r>
              <a:rPr lang="en-GB" sz="1600" b="1" dirty="0" err="1">
                <a:latin typeface="Courier New" panose="02070309020205020404" pitchFamily="49" charset="0"/>
                <a:cs typeface="Courier New" panose="02070309020205020404" pitchFamily="49" charset="0"/>
              </a:rPr>
              <a:t>pthread_mutex_lock</a:t>
            </a:r>
            <a:r>
              <a:rPr lang="en-GB" sz="1600" b="1" dirty="0">
                <a:latin typeface="Courier New" panose="02070309020205020404" pitchFamily="49" charset="0"/>
                <a:cs typeface="Courier New" panose="02070309020205020404" pitchFamily="49" charset="0"/>
              </a:rPr>
              <a:t>(&amp;mutex);</a:t>
            </a:r>
          </a:p>
          <a:p>
            <a:pPr marL="0" indent="0">
              <a:spcBef>
                <a:spcPts val="0"/>
              </a:spcBef>
              <a:buNone/>
            </a:pPr>
            <a:r>
              <a:rPr lang="en-GB" sz="1600" b="1" dirty="0">
                <a:latin typeface="Courier New" panose="02070309020205020404" pitchFamily="49" charset="0"/>
                <a:cs typeface="Courier New" panose="02070309020205020404" pitchFamily="49" charset="0"/>
              </a:rPr>
              <a:t>  counter++;</a:t>
            </a:r>
          </a:p>
          <a:p>
            <a:pPr marL="0" indent="0">
              <a:spcBef>
                <a:spcPts val="0"/>
              </a:spcBef>
              <a:buNone/>
            </a:pPr>
            <a:r>
              <a:rPr lang="en-GB" sz="1600" b="1" dirty="0">
                <a:latin typeface="Courier New" panose="02070309020205020404" pitchFamily="49" charset="0"/>
                <a:cs typeface="Courier New" panose="02070309020205020404" pitchFamily="49" charset="0"/>
              </a:rPr>
              <a:t>  if(counter == </a:t>
            </a:r>
            <a:r>
              <a:rPr lang="en-GB" sz="1600" b="1" dirty="0" err="1">
                <a:latin typeface="Courier New" panose="02070309020205020404" pitchFamily="49" charset="0"/>
                <a:cs typeface="Courier New" panose="02070309020205020404" pitchFamily="49" charset="0"/>
              </a:rPr>
              <a:t>threadcount</a:t>
            </a:r>
            <a:r>
              <a:rPr lang="en-GB" sz="1600" b="1" dirty="0">
                <a:latin typeface="Courier New" panose="02070309020205020404" pitchFamily="49" charset="0"/>
                <a:cs typeface="Courier New" panose="02070309020205020404" pitchFamily="49" charset="0"/>
              </a:rPr>
              <a:t>)</a:t>
            </a:r>
          </a:p>
          <a:p>
            <a:pPr marL="0" indent="0">
              <a:spcBef>
                <a:spcPts val="0"/>
              </a:spcBef>
              <a:buNone/>
            </a:pPr>
            <a:r>
              <a:rPr lang="en-GB" sz="1600" b="1" dirty="0">
                <a:latin typeface="Courier New" panose="02070309020205020404" pitchFamily="49" charset="0"/>
                <a:cs typeface="Courier New" panose="02070309020205020404" pitchFamily="49" charset="0"/>
              </a:rPr>
              <a:t>    </a:t>
            </a:r>
            <a:r>
              <a:rPr lang="en-GB" sz="1600" b="1" dirty="0" err="1">
                <a:latin typeface="Courier New" panose="02070309020205020404" pitchFamily="49" charset="0"/>
                <a:cs typeface="Courier New" panose="02070309020205020404" pitchFamily="49" charset="0"/>
              </a:rPr>
              <a:t>pthread_cond_broadcast</a:t>
            </a:r>
            <a:r>
              <a:rPr lang="en-GB" sz="1600" b="1" dirty="0">
                <a:latin typeface="Courier New" panose="02070309020205020404" pitchFamily="49" charset="0"/>
                <a:cs typeface="Courier New" panose="02070309020205020404" pitchFamily="49" charset="0"/>
              </a:rPr>
              <a:t>(&amp;</a:t>
            </a:r>
            <a:r>
              <a:rPr lang="en-GB" sz="1600" b="1" dirty="0" err="1">
                <a:latin typeface="Courier New" panose="02070309020205020404" pitchFamily="49" charset="0"/>
                <a:cs typeface="Courier New" panose="02070309020205020404" pitchFamily="49" charset="0"/>
              </a:rPr>
              <a:t>cond</a:t>
            </a:r>
            <a:r>
              <a:rPr lang="en-GB" sz="1600" b="1" dirty="0">
                <a:latin typeface="Courier New" panose="02070309020205020404" pitchFamily="49" charset="0"/>
                <a:cs typeface="Courier New" panose="02070309020205020404" pitchFamily="49" charset="0"/>
              </a:rPr>
              <a:t>);</a:t>
            </a:r>
          </a:p>
          <a:p>
            <a:pPr marL="0" indent="0">
              <a:spcBef>
                <a:spcPts val="0"/>
              </a:spcBef>
              <a:buNone/>
            </a:pPr>
            <a:r>
              <a:rPr lang="en-GB" sz="1600" b="1" dirty="0">
                <a:latin typeface="Courier New" panose="02070309020205020404" pitchFamily="49" charset="0"/>
                <a:cs typeface="Courier New" panose="02070309020205020404" pitchFamily="49" charset="0"/>
              </a:rPr>
              <a:t>  else</a:t>
            </a:r>
          </a:p>
          <a:p>
            <a:pPr marL="0" indent="0">
              <a:spcBef>
                <a:spcPts val="0"/>
              </a:spcBef>
              <a:buNone/>
            </a:pPr>
            <a:r>
              <a:rPr lang="en-GB" sz="1600" b="1" dirty="0">
                <a:latin typeface="Courier New" panose="02070309020205020404" pitchFamily="49" charset="0"/>
                <a:cs typeface="Courier New" panose="02070309020205020404" pitchFamily="49" charset="0"/>
              </a:rPr>
              <a:t>    </a:t>
            </a:r>
            <a:r>
              <a:rPr lang="en-GB" sz="1600" b="1" dirty="0" err="1">
                <a:latin typeface="Courier New" panose="02070309020205020404" pitchFamily="49" charset="0"/>
                <a:cs typeface="Courier New" panose="02070309020205020404" pitchFamily="49" charset="0"/>
              </a:rPr>
              <a:t>pthread_cond_wait</a:t>
            </a:r>
            <a:r>
              <a:rPr lang="en-GB" sz="1600" b="1" dirty="0">
                <a:latin typeface="Courier New" panose="02070309020205020404" pitchFamily="49" charset="0"/>
                <a:cs typeface="Courier New" panose="02070309020205020404" pitchFamily="49" charset="0"/>
              </a:rPr>
              <a:t>(&amp;</a:t>
            </a:r>
            <a:r>
              <a:rPr lang="en-GB" sz="1600" b="1" dirty="0" err="1">
                <a:latin typeface="Courier New" panose="02070309020205020404" pitchFamily="49" charset="0"/>
                <a:cs typeface="Courier New" panose="02070309020205020404" pitchFamily="49" charset="0"/>
              </a:rPr>
              <a:t>cond</a:t>
            </a:r>
            <a:r>
              <a:rPr lang="en-GB" sz="1600" b="1" dirty="0">
                <a:latin typeface="Courier New" panose="02070309020205020404" pitchFamily="49" charset="0"/>
                <a:cs typeface="Courier New" panose="02070309020205020404" pitchFamily="49" charset="0"/>
              </a:rPr>
              <a:t>,&amp;mutex); </a:t>
            </a:r>
          </a:p>
          <a:p>
            <a:pPr marL="0" indent="0">
              <a:spcBef>
                <a:spcPts val="0"/>
              </a:spcBef>
              <a:buNone/>
            </a:pPr>
            <a:r>
              <a:rPr lang="en-GB" sz="1600" b="1" dirty="0">
                <a:latin typeface="Courier New" panose="02070309020205020404" pitchFamily="49" charset="0"/>
                <a:cs typeface="Courier New" panose="02070309020205020404" pitchFamily="49" charset="0"/>
              </a:rPr>
              <a:t>  </a:t>
            </a:r>
            <a:r>
              <a:rPr lang="en-GB" sz="1600" b="1" dirty="0" err="1">
                <a:latin typeface="Courier New" panose="02070309020205020404" pitchFamily="49" charset="0"/>
                <a:cs typeface="Courier New" panose="02070309020205020404" pitchFamily="49" charset="0"/>
              </a:rPr>
              <a:t>pthread_mutex_unlock</a:t>
            </a:r>
            <a:r>
              <a:rPr lang="en-GB" sz="1600" b="1" dirty="0">
                <a:latin typeface="Courier New" panose="02070309020205020404" pitchFamily="49" charset="0"/>
                <a:cs typeface="Courier New" panose="02070309020205020404" pitchFamily="49" charset="0"/>
              </a:rPr>
              <a:t>(&amp;mutex);</a:t>
            </a:r>
          </a:p>
          <a:p>
            <a:pPr marL="0" indent="0">
              <a:spcBef>
                <a:spcPts val="0"/>
              </a:spcBef>
              <a:buNone/>
            </a:pPr>
            <a:r>
              <a:rPr lang="en-GB" sz="1600" b="1" dirty="0">
                <a:latin typeface="Courier New" panose="02070309020205020404" pitchFamily="49" charset="0"/>
                <a:cs typeface="Courier New" panose="02070309020205020404" pitchFamily="49" charset="0"/>
              </a:rPr>
              <a:t>  </a:t>
            </a:r>
            <a:r>
              <a:rPr lang="en-GB" sz="1600" b="1" dirty="0" err="1">
                <a:latin typeface="Courier New" panose="02070309020205020404" pitchFamily="49" charset="0"/>
                <a:cs typeface="Courier New" panose="02070309020205020404" pitchFamily="49" charset="0"/>
              </a:rPr>
              <a:t>printf</a:t>
            </a:r>
            <a:r>
              <a:rPr lang="en-GB" sz="1600" b="1" dirty="0">
                <a:latin typeface="Courier New" panose="02070309020205020404" pitchFamily="49" charset="0"/>
                <a:cs typeface="Courier New" panose="02070309020205020404" pitchFamily="49" charset="0"/>
              </a:rPr>
              <a:t>("Thread %</a:t>
            </a:r>
            <a:r>
              <a:rPr lang="en-GB" sz="1600" b="1" dirty="0" err="1">
                <a:latin typeface="Courier New" panose="02070309020205020404" pitchFamily="49" charset="0"/>
                <a:cs typeface="Courier New" panose="02070309020205020404" pitchFamily="49" charset="0"/>
              </a:rPr>
              <a:t>ld</a:t>
            </a:r>
            <a:r>
              <a:rPr lang="en-GB" sz="1600" b="1" dirty="0">
                <a:latin typeface="Courier New" panose="02070309020205020404" pitchFamily="49" charset="0"/>
                <a:cs typeface="Courier New" panose="02070309020205020404" pitchFamily="49" charset="0"/>
              </a:rPr>
              <a:t> passed barrier\</a:t>
            </a:r>
            <a:r>
              <a:rPr lang="en-GB" sz="1600" b="1" dirty="0" err="1">
                <a:latin typeface="Courier New" panose="02070309020205020404" pitchFamily="49" charset="0"/>
                <a:cs typeface="Courier New" panose="02070309020205020404" pitchFamily="49" charset="0"/>
              </a:rPr>
              <a:t>n",p</a:t>
            </a:r>
            <a:r>
              <a:rPr lang="en-GB" sz="1600" b="1" dirty="0">
                <a:latin typeface="Courier New" panose="02070309020205020404" pitchFamily="49" charset="0"/>
                <a:cs typeface="Courier New" panose="02070309020205020404" pitchFamily="49" charset="0"/>
              </a:rPr>
              <a:t>);</a:t>
            </a:r>
          </a:p>
          <a:p>
            <a:pPr marL="0" indent="0">
              <a:spcBef>
                <a:spcPts val="0"/>
              </a:spcBef>
              <a:buNone/>
            </a:pPr>
            <a:r>
              <a:rPr lang="en-GB" sz="1600" b="1" dirty="0">
                <a:latin typeface="Courier New" panose="02070309020205020404" pitchFamily="49" charset="0"/>
                <a:cs typeface="Courier New" panose="02070309020205020404" pitchFamily="49" charset="0"/>
              </a:rPr>
              <a:t>  return NULL;</a:t>
            </a:r>
          </a:p>
          <a:p>
            <a:pPr marL="0" indent="0">
              <a:spcBef>
                <a:spcPts val="0"/>
              </a:spcBef>
              <a:buNone/>
            </a:pPr>
            <a:r>
              <a:rPr lang="en-GB" sz="1600" b="1" dirty="0">
                <a:latin typeface="Courier New" panose="02070309020205020404" pitchFamily="49" charset="0"/>
                <a:cs typeface="Courier New" panose="02070309020205020404" pitchFamily="49" charset="0"/>
              </a:rPr>
              <a:t>}</a:t>
            </a:r>
          </a:p>
        </p:txBody>
      </p:sp>
      <p:sp>
        <p:nvSpPr>
          <p:cNvPr id="4" name="Content Placeholder 2">
            <a:extLst>
              <a:ext uri="{FF2B5EF4-FFF2-40B4-BE49-F238E27FC236}">
                <a16:creationId xmlns:a16="http://schemas.microsoft.com/office/drawing/2014/main" id="{44F6DAE0-ED96-02E1-9A6A-531F859DA2C1}"/>
              </a:ext>
            </a:extLst>
          </p:cNvPr>
          <p:cNvSpPr txBox="1">
            <a:spLocks/>
          </p:cNvSpPr>
          <p:nvPr/>
        </p:nvSpPr>
        <p:spPr bwMode="auto">
          <a:xfrm>
            <a:off x="5831971" y="1052736"/>
            <a:ext cx="6240693" cy="561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884" indent="-342884" algn="l" rtl="0" eaLnBrk="1" fontAlgn="base" hangingPunct="1">
              <a:spcBef>
                <a:spcPct val="20000"/>
              </a:spcBef>
              <a:spcAft>
                <a:spcPct val="0"/>
              </a:spcAft>
              <a:buChar char="•"/>
              <a:defRPr sz="3200">
                <a:solidFill>
                  <a:schemeClr val="tx1"/>
                </a:solidFill>
                <a:latin typeface="+mn-lt"/>
                <a:ea typeface="+mn-ea"/>
                <a:cs typeface="+mn-cs"/>
              </a:defRPr>
            </a:lvl1pPr>
            <a:lvl2pPr marL="742913" indent="-285736" algn="l" rtl="0" eaLnBrk="1" fontAlgn="base" hangingPunct="1">
              <a:spcBef>
                <a:spcPct val="20000"/>
              </a:spcBef>
              <a:spcAft>
                <a:spcPct val="0"/>
              </a:spcAft>
              <a:buChar char="–"/>
              <a:defRPr sz="2800">
                <a:solidFill>
                  <a:schemeClr val="tx1"/>
                </a:solidFill>
                <a:latin typeface="+mn-lt"/>
              </a:defRPr>
            </a:lvl2pPr>
            <a:lvl3pPr marL="1142944" indent="-228588" algn="l" rtl="0" eaLnBrk="1" fontAlgn="base" hangingPunct="1">
              <a:spcBef>
                <a:spcPct val="20000"/>
              </a:spcBef>
              <a:spcAft>
                <a:spcPct val="0"/>
              </a:spcAft>
              <a:buChar char="•"/>
              <a:defRPr sz="2400">
                <a:solidFill>
                  <a:schemeClr val="tx1"/>
                </a:solidFill>
                <a:latin typeface="+mn-lt"/>
              </a:defRPr>
            </a:lvl3pPr>
            <a:lvl4pPr marL="1600120" indent="-228588" algn="l" rtl="0" eaLnBrk="1" fontAlgn="base" hangingPunct="1">
              <a:spcBef>
                <a:spcPct val="20000"/>
              </a:spcBef>
              <a:spcAft>
                <a:spcPct val="0"/>
              </a:spcAft>
              <a:buChar char="–"/>
              <a:defRPr sz="2000">
                <a:solidFill>
                  <a:schemeClr val="tx1"/>
                </a:solidFill>
                <a:latin typeface="+mn-lt"/>
              </a:defRPr>
            </a:lvl4pPr>
            <a:lvl5pPr marL="2057297" indent="-228588" algn="l" rtl="0" eaLnBrk="1" fontAlgn="base" hangingPunct="1">
              <a:spcBef>
                <a:spcPct val="20000"/>
              </a:spcBef>
              <a:spcAft>
                <a:spcPct val="0"/>
              </a:spcAft>
              <a:buChar char="»"/>
              <a:defRPr sz="2000">
                <a:solidFill>
                  <a:schemeClr val="tx1"/>
                </a:solidFill>
                <a:latin typeface="+mn-lt"/>
              </a:defRPr>
            </a:lvl5pPr>
            <a:lvl6pPr marL="2514474" indent="-228588" algn="l" rtl="0" eaLnBrk="1" fontAlgn="base" hangingPunct="1">
              <a:spcBef>
                <a:spcPct val="20000"/>
              </a:spcBef>
              <a:spcAft>
                <a:spcPct val="0"/>
              </a:spcAft>
              <a:buChar char="»"/>
              <a:defRPr sz="2000">
                <a:solidFill>
                  <a:schemeClr val="tx1"/>
                </a:solidFill>
                <a:latin typeface="+mn-lt"/>
              </a:defRPr>
            </a:lvl6pPr>
            <a:lvl7pPr marL="2971652" indent="-228588" algn="l" rtl="0" eaLnBrk="1" fontAlgn="base" hangingPunct="1">
              <a:spcBef>
                <a:spcPct val="20000"/>
              </a:spcBef>
              <a:spcAft>
                <a:spcPct val="0"/>
              </a:spcAft>
              <a:buChar char="»"/>
              <a:defRPr sz="2000">
                <a:solidFill>
                  <a:schemeClr val="tx1"/>
                </a:solidFill>
                <a:latin typeface="+mn-lt"/>
              </a:defRPr>
            </a:lvl7pPr>
            <a:lvl8pPr marL="3428829" indent="-228588" algn="l" rtl="0" eaLnBrk="1" fontAlgn="base" hangingPunct="1">
              <a:spcBef>
                <a:spcPct val="20000"/>
              </a:spcBef>
              <a:spcAft>
                <a:spcPct val="0"/>
              </a:spcAft>
              <a:buChar char="»"/>
              <a:defRPr sz="2000">
                <a:solidFill>
                  <a:schemeClr val="tx1"/>
                </a:solidFill>
                <a:latin typeface="+mn-lt"/>
              </a:defRPr>
            </a:lvl8pPr>
            <a:lvl9pPr marL="3886006" indent="-228588" algn="l" rtl="0" eaLnBrk="1" fontAlgn="base" hangingPunct="1">
              <a:spcBef>
                <a:spcPct val="20000"/>
              </a:spcBef>
              <a:spcAft>
                <a:spcPct val="0"/>
              </a:spcAft>
              <a:buChar char="»"/>
              <a:defRPr sz="2000">
                <a:solidFill>
                  <a:schemeClr val="tx1"/>
                </a:solidFill>
                <a:latin typeface="+mn-lt"/>
              </a:defRPr>
            </a:lvl9pPr>
          </a:lstStyle>
          <a:p>
            <a:pPr marL="0" indent="0">
              <a:spcBef>
                <a:spcPts val="0"/>
              </a:spcBef>
              <a:buFontTx/>
              <a:buNone/>
            </a:pPr>
            <a:r>
              <a:rPr lang="en-GB" sz="1600" b="1" kern="0" dirty="0">
                <a:latin typeface="Courier New" panose="02070309020205020404" pitchFamily="49" charset="0"/>
                <a:cs typeface="Courier New" panose="02070309020205020404" pitchFamily="49" charset="0"/>
              </a:rPr>
              <a:t>void main()</a:t>
            </a:r>
          </a:p>
          <a:p>
            <a:pPr marL="0" indent="0">
              <a:spcBef>
                <a:spcPts val="0"/>
              </a:spcBef>
              <a:buFontTx/>
              <a:buNone/>
            </a:pPr>
            <a:r>
              <a:rPr lang="en-GB" sz="1600" b="1" kern="0" dirty="0">
                <a:latin typeface="Courier New" panose="02070309020205020404" pitchFamily="49" charset="0"/>
                <a:cs typeface="Courier New" panose="02070309020205020404" pitchFamily="49" charset="0"/>
              </a:rPr>
              <a:t>{</a:t>
            </a:r>
          </a:p>
          <a:p>
            <a:pPr marL="0" indent="0">
              <a:spcBef>
                <a:spcPts val="0"/>
              </a:spcBef>
              <a:buFontTx/>
              <a:buNone/>
            </a:pPr>
            <a:r>
              <a:rPr lang="en-GB" sz="1600" b="1" kern="0" dirty="0">
                <a:latin typeface="Courier New" panose="02070309020205020404" pitchFamily="49" charset="0"/>
                <a:cs typeface="Courier New" panose="02070309020205020404" pitchFamily="49" charset="0"/>
              </a:rPr>
              <a:t>  </a:t>
            </a:r>
            <a:r>
              <a:rPr lang="en-GB" sz="1600" b="1" kern="0" dirty="0" err="1">
                <a:latin typeface="Courier New" panose="02070309020205020404" pitchFamily="49" charset="0"/>
                <a:cs typeface="Courier New" panose="02070309020205020404" pitchFamily="49" charset="0"/>
              </a:rPr>
              <a:t>pthread_t</a:t>
            </a:r>
            <a:r>
              <a:rPr lang="en-GB" sz="1600" b="1" kern="0" dirty="0">
                <a:latin typeface="Courier New" panose="02070309020205020404" pitchFamily="49" charset="0"/>
                <a:cs typeface="Courier New" panose="02070309020205020404" pitchFamily="49" charset="0"/>
              </a:rPr>
              <a:t> </a:t>
            </a:r>
            <a:r>
              <a:rPr lang="en-GB" sz="1600" b="1" kern="0" dirty="0" err="1">
                <a:latin typeface="Courier New" panose="02070309020205020404" pitchFamily="49" charset="0"/>
                <a:cs typeface="Courier New" panose="02070309020205020404" pitchFamily="49" charset="0"/>
              </a:rPr>
              <a:t>thrID</a:t>
            </a:r>
            <a:r>
              <a:rPr lang="en-GB" sz="1600" b="1" kern="0" dirty="0">
                <a:latin typeface="Courier New" panose="02070309020205020404" pitchFamily="49" charset="0"/>
                <a:cs typeface="Courier New" panose="02070309020205020404" pitchFamily="49" charset="0"/>
              </a:rPr>
              <a:t>[</a:t>
            </a:r>
            <a:r>
              <a:rPr lang="en-GB" sz="1600" b="1" kern="0" dirty="0" err="1">
                <a:latin typeface="Courier New" panose="02070309020205020404" pitchFamily="49" charset="0"/>
                <a:cs typeface="Courier New" panose="02070309020205020404" pitchFamily="49" charset="0"/>
              </a:rPr>
              <a:t>threadcount</a:t>
            </a:r>
            <a:r>
              <a:rPr lang="en-GB" sz="1600" b="1" kern="0" dirty="0">
                <a:latin typeface="Courier New" panose="02070309020205020404" pitchFamily="49" charset="0"/>
                <a:cs typeface="Courier New" panose="02070309020205020404" pitchFamily="49" charset="0"/>
              </a:rPr>
              <a:t>];</a:t>
            </a:r>
          </a:p>
          <a:p>
            <a:pPr marL="0" indent="0">
              <a:spcBef>
                <a:spcPts val="0"/>
              </a:spcBef>
              <a:buFontTx/>
              <a:buNone/>
            </a:pPr>
            <a:endParaRPr lang="en-GB" sz="1600" b="1" kern="0" dirty="0">
              <a:latin typeface="Courier New" panose="02070309020205020404" pitchFamily="49" charset="0"/>
              <a:cs typeface="Courier New" panose="02070309020205020404" pitchFamily="49" charset="0"/>
            </a:endParaRPr>
          </a:p>
          <a:p>
            <a:pPr marL="0" indent="0">
              <a:spcBef>
                <a:spcPts val="0"/>
              </a:spcBef>
              <a:buFontTx/>
              <a:buNone/>
            </a:pPr>
            <a:r>
              <a:rPr lang="en-GB" sz="1600" b="1" kern="0" dirty="0">
                <a:latin typeface="Courier New" panose="02070309020205020404" pitchFamily="49" charset="0"/>
                <a:cs typeface="Courier New" panose="02070309020205020404" pitchFamily="49" charset="0"/>
              </a:rPr>
              <a:t>  </a:t>
            </a:r>
            <a:r>
              <a:rPr lang="en-GB" sz="1600" b="1" kern="0" dirty="0" err="1">
                <a:latin typeface="Courier New" panose="02070309020205020404" pitchFamily="49" charset="0"/>
                <a:cs typeface="Courier New" panose="02070309020205020404" pitchFamily="49" charset="0"/>
              </a:rPr>
              <a:t>pthread_cond_init</a:t>
            </a:r>
            <a:r>
              <a:rPr lang="en-GB" sz="1600" b="1" kern="0" dirty="0">
                <a:latin typeface="Courier New" panose="02070309020205020404" pitchFamily="49" charset="0"/>
                <a:cs typeface="Courier New" panose="02070309020205020404" pitchFamily="49" charset="0"/>
              </a:rPr>
              <a:t>(&amp;</a:t>
            </a:r>
            <a:r>
              <a:rPr lang="en-GB" sz="1600" b="1" kern="0" dirty="0" err="1">
                <a:latin typeface="Courier New" panose="02070309020205020404" pitchFamily="49" charset="0"/>
                <a:cs typeface="Courier New" panose="02070309020205020404" pitchFamily="49" charset="0"/>
              </a:rPr>
              <a:t>cond</a:t>
            </a:r>
            <a:r>
              <a:rPr lang="en-GB" sz="1600" b="1" kern="0" dirty="0">
                <a:latin typeface="Courier New" panose="02070309020205020404" pitchFamily="49" charset="0"/>
                <a:cs typeface="Courier New" panose="02070309020205020404" pitchFamily="49" charset="0"/>
              </a:rPr>
              <a:t>, NULL);</a:t>
            </a:r>
          </a:p>
          <a:p>
            <a:pPr marL="0" indent="0">
              <a:spcBef>
                <a:spcPts val="0"/>
              </a:spcBef>
              <a:buFontTx/>
              <a:buNone/>
            </a:pPr>
            <a:r>
              <a:rPr lang="en-GB" sz="1600" b="1" kern="0" dirty="0">
                <a:latin typeface="Courier New" panose="02070309020205020404" pitchFamily="49" charset="0"/>
                <a:cs typeface="Courier New" panose="02070309020205020404" pitchFamily="49" charset="0"/>
              </a:rPr>
              <a:t>  </a:t>
            </a:r>
            <a:r>
              <a:rPr lang="en-GB" sz="1600" b="1" kern="0" dirty="0" err="1">
                <a:latin typeface="Courier New" panose="02070309020205020404" pitchFamily="49" charset="0"/>
                <a:cs typeface="Courier New" panose="02070309020205020404" pitchFamily="49" charset="0"/>
              </a:rPr>
              <a:t>pthread_mutex_init</a:t>
            </a:r>
            <a:r>
              <a:rPr lang="en-GB" sz="1600" b="1" kern="0" dirty="0">
                <a:latin typeface="Courier New" panose="02070309020205020404" pitchFamily="49" charset="0"/>
                <a:cs typeface="Courier New" panose="02070309020205020404" pitchFamily="49" charset="0"/>
              </a:rPr>
              <a:t>(&amp;</a:t>
            </a:r>
            <a:r>
              <a:rPr lang="en-GB" sz="1600" b="1" kern="0" dirty="0" err="1">
                <a:latin typeface="Courier New" panose="02070309020205020404" pitchFamily="49" charset="0"/>
                <a:cs typeface="Courier New" panose="02070309020205020404" pitchFamily="49" charset="0"/>
              </a:rPr>
              <a:t>mutex,NULL</a:t>
            </a:r>
            <a:r>
              <a:rPr lang="en-GB" sz="1600" b="1" kern="0" dirty="0">
                <a:latin typeface="Courier New" panose="02070309020205020404" pitchFamily="49" charset="0"/>
                <a:cs typeface="Courier New" panose="02070309020205020404" pitchFamily="49" charset="0"/>
              </a:rPr>
              <a:t>);</a:t>
            </a:r>
          </a:p>
          <a:p>
            <a:pPr marL="0" indent="0">
              <a:spcBef>
                <a:spcPts val="0"/>
              </a:spcBef>
              <a:buFontTx/>
              <a:buNone/>
            </a:pPr>
            <a:r>
              <a:rPr lang="en-GB" sz="1600" b="1" kern="0" dirty="0">
                <a:latin typeface="Courier New" panose="02070309020205020404" pitchFamily="49" charset="0"/>
                <a:cs typeface="Courier New" panose="02070309020205020404" pitchFamily="49" charset="0"/>
              </a:rPr>
              <a:t>  for(int </a:t>
            </a:r>
            <a:r>
              <a:rPr lang="en-GB" sz="1600" b="1" kern="0" dirty="0" err="1">
                <a:latin typeface="Courier New" panose="02070309020205020404" pitchFamily="49" charset="0"/>
                <a:cs typeface="Courier New" panose="02070309020205020404" pitchFamily="49" charset="0"/>
              </a:rPr>
              <a:t>i</a:t>
            </a:r>
            <a:r>
              <a:rPr lang="en-GB" sz="1600" b="1" kern="0" dirty="0">
                <a:latin typeface="Courier New" panose="02070309020205020404" pitchFamily="49" charset="0"/>
                <a:cs typeface="Courier New" panose="02070309020205020404" pitchFamily="49" charset="0"/>
              </a:rPr>
              <a:t>=0; </a:t>
            </a:r>
            <a:r>
              <a:rPr lang="en-GB" sz="1600" b="1" kern="0" dirty="0" err="1">
                <a:latin typeface="Courier New" panose="02070309020205020404" pitchFamily="49" charset="0"/>
                <a:cs typeface="Courier New" panose="02070309020205020404" pitchFamily="49" charset="0"/>
              </a:rPr>
              <a:t>i</a:t>
            </a:r>
            <a:r>
              <a:rPr lang="en-GB" sz="1600" b="1" kern="0" dirty="0">
                <a:latin typeface="Courier New" panose="02070309020205020404" pitchFamily="49" charset="0"/>
                <a:cs typeface="Courier New" panose="02070309020205020404" pitchFamily="49" charset="0"/>
              </a:rPr>
              <a:t> &lt; </a:t>
            </a:r>
            <a:r>
              <a:rPr lang="en-GB" sz="1600" b="1" kern="0" dirty="0" err="1">
                <a:latin typeface="Courier New" panose="02070309020205020404" pitchFamily="49" charset="0"/>
                <a:cs typeface="Courier New" panose="02070309020205020404" pitchFamily="49" charset="0"/>
              </a:rPr>
              <a:t>threadcount</a:t>
            </a:r>
            <a:r>
              <a:rPr lang="en-GB" sz="1600" b="1" kern="0" dirty="0">
                <a:latin typeface="Courier New" panose="02070309020205020404" pitchFamily="49" charset="0"/>
                <a:cs typeface="Courier New" panose="02070309020205020404" pitchFamily="49" charset="0"/>
              </a:rPr>
              <a:t>; </a:t>
            </a:r>
            <a:r>
              <a:rPr lang="en-GB" sz="1600" b="1" kern="0" dirty="0" err="1">
                <a:latin typeface="Courier New" panose="02070309020205020404" pitchFamily="49" charset="0"/>
                <a:cs typeface="Courier New" panose="02070309020205020404" pitchFamily="49" charset="0"/>
              </a:rPr>
              <a:t>i</a:t>
            </a:r>
            <a:r>
              <a:rPr lang="en-GB" sz="1600" b="1" kern="0" dirty="0">
                <a:latin typeface="Courier New" panose="02070309020205020404" pitchFamily="49" charset="0"/>
                <a:cs typeface="Courier New" panose="02070309020205020404" pitchFamily="49" charset="0"/>
              </a:rPr>
              <a:t>++)</a:t>
            </a:r>
          </a:p>
          <a:p>
            <a:pPr marL="0" indent="0">
              <a:spcBef>
                <a:spcPts val="0"/>
              </a:spcBef>
              <a:buFontTx/>
              <a:buNone/>
            </a:pPr>
            <a:r>
              <a:rPr lang="en-GB" sz="1600" b="1" kern="0" dirty="0">
                <a:latin typeface="Courier New" panose="02070309020205020404" pitchFamily="49" charset="0"/>
                <a:cs typeface="Courier New" panose="02070309020205020404" pitchFamily="49" charset="0"/>
              </a:rPr>
              <a:t>    </a:t>
            </a:r>
            <a:r>
              <a:rPr lang="en-GB" sz="1600" b="1" kern="0" dirty="0" err="1">
                <a:latin typeface="Courier New" panose="02070309020205020404" pitchFamily="49" charset="0"/>
                <a:cs typeface="Courier New" panose="02070309020205020404" pitchFamily="49" charset="0"/>
              </a:rPr>
              <a:t>pthread_create</a:t>
            </a:r>
            <a:r>
              <a:rPr lang="en-GB" sz="1600" b="1" kern="0" dirty="0">
                <a:latin typeface="Courier New" panose="02070309020205020404" pitchFamily="49" charset="0"/>
                <a:cs typeface="Courier New" panose="02070309020205020404" pitchFamily="49" charset="0"/>
              </a:rPr>
              <a:t>(&amp;</a:t>
            </a:r>
            <a:r>
              <a:rPr lang="en-GB" sz="1600" b="1" kern="0" dirty="0" err="1">
                <a:latin typeface="Courier New" panose="02070309020205020404" pitchFamily="49" charset="0"/>
                <a:cs typeface="Courier New" panose="02070309020205020404" pitchFamily="49" charset="0"/>
              </a:rPr>
              <a:t>thrID</a:t>
            </a:r>
            <a:r>
              <a:rPr lang="en-GB" sz="1600" b="1" kern="0" dirty="0">
                <a:latin typeface="Courier New" panose="02070309020205020404" pitchFamily="49" charset="0"/>
                <a:cs typeface="Courier New" panose="02070309020205020404" pitchFamily="49" charset="0"/>
              </a:rPr>
              <a:t>[</a:t>
            </a:r>
            <a:r>
              <a:rPr lang="en-GB" sz="1600" b="1" kern="0" dirty="0" err="1">
                <a:latin typeface="Courier New" panose="02070309020205020404" pitchFamily="49" charset="0"/>
                <a:cs typeface="Courier New" panose="02070309020205020404" pitchFamily="49" charset="0"/>
              </a:rPr>
              <a:t>i</a:t>
            </a:r>
            <a:r>
              <a:rPr lang="en-GB" sz="1600" b="1" kern="0" dirty="0">
                <a:latin typeface="Courier New" panose="02070309020205020404" pitchFamily="49" charset="0"/>
                <a:cs typeface="Courier New" panose="02070309020205020404" pitchFamily="49" charset="0"/>
              </a:rPr>
              <a:t>],</a:t>
            </a:r>
            <a:r>
              <a:rPr lang="en-GB" sz="1600" b="1" kern="0" dirty="0" err="1">
                <a:latin typeface="Courier New" panose="02070309020205020404" pitchFamily="49" charset="0"/>
                <a:cs typeface="Courier New" panose="02070309020205020404" pitchFamily="49" charset="0"/>
              </a:rPr>
              <a:t>NULL,threadmain,i</a:t>
            </a:r>
            <a:r>
              <a:rPr lang="en-GB" sz="1600" b="1" kern="0" dirty="0">
                <a:latin typeface="Courier New" panose="02070309020205020404" pitchFamily="49" charset="0"/>
                <a:cs typeface="Courier New" panose="02070309020205020404" pitchFamily="49" charset="0"/>
              </a:rPr>
              <a:t>);</a:t>
            </a:r>
          </a:p>
          <a:p>
            <a:pPr marL="0" indent="0">
              <a:spcBef>
                <a:spcPts val="0"/>
              </a:spcBef>
              <a:buFontTx/>
              <a:buNone/>
            </a:pPr>
            <a:r>
              <a:rPr lang="en-GB" sz="1600" b="1" kern="0" dirty="0">
                <a:latin typeface="Courier New" panose="02070309020205020404" pitchFamily="49" charset="0"/>
                <a:cs typeface="Courier New" panose="02070309020205020404" pitchFamily="49" charset="0"/>
              </a:rPr>
              <a:t>  for(int </a:t>
            </a:r>
            <a:r>
              <a:rPr lang="en-GB" sz="1600" b="1" kern="0" dirty="0" err="1">
                <a:latin typeface="Courier New" panose="02070309020205020404" pitchFamily="49" charset="0"/>
                <a:cs typeface="Courier New" panose="02070309020205020404" pitchFamily="49" charset="0"/>
              </a:rPr>
              <a:t>i</a:t>
            </a:r>
            <a:r>
              <a:rPr lang="en-GB" sz="1600" b="1" kern="0" dirty="0">
                <a:latin typeface="Courier New" panose="02070309020205020404" pitchFamily="49" charset="0"/>
                <a:cs typeface="Courier New" panose="02070309020205020404" pitchFamily="49" charset="0"/>
              </a:rPr>
              <a:t>=0; </a:t>
            </a:r>
            <a:r>
              <a:rPr lang="en-GB" sz="1600" b="1" kern="0" dirty="0" err="1">
                <a:latin typeface="Courier New" panose="02070309020205020404" pitchFamily="49" charset="0"/>
                <a:cs typeface="Courier New" panose="02070309020205020404" pitchFamily="49" charset="0"/>
              </a:rPr>
              <a:t>i</a:t>
            </a:r>
            <a:r>
              <a:rPr lang="en-GB" sz="1600" b="1" kern="0" dirty="0">
                <a:latin typeface="Courier New" panose="02070309020205020404" pitchFamily="49" charset="0"/>
                <a:cs typeface="Courier New" panose="02070309020205020404" pitchFamily="49" charset="0"/>
              </a:rPr>
              <a:t> &lt; </a:t>
            </a:r>
            <a:r>
              <a:rPr lang="en-GB" sz="1600" b="1" kern="0" dirty="0" err="1">
                <a:latin typeface="Courier New" panose="02070309020205020404" pitchFamily="49" charset="0"/>
                <a:cs typeface="Courier New" panose="02070309020205020404" pitchFamily="49" charset="0"/>
              </a:rPr>
              <a:t>threadcount</a:t>
            </a:r>
            <a:r>
              <a:rPr lang="en-GB" sz="1600" b="1" kern="0" dirty="0">
                <a:latin typeface="Courier New" panose="02070309020205020404" pitchFamily="49" charset="0"/>
                <a:cs typeface="Courier New" panose="02070309020205020404" pitchFamily="49" charset="0"/>
              </a:rPr>
              <a:t>; </a:t>
            </a:r>
            <a:r>
              <a:rPr lang="en-GB" sz="1600" b="1" kern="0" dirty="0" err="1">
                <a:latin typeface="Courier New" panose="02070309020205020404" pitchFamily="49" charset="0"/>
                <a:cs typeface="Courier New" panose="02070309020205020404" pitchFamily="49" charset="0"/>
              </a:rPr>
              <a:t>i</a:t>
            </a:r>
            <a:r>
              <a:rPr lang="en-GB" sz="1600" b="1" kern="0" dirty="0">
                <a:latin typeface="Courier New" panose="02070309020205020404" pitchFamily="49" charset="0"/>
                <a:cs typeface="Courier New" panose="02070309020205020404" pitchFamily="49" charset="0"/>
              </a:rPr>
              <a:t>++)</a:t>
            </a:r>
          </a:p>
          <a:p>
            <a:pPr marL="0" indent="0">
              <a:spcBef>
                <a:spcPts val="0"/>
              </a:spcBef>
              <a:buFontTx/>
              <a:buNone/>
            </a:pPr>
            <a:r>
              <a:rPr lang="en-GB" sz="1600" b="1" kern="0" dirty="0">
                <a:latin typeface="Courier New" panose="02070309020205020404" pitchFamily="49" charset="0"/>
                <a:cs typeface="Courier New" panose="02070309020205020404" pitchFamily="49" charset="0"/>
              </a:rPr>
              <a:t>    </a:t>
            </a:r>
            <a:r>
              <a:rPr lang="en-GB" sz="1600" b="1" kern="0" dirty="0" err="1">
                <a:latin typeface="Courier New" panose="02070309020205020404" pitchFamily="49" charset="0"/>
                <a:cs typeface="Courier New" panose="02070309020205020404" pitchFamily="49" charset="0"/>
              </a:rPr>
              <a:t>pthread_join</a:t>
            </a:r>
            <a:r>
              <a:rPr lang="en-GB" sz="1600" b="1" kern="0" dirty="0">
                <a:latin typeface="Courier New" panose="02070309020205020404" pitchFamily="49" charset="0"/>
                <a:cs typeface="Courier New" panose="02070309020205020404" pitchFamily="49" charset="0"/>
              </a:rPr>
              <a:t>(</a:t>
            </a:r>
            <a:r>
              <a:rPr lang="en-GB" sz="1600" b="1" kern="0" dirty="0" err="1">
                <a:latin typeface="Courier New" panose="02070309020205020404" pitchFamily="49" charset="0"/>
                <a:cs typeface="Courier New" panose="02070309020205020404" pitchFamily="49" charset="0"/>
              </a:rPr>
              <a:t>thrID</a:t>
            </a:r>
            <a:r>
              <a:rPr lang="en-GB" sz="1600" b="1" kern="0" dirty="0">
                <a:latin typeface="Courier New" panose="02070309020205020404" pitchFamily="49" charset="0"/>
                <a:cs typeface="Courier New" panose="02070309020205020404" pitchFamily="49" charset="0"/>
              </a:rPr>
              <a:t>[</a:t>
            </a:r>
            <a:r>
              <a:rPr lang="en-GB" sz="1600" b="1" kern="0" dirty="0" err="1">
                <a:latin typeface="Courier New" panose="02070309020205020404" pitchFamily="49" charset="0"/>
                <a:cs typeface="Courier New" panose="02070309020205020404" pitchFamily="49" charset="0"/>
              </a:rPr>
              <a:t>i</a:t>
            </a:r>
            <a:r>
              <a:rPr lang="en-GB" sz="1600" b="1" kern="0" dirty="0">
                <a:latin typeface="Courier New" panose="02070309020205020404" pitchFamily="49" charset="0"/>
                <a:cs typeface="Courier New" panose="02070309020205020404" pitchFamily="49" charset="0"/>
              </a:rPr>
              <a:t>], NULL);</a:t>
            </a:r>
          </a:p>
          <a:p>
            <a:pPr marL="0" indent="0">
              <a:spcBef>
                <a:spcPts val="0"/>
              </a:spcBef>
              <a:buFontTx/>
              <a:buNone/>
            </a:pPr>
            <a:r>
              <a:rPr lang="en-GB" sz="1600" b="1" kern="0" dirty="0">
                <a:latin typeface="Courier New" panose="02070309020205020404" pitchFamily="49" charset="0"/>
                <a:cs typeface="Courier New" panose="02070309020205020404" pitchFamily="49" charset="0"/>
              </a:rPr>
              <a:t>  </a:t>
            </a:r>
            <a:r>
              <a:rPr lang="en-GB" sz="1600" b="1" kern="0" dirty="0" err="1">
                <a:latin typeface="Courier New" panose="02070309020205020404" pitchFamily="49" charset="0"/>
                <a:cs typeface="Courier New" panose="02070309020205020404" pitchFamily="49" charset="0"/>
              </a:rPr>
              <a:t>pthread_cond_destroy</a:t>
            </a:r>
            <a:r>
              <a:rPr lang="en-GB" sz="1600" b="1" kern="0" dirty="0">
                <a:latin typeface="Courier New" panose="02070309020205020404" pitchFamily="49" charset="0"/>
                <a:cs typeface="Courier New" panose="02070309020205020404" pitchFamily="49" charset="0"/>
              </a:rPr>
              <a:t>(&amp;</a:t>
            </a:r>
            <a:r>
              <a:rPr lang="en-GB" sz="1600" b="1" kern="0" dirty="0" err="1">
                <a:latin typeface="Courier New" panose="02070309020205020404" pitchFamily="49" charset="0"/>
                <a:cs typeface="Courier New" panose="02070309020205020404" pitchFamily="49" charset="0"/>
              </a:rPr>
              <a:t>cond</a:t>
            </a:r>
            <a:r>
              <a:rPr lang="en-GB" sz="1600" b="1" kern="0" dirty="0">
                <a:latin typeface="Courier New" panose="02070309020205020404" pitchFamily="49" charset="0"/>
                <a:cs typeface="Courier New" panose="02070309020205020404" pitchFamily="49" charset="0"/>
              </a:rPr>
              <a:t>);</a:t>
            </a:r>
          </a:p>
          <a:p>
            <a:pPr marL="0" indent="0">
              <a:spcBef>
                <a:spcPts val="0"/>
              </a:spcBef>
              <a:buFontTx/>
              <a:buNone/>
            </a:pPr>
            <a:r>
              <a:rPr lang="en-GB" sz="1600" b="1" kern="0" dirty="0">
                <a:latin typeface="Courier New" panose="02070309020205020404" pitchFamily="49" charset="0"/>
                <a:cs typeface="Courier New" panose="02070309020205020404" pitchFamily="49" charset="0"/>
              </a:rPr>
              <a:t>}</a:t>
            </a:r>
          </a:p>
          <a:p>
            <a:pPr marL="0" indent="0">
              <a:spcBef>
                <a:spcPts val="0"/>
              </a:spcBef>
              <a:buFontTx/>
              <a:buNone/>
            </a:pPr>
            <a:endParaRPr lang="en-GB" sz="1600" b="1" kern="0" dirty="0">
              <a:latin typeface="Courier New" panose="02070309020205020404" pitchFamily="49" charset="0"/>
              <a:cs typeface="Courier New" panose="02070309020205020404" pitchFamily="49" charset="0"/>
            </a:endParaRPr>
          </a:p>
          <a:p>
            <a:pPr marL="0" indent="0">
              <a:spcBef>
                <a:spcPts val="0"/>
              </a:spcBef>
              <a:buFontTx/>
              <a:buNone/>
            </a:pPr>
            <a:endParaRPr lang="en-GB" sz="1600" b="1" kern="0" dirty="0">
              <a:latin typeface="Courier New" panose="02070309020205020404" pitchFamily="49" charset="0"/>
              <a:cs typeface="Courier New" panose="02070309020205020404" pitchFamily="49" charset="0"/>
            </a:endParaRPr>
          </a:p>
          <a:p>
            <a:pPr marL="0" indent="0">
              <a:spcBef>
                <a:spcPts val="0"/>
              </a:spcBef>
              <a:buFontTx/>
              <a:buNone/>
            </a:pPr>
            <a:endParaRPr lang="en-GB" sz="1600" b="1" kern="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389527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ABFEC-B569-4F17-8865-D62A4F32A5A2}"/>
              </a:ext>
            </a:extLst>
          </p:cNvPr>
          <p:cNvSpPr>
            <a:spLocks noGrp="1"/>
          </p:cNvSpPr>
          <p:nvPr>
            <p:ph type="title"/>
          </p:nvPr>
        </p:nvSpPr>
        <p:spPr/>
        <p:txBody>
          <a:bodyPr/>
          <a:lstStyle/>
          <a:p>
            <a:r>
              <a:rPr lang="en-GB" dirty="0" err="1"/>
              <a:t>Pthreads</a:t>
            </a:r>
            <a:r>
              <a:rPr lang="en-GB" dirty="0"/>
              <a:t> Read-Write Locks</a:t>
            </a:r>
          </a:p>
        </p:txBody>
      </p:sp>
      <p:sp>
        <p:nvSpPr>
          <p:cNvPr id="3" name="Content Placeholder 2">
            <a:extLst>
              <a:ext uri="{FF2B5EF4-FFF2-40B4-BE49-F238E27FC236}">
                <a16:creationId xmlns:a16="http://schemas.microsoft.com/office/drawing/2014/main" id="{2A47CEB6-CB65-437C-B070-398FCAE7DCC1}"/>
              </a:ext>
            </a:extLst>
          </p:cNvPr>
          <p:cNvSpPr>
            <a:spLocks noGrp="1"/>
          </p:cNvSpPr>
          <p:nvPr>
            <p:ph idx="1"/>
          </p:nvPr>
        </p:nvSpPr>
        <p:spPr/>
        <p:txBody>
          <a:bodyPr>
            <a:normAutofit fontScale="92500" lnSpcReduction="20000"/>
          </a:bodyPr>
          <a:lstStyle/>
          <a:p>
            <a:r>
              <a:rPr lang="en-GB" dirty="0"/>
              <a:t>A read-write lock is somewhat like a mutex except that it provides two lock functions. </a:t>
            </a:r>
          </a:p>
          <a:p>
            <a:r>
              <a:rPr lang="en-GB" dirty="0"/>
              <a:t>The first lock function locks the read-write lock for reading, while the second locks it for writing.</a:t>
            </a:r>
          </a:p>
          <a:p>
            <a:r>
              <a:rPr lang="en-GB" dirty="0"/>
              <a:t>So multiple threads can simultaneously obtain the lock by calling the read-lock function, while only one thread can obtain the lock by calling the write-lock function.</a:t>
            </a:r>
          </a:p>
          <a:p>
            <a:r>
              <a:rPr lang="en-GB" dirty="0"/>
              <a:t>Thus, if any threads own the lock for reading, any threads that want to obtain the lock for writing will block in the call to the write-lock function.</a:t>
            </a:r>
          </a:p>
          <a:p>
            <a:r>
              <a:rPr lang="en-GB" dirty="0"/>
              <a:t>If any thread owns the lock for writing, any threads that want to obtain the lock for reading or writing will block in their respective locking functions.</a:t>
            </a:r>
          </a:p>
          <a:p>
            <a:endParaRPr lang="en-GB" dirty="0"/>
          </a:p>
        </p:txBody>
      </p:sp>
    </p:spTree>
    <p:extLst>
      <p:ext uri="{BB962C8B-B14F-4D97-AF65-F5344CB8AC3E}">
        <p14:creationId xmlns:p14="http://schemas.microsoft.com/office/powerpoint/2010/main" val="4860828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B18EA-9060-4C0E-87B2-53AC6904B977}"/>
              </a:ext>
            </a:extLst>
          </p:cNvPr>
          <p:cNvSpPr>
            <a:spLocks noGrp="1"/>
          </p:cNvSpPr>
          <p:nvPr>
            <p:ph type="title"/>
          </p:nvPr>
        </p:nvSpPr>
        <p:spPr/>
        <p:txBody>
          <a:bodyPr/>
          <a:lstStyle/>
          <a:p>
            <a:r>
              <a:rPr lang="en-GB" dirty="0" err="1"/>
              <a:t>Pthreads</a:t>
            </a:r>
            <a:r>
              <a:rPr lang="en-GB" dirty="0"/>
              <a:t> Read-Write Locks Functions</a:t>
            </a:r>
          </a:p>
        </p:txBody>
      </p:sp>
      <p:sp>
        <p:nvSpPr>
          <p:cNvPr id="3" name="Content Placeholder 2">
            <a:extLst>
              <a:ext uri="{FF2B5EF4-FFF2-40B4-BE49-F238E27FC236}">
                <a16:creationId xmlns:a16="http://schemas.microsoft.com/office/drawing/2014/main" id="{1B2F83BA-1351-4BFE-880D-0DC93F0415AB}"/>
              </a:ext>
            </a:extLst>
          </p:cNvPr>
          <p:cNvSpPr>
            <a:spLocks noGrp="1"/>
          </p:cNvSpPr>
          <p:nvPr>
            <p:ph idx="1"/>
          </p:nvPr>
        </p:nvSpPr>
        <p:spPr/>
        <p:txBody>
          <a:bodyPr/>
          <a:lstStyle/>
          <a:p>
            <a:r>
              <a:rPr lang="en-GB" dirty="0"/>
              <a:t>int </a:t>
            </a:r>
            <a:r>
              <a:rPr lang="en-GB" dirty="0" err="1"/>
              <a:t>pthread_rwlock_rdlock</a:t>
            </a:r>
            <a:r>
              <a:rPr lang="en-GB" dirty="0"/>
              <a:t>(</a:t>
            </a:r>
            <a:r>
              <a:rPr lang="en-GB" dirty="0" err="1"/>
              <a:t>pthread_rwlock_t</a:t>
            </a:r>
            <a:r>
              <a:rPr lang="en-GB" dirty="0"/>
              <a:t> *</a:t>
            </a:r>
            <a:r>
              <a:rPr lang="en-GB" dirty="0" err="1"/>
              <a:t>rwlock_p</a:t>
            </a:r>
            <a:r>
              <a:rPr lang="en-GB" dirty="0"/>
              <a:t>);</a:t>
            </a:r>
          </a:p>
          <a:p>
            <a:r>
              <a:rPr lang="en-GB" dirty="0"/>
              <a:t>int </a:t>
            </a:r>
            <a:r>
              <a:rPr lang="en-GB" dirty="0" err="1"/>
              <a:t>pthread_rwlock_tryrdlock</a:t>
            </a:r>
            <a:r>
              <a:rPr lang="en-GB" dirty="0"/>
              <a:t>(</a:t>
            </a:r>
            <a:r>
              <a:rPr lang="en-GB" dirty="0" err="1"/>
              <a:t>pthread_rwlock_t</a:t>
            </a:r>
            <a:r>
              <a:rPr lang="en-GB" dirty="0"/>
              <a:t> *</a:t>
            </a:r>
            <a:r>
              <a:rPr lang="en-GB" dirty="0" err="1"/>
              <a:t>rwlock_p</a:t>
            </a:r>
            <a:r>
              <a:rPr lang="en-GB" dirty="0"/>
              <a:t>);</a:t>
            </a:r>
          </a:p>
          <a:p>
            <a:r>
              <a:rPr lang="en-GB" dirty="0"/>
              <a:t>int </a:t>
            </a:r>
            <a:r>
              <a:rPr lang="en-GB" dirty="0" err="1"/>
              <a:t>pthread_rwlock_wrlock</a:t>
            </a:r>
            <a:r>
              <a:rPr lang="en-GB" dirty="0"/>
              <a:t>(</a:t>
            </a:r>
            <a:r>
              <a:rPr lang="en-GB" dirty="0" err="1"/>
              <a:t>pthread_rwlock_t</a:t>
            </a:r>
            <a:r>
              <a:rPr lang="en-GB" dirty="0"/>
              <a:t> *</a:t>
            </a:r>
            <a:r>
              <a:rPr lang="en-GB" dirty="0" err="1"/>
              <a:t>rwlock_p</a:t>
            </a:r>
            <a:r>
              <a:rPr lang="en-GB" dirty="0"/>
              <a:t>);</a:t>
            </a:r>
          </a:p>
          <a:p>
            <a:r>
              <a:rPr lang="en-GB" dirty="0"/>
              <a:t>int </a:t>
            </a:r>
            <a:r>
              <a:rPr lang="en-GB" dirty="0" err="1"/>
              <a:t>pthread_rwlock_trywrlock</a:t>
            </a:r>
            <a:r>
              <a:rPr lang="en-GB" dirty="0"/>
              <a:t>(</a:t>
            </a:r>
            <a:r>
              <a:rPr lang="en-GB" dirty="0" err="1"/>
              <a:t>pthread_rwlock_t</a:t>
            </a:r>
            <a:r>
              <a:rPr lang="en-GB" dirty="0"/>
              <a:t> *</a:t>
            </a:r>
            <a:r>
              <a:rPr lang="en-GB" dirty="0" err="1"/>
              <a:t>rwlock_p</a:t>
            </a:r>
            <a:r>
              <a:rPr lang="en-GB" dirty="0"/>
              <a:t>);</a:t>
            </a:r>
          </a:p>
          <a:p>
            <a:r>
              <a:rPr lang="en-GB" dirty="0"/>
              <a:t>int </a:t>
            </a:r>
            <a:r>
              <a:rPr lang="en-GB" dirty="0" err="1"/>
              <a:t>pthread_rwlock_unlock</a:t>
            </a:r>
            <a:r>
              <a:rPr lang="en-GB" dirty="0"/>
              <a:t>(</a:t>
            </a:r>
            <a:r>
              <a:rPr lang="en-GB" dirty="0" err="1"/>
              <a:t>pthread_rwlock_t</a:t>
            </a:r>
            <a:r>
              <a:rPr lang="en-GB" dirty="0"/>
              <a:t> *</a:t>
            </a:r>
            <a:r>
              <a:rPr lang="en-GB" dirty="0" err="1"/>
              <a:t>rwlock_p</a:t>
            </a:r>
            <a:r>
              <a:rPr lang="en-GB" dirty="0"/>
              <a:t>);</a:t>
            </a:r>
          </a:p>
          <a:p>
            <a:r>
              <a:rPr lang="en-GB" dirty="0"/>
              <a:t>int </a:t>
            </a:r>
            <a:r>
              <a:rPr lang="en-GB" dirty="0" err="1"/>
              <a:t>pthread_rwlock_init</a:t>
            </a:r>
            <a:r>
              <a:rPr lang="en-GB" dirty="0"/>
              <a:t>(</a:t>
            </a:r>
            <a:r>
              <a:rPr lang="en-GB" dirty="0" err="1"/>
              <a:t>pthread_rwlock_t</a:t>
            </a:r>
            <a:r>
              <a:rPr lang="en-GB" dirty="0"/>
              <a:t> *</a:t>
            </a:r>
            <a:r>
              <a:rPr lang="en-GB" dirty="0" err="1"/>
              <a:t>rwlock_p</a:t>
            </a:r>
            <a:r>
              <a:rPr lang="en-GB" dirty="0"/>
              <a:t>,</a:t>
            </a:r>
            <a:br>
              <a:rPr lang="en-GB" dirty="0"/>
            </a:br>
            <a:r>
              <a:rPr lang="en-GB" dirty="0" err="1"/>
              <a:t>const</a:t>
            </a:r>
            <a:r>
              <a:rPr lang="en-GB" dirty="0"/>
              <a:t> </a:t>
            </a:r>
            <a:r>
              <a:rPr lang="en-GB" dirty="0" err="1"/>
              <a:t>pthread_rwlockattr_t</a:t>
            </a:r>
            <a:r>
              <a:rPr lang="en-GB" dirty="0"/>
              <a:t> *</a:t>
            </a:r>
            <a:r>
              <a:rPr lang="en-GB" dirty="0" err="1"/>
              <a:t>attr_p</a:t>
            </a:r>
            <a:r>
              <a:rPr lang="en-GB" dirty="0"/>
              <a:t>);</a:t>
            </a:r>
          </a:p>
          <a:p>
            <a:r>
              <a:rPr lang="en-GB" dirty="0"/>
              <a:t>int </a:t>
            </a:r>
            <a:r>
              <a:rPr lang="en-GB" dirty="0" err="1"/>
              <a:t>pthread_rwlock_destroy</a:t>
            </a:r>
            <a:r>
              <a:rPr lang="en-GB" dirty="0"/>
              <a:t>(</a:t>
            </a:r>
            <a:r>
              <a:rPr lang="en-GB" dirty="0" err="1"/>
              <a:t>pthread_rwlock_t</a:t>
            </a:r>
            <a:r>
              <a:rPr lang="en-GB" dirty="0"/>
              <a:t> *</a:t>
            </a:r>
            <a:r>
              <a:rPr lang="en-GB" dirty="0" err="1"/>
              <a:t>rwlock_p</a:t>
            </a:r>
            <a:r>
              <a:rPr lang="en-GB" dirty="0"/>
              <a:t>);</a:t>
            </a:r>
          </a:p>
        </p:txBody>
      </p:sp>
    </p:spTree>
    <p:extLst>
      <p:ext uri="{BB962C8B-B14F-4D97-AF65-F5344CB8AC3E}">
        <p14:creationId xmlns:p14="http://schemas.microsoft.com/office/powerpoint/2010/main" val="18402690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5BF14-9DBC-9EA8-8ABB-8A12958384A9}"/>
              </a:ext>
            </a:extLst>
          </p:cNvPr>
          <p:cNvSpPr>
            <a:spLocks noGrp="1"/>
          </p:cNvSpPr>
          <p:nvPr>
            <p:ph type="title"/>
          </p:nvPr>
        </p:nvSpPr>
        <p:spPr/>
        <p:txBody>
          <a:bodyPr/>
          <a:lstStyle/>
          <a:p>
            <a:r>
              <a:rPr lang="en-GB"/>
              <a:t>Pthreads Read-Write Locks</a:t>
            </a:r>
          </a:p>
        </p:txBody>
      </p:sp>
      <p:sp>
        <p:nvSpPr>
          <p:cNvPr id="3" name="Content Placeholder 2">
            <a:extLst>
              <a:ext uri="{FF2B5EF4-FFF2-40B4-BE49-F238E27FC236}">
                <a16:creationId xmlns:a16="http://schemas.microsoft.com/office/drawing/2014/main" id="{75DAFB91-CC31-9B80-45E7-37F7C064D97F}"/>
              </a:ext>
            </a:extLst>
          </p:cNvPr>
          <p:cNvSpPr>
            <a:spLocks noGrp="1"/>
          </p:cNvSpPr>
          <p:nvPr>
            <p:ph idx="1"/>
          </p:nvPr>
        </p:nvSpPr>
        <p:spPr>
          <a:xfrm>
            <a:off x="239351" y="1052737"/>
            <a:ext cx="5280585" cy="5616625"/>
          </a:xfrm>
        </p:spPr>
        <p:txBody>
          <a:bodyPr/>
          <a:lstStyle/>
          <a:p>
            <a:pPr marL="0" indent="0">
              <a:spcBef>
                <a:spcPts val="0"/>
              </a:spcBef>
              <a:buNone/>
            </a:pPr>
            <a:r>
              <a:rPr lang="en-GB" sz="1500" b="1">
                <a:latin typeface="Courier New" panose="02070309020205020404" pitchFamily="49" charset="0"/>
                <a:cs typeface="Courier New" panose="02070309020205020404" pitchFamily="49" charset="0"/>
              </a:rPr>
              <a:t>int threadcount=6;</a:t>
            </a:r>
          </a:p>
          <a:p>
            <a:pPr marL="0" indent="0">
              <a:spcBef>
                <a:spcPts val="0"/>
              </a:spcBef>
              <a:buNone/>
            </a:pPr>
            <a:r>
              <a:rPr lang="en-GB" sz="1500" b="1">
                <a:latin typeface="Courier New" panose="02070309020205020404" pitchFamily="49" charset="0"/>
                <a:cs typeface="Courier New" panose="02070309020205020404" pitchFamily="49" charset="0"/>
              </a:rPr>
              <a:t>pthread_rwlock_t rwlock;</a:t>
            </a:r>
          </a:p>
          <a:p>
            <a:pPr marL="0" indent="0">
              <a:spcBef>
                <a:spcPts val="0"/>
              </a:spcBef>
              <a:buNone/>
            </a:pPr>
            <a:endParaRPr lang="en-GB" sz="1500" b="1">
              <a:latin typeface="Courier New" panose="02070309020205020404" pitchFamily="49" charset="0"/>
              <a:cs typeface="Courier New" panose="02070309020205020404" pitchFamily="49" charset="0"/>
            </a:endParaRPr>
          </a:p>
          <a:p>
            <a:pPr marL="0" indent="0">
              <a:spcBef>
                <a:spcPts val="0"/>
              </a:spcBef>
              <a:buNone/>
            </a:pPr>
            <a:r>
              <a:rPr lang="en-GB" sz="1500" b="1">
                <a:latin typeface="Courier New" panose="02070309020205020404" pitchFamily="49" charset="0"/>
                <a:cs typeface="Courier New" panose="02070309020205020404" pitchFamily="49" charset="0"/>
              </a:rPr>
              <a:t>void *threadread(void *p)</a:t>
            </a:r>
          </a:p>
          <a:p>
            <a:pPr marL="0" indent="0">
              <a:spcBef>
                <a:spcPts val="0"/>
              </a:spcBef>
              <a:buNone/>
            </a:pPr>
            <a:r>
              <a:rPr lang="en-GB" sz="1500" b="1">
                <a:latin typeface="Courier New" panose="02070309020205020404" pitchFamily="49" charset="0"/>
                <a:cs typeface="Courier New" panose="02070309020205020404" pitchFamily="49" charset="0"/>
              </a:rPr>
              <a:t>{</a:t>
            </a:r>
          </a:p>
          <a:p>
            <a:pPr marL="0" indent="0">
              <a:spcBef>
                <a:spcPts val="0"/>
              </a:spcBef>
              <a:buNone/>
            </a:pPr>
            <a:r>
              <a:rPr lang="en-GB" sz="1500" b="1">
                <a:latin typeface="Courier New" panose="02070309020205020404" pitchFamily="49" charset="0"/>
                <a:cs typeface="Courier New" panose="02070309020205020404" pitchFamily="49" charset="0"/>
              </a:rPr>
              <a:t>  for(int i = 0; i &lt; 10; i++){  </a:t>
            </a:r>
          </a:p>
          <a:p>
            <a:pPr marL="0" indent="0">
              <a:spcBef>
                <a:spcPts val="0"/>
              </a:spcBef>
              <a:buNone/>
            </a:pPr>
            <a:r>
              <a:rPr lang="en-GB" sz="1500" b="1">
                <a:latin typeface="Courier New" panose="02070309020205020404" pitchFamily="49" charset="0"/>
                <a:cs typeface="Courier New" panose="02070309020205020404" pitchFamily="49" charset="0"/>
              </a:rPr>
              <a:t>    pthread_rwlock_rdlock(&amp;rwlock);</a:t>
            </a:r>
          </a:p>
          <a:p>
            <a:pPr marL="0" indent="0">
              <a:spcBef>
                <a:spcPts val="0"/>
              </a:spcBef>
              <a:buNone/>
            </a:pPr>
            <a:r>
              <a:rPr lang="en-GB" sz="1500" b="1">
                <a:latin typeface="Courier New" panose="02070309020205020404" pitchFamily="49" charset="0"/>
                <a:cs typeface="Courier New" panose="02070309020205020404" pitchFamily="49" charset="0"/>
              </a:rPr>
              <a:t>    printf("Read Thread %ld reading\n", p);</a:t>
            </a:r>
          </a:p>
          <a:p>
            <a:pPr marL="0" indent="0">
              <a:spcBef>
                <a:spcPts val="0"/>
              </a:spcBef>
              <a:buNone/>
            </a:pPr>
            <a:r>
              <a:rPr lang="en-GB" sz="1500" b="1">
                <a:latin typeface="Courier New" panose="02070309020205020404" pitchFamily="49" charset="0"/>
                <a:cs typeface="Courier New" panose="02070309020205020404" pitchFamily="49" charset="0"/>
              </a:rPr>
              <a:t>    usleep((long)p * 10000);</a:t>
            </a:r>
          </a:p>
          <a:p>
            <a:pPr marL="0" indent="0">
              <a:spcBef>
                <a:spcPts val="0"/>
              </a:spcBef>
              <a:buNone/>
            </a:pPr>
            <a:r>
              <a:rPr lang="en-GB" sz="1500" b="1">
                <a:latin typeface="Courier New" panose="02070309020205020404" pitchFamily="49" charset="0"/>
                <a:cs typeface="Courier New" panose="02070309020205020404" pitchFamily="49" charset="0"/>
              </a:rPr>
              <a:t>    pthread_rwlock_unlock(&amp;rwlock);</a:t>
            </a:r>
          </a:p>
          <a:p>
            <a:pPr marL="0" indent="0">
              <a:spcBef>
                <a:spcPts val="0"/>
              </a:spcBef>
              <a:buNone/>
            </a:pPr>
            <a:r>
              <a:rPr lang="en-GB" sz="1500" b="1">
                <a:latin typeface="Courier New" panose="02070309020205020404" pitchFamily="49" charset="0"/>
                <a:cs typeface="Courier New" panose="02070309020205020404" pitchFamily="49" charset="0"/>
              </a:rPr>
              <a:t>  }</a:t>
            </a:r>
          </a:p>
          <a:p>
            <a:pPr marL="0" indent="0">
              <a:spcBef>
                <a:spcPts val="0"/>
              </a:spcBef>
              <a:buNone/>
            </a:pPr>
            <a:r>
              <a:rPr lang="en-GB" sz="1500" b="1">
                <a:latin typeface="Courier New" panose="02070309020205020404" pitchFamily="49" charset="0"/>
                <a:cs typeface="Courier New" panose="02070309020205020404" pitchFamily="49" charset="0"/>
              </a:rPr>
              <a:t>  return NULL;</a:t>
            </a:r>
          </a:p>
          <a:p>
            <a:pPr marL="0" indent="0">
              <a:spcBef>
                <a:spcPts val="0"/>
              </a:spcBef>
              <a:buNone/>
            </a:pPr>
            <a:r>
              <a:rPr lang="en-GB" sz="1500" b="1">
                <a:latin typeface="Courier New" panose="02070309020205020404" pitchFamily="49" charset="0"/>
                <a:cs typeface="Courier New" panose="02070309020205020404" pitchFamily="49" charset="0"/>
              </a:rPr>
              <a:t>}</a:t>
            </a:r>
          </a:p>
          <a:p>
            <a:pPr marL="0" indent="0">
              <a:spcBef>
                <a:spcPts val="0"/>
              </a:spcBef>
              <a:buNone/>
            </a:pPr>
            <a:endParaRPr lang="en-GB" sz="1500" b="1">
              <a:latin typeface="Courier New" panose="02070309020205020404" pitchFamily="49" charset="0"/>
              <a:cs typeface="Courier New" panose="02070309020205020404" pitchFamily="49" charset="0"/>
            </a:endParaRPr>
          </a:p>
          <a:p>
            <a:pPr marL="0" indent="0">
              <a:spcBef>
                <a:spcPts val="0"/>
              </a:spcBef>
              <a:buNone/>
            </a:pPr>
            <a:r>
              <a:rPr lang="en-GB" sz="1500" b="1">
                <a:latin typeface="Courier New" panose="02070309020205020404" pitchFamily="49" charset="0"/>
                <a:cs typeface="Courier New" panose="02070309020205020404" pitchFamily="49" charset="0"/>
              </a:rPr>
              <a:t>void *threadwrite(void *p)</a:t>
            </a:r>
          </a:p>
          <a:p>
            <a:pPr marL="0" indent="0">
              <a:spcBef>
                <a:spcPts val="0"/>
              </a:spcBef>
              <a:buNone/>
            </a:pPr>
            <a:r>
              <a:rPr lang="en-GB" sz="1500" b="1">
                <a:latin typeface="Courier New" panose="02070309020205020404" pitchFamily="49" charset="0"/>
                <a:cs typeface="Courier New" panose="02070309020205020404" pitchFamily="49" charset="0"/>
              </a:rPr>
              <a:t>{</a:t>
            </a:r>
          </a:p>
          <a:p>
            <a:pPr marL="0" indent="0">
              <a:spcBef>
                <a:spcPts val="0"/>
              </a:spcBef>
              <a:buNone/>
            </a:pPr>
            <a:r>
              <a:rPr lang="en-GB" sz="1500" b="1">
                <a:latin typeface="Courier New" panose="02070309020205020404" pitchFamily="49" charset="0"/>
                <a:cs typeface="Courier New" panose="02070309020205020404" pitchFamily="49" charset="0"/>
              </a:rPr>
              <a:t>  for(int i = 0; i &lt; 10; i++){  </a:t>
            </a:r>
          </a:p>
          <a:p>
            <a:pPr marL="0" indent="0">
              <a:spcBef>
                <a:spcPts val="0"/>
              </a:spcBef>
              <a:buNone/>
            </a:pPr>
            <a:r>
              <a:rPr lang="en-GB" sz="1500" b="1">
                <a:latin typeface="Courier New" panose="02070309020205020404" pitchFamily="49" charset="0"/>
                <a:cs typeface="Courier New" panose="02070309020205020404" pitchFamily="49" charset="0"/>
              </a:rPr>
              <a:t>    pthread_rwlock_wrlock(&amp;rwlock);</a:t>
            </a:r>
          </a:p>
          <a:p>
            <a:pPr marL="0" indent="0">
              <a:spcBef>
                <a:spcPts val="0"/>
              </a:spcBef>
              <a:buNone/>
            </a:pPr>
            <a:r>
              <a:rPr lang="en-GB" sz="1500" b="1">
                <a:latin typeface="Courier New" panose="02070309020205020404" pitchFamily="49" charset="0"/>
                <a:cs typeface="Courier New" panose="02070309020205020404" pitchFamily="49" charset="0"/>
              </a:rPr>
              <a:t>    printf("Write Thread %ld writing\n", p);</a:t>
            </a:r>
          </a:p>
          <a:p>
            <a:pPr marL="0" indent="0">
              <a:spcBef>
                <a:spcPts val="0"/>
              </a:spcBef>
              <a:buNone/>
            </a:pPr>
            <a:r>
              <a:rPr lang="en-GB" sz="1500" b="1">
                <a:latin typeface="Courier New" panose="02070309020205020404" pitchFamily="49" charset="0"/>
                <a:cs typeface="Courier New" panose="02070309020205020404" pitchFamily="49" charset="0"/>
              </a:rPr>
              <a:t>    usleep((long)p * 10000);</a:t>
            </a:r>
          </a:p>
          <a:p>
            <a:pPr marL="0" indent="0">
              <a:spcBef>
                <a:spcPts val="0"/>
              </a:spcBef>
              <a:buNone/>
            </a:pPr>
            <a:r>
              <a:rPr lang="en-GB" sz="1500" b="1">
                <a:latin typeface="Courier New" panose="02070309020205020404" pitchFamily="49" charset="0"/>
                <a:cs typeface="Courier New" panose="02070309020205020404" pitchFamily="49" charset="0"/>
              </a:rPr>
              <a:t>    pthread_rwlock_unlock(&amp;rwlock);</a:t>
            </a:r>
          </a:p>
          <a:p>
            <a:pPr marL="0" indent="0">
              <a:spcBef>
                <a:spcPts val="0"/>
              </a:spcBef>
              <a:buNone/>
            </a:pPr>
            <a:r>
              <a:rPr lang="en-GB" sz="1500" b="1">
                <a:latin typeface="Courier New" panose="02070309020205020404" pitchFamily="49" charset="0"/>
                <a:cs typeface="Courier New" panose="02070309020205020404" pitchFamily="49" charset="0"/>
              </a:rPr>
              <a:t>  }</a:t>
            </a:r>
          </a:p>
          <a:p>
            <a:pPr marL="0" indent="0">
              <a:spcBef>
                <a:spcPts val="0"/>
              </a:spcBef>
              <a:buNone/>
            </a:pPr>
            <a:r>
              <a:rPr lang="en-GB" sz="1500" b="1">
                <a:latin typeface="Courier New" panose="02070309020205020404" pitchFamily="49" charset="0"/>
                <a:cs typeface="Courier New" panose="02070309020205020404" pitchFamily="49" charset="0"/>
              </a:rPr>
              <a:t>  return NULL;</a:t>
            </a:r>
          </a:p>
          <a:p>
            <a:pPr marL="0" indent="0">
              <a:spcBef>
                <a:spcPts val="0"/>
              </a:spcBef>
              <a:buNone/>
            </a:pPr>
            <a:r>
              <a:rPr lang="en-GB" sz="1500" b="1">
                <a:latin typeface="Courier New" panose="02070309020205020404" pitchFamily="49" charset="0"/>
                <a:cs typeface="Courier New" panose="02070309020205020404" pitchFamily="49" charset="0"/>
              </a:rPr>
              <a:t>}</a:t>
            </a:r>
          </a:p>
        </p:txBody>
      </p:sp>
      <p:sp>
        <p:nvSpPr>
          <p:cNvPr id="4" name="Content Placeholder 2">
            <a:extLst>
              <a:ext uri="{FF2B5EF4-FFF2-40B4-BE49-F238E27FC236}">
                <a16:creationId xmlns:a16="http://schemas.microsoft.com/office/drawing/2014/main" id="{AD34F478-962B-A16F-91E1-599CF4B82024}"/>
              </a:ext>
            </a:extLst>
          </p:cNvPr>
          <p:cNvSpPr txBox="1">
            <a:spLocks/>
          </p:cNvSpPr>
          <p:nvPr/>
        </p:nvSpPr>
        <p:spPr bwMode="auto">
          <a:xfrm>
            <a:off x="5783966" y="1052736"/>
            <a:ext cx="6072674" cy="561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884" indent="-342884" algn="l" rtl="0" eaLnBrk="1" fontAlgn="base" hangingPunct="1">
              <a:spcBef>
                <a:spcPct val="20000"/>
              </a:spcBef>
              <a:spcAft>
                <a:spcPct val="0"/>
              </a:spcAft>
              <a:buChar char="•"/>
              <a:defRPr sz="3200">
                <a:solidFill>
                  <a:schemeClr val="tx1"/>
                </a:solidFill>
                <a:latin typeface="+mn-lt"/>
                <a:ea typeface="+mn-ea"/>
                <a:cs typeface="+mn-cs"/>
              </a:defRPr>
            </a:lvl1pPr>
            <a:lvl2pPr marL="742913" indent="-285736" algn="l" rtl="0" eaLnBrk="1" fontAlgn="base" hangingPunct="1">
              <a:spcBef>
                <a:spcPct val="20000"/>
              </a:spcBef>
              <a:spcAft>
                <a:spcPct val="0"/>
              </a:spcAft>
              <a:buChar char="–"/>
              <a:defRPr sz="2800">
                <a:solidFill>
                  <a:schemeClr val="tx1"/>
                </a:solidFill>
                <a:latin typeface="+mn-lt"/>
              </a:defRPr>
            </a:lvl2pPr>
            <a:lvl3pPr marL="1142944" indent="-228588" algn="l" rtl="0" eaLnBrk="1" fontAlgn="base" hangingPunct="1">
              <a:spcBef>
                <a:spcPct val="20000"/>
              </a:spcBef>
              <a:spcAft>
                <a:spcPct val="0"/>
              </a:spcAft>
              <a:buChar char="•"/>
              <a:defRPr sz="2400">
                <a:solidFill>
                  <a:schemeClr val="tx1"/>
                </a:solidFill>
                <a:latin typeface="+mn-lt"/>
              </a:defRPr>
            </a:lvl3pPr>
            <a:lvl4pPr marL="1600120" indent="-228588" algn="l" rtl="0" eaLnBrk="1" fontAlgn="base" hangingPunct="1">
              <a:spcBef>
                <a:spcPct val="20000"/>
              </a:spcBef>
              <a:spcAft>
                <a:spcPct val="0"/>
              </a:spcAft>
              <a:buChar char="–"/>
              <a:defRPr sz="2000">
                <a:solidFill>
                  <a:schemeClr val="tx1"/>
                </a:solidFill>
                <a:latin typeface="+mn-lt"/>
              </a:defRPr>
            </a:lvl4pPr>
            <a:lvl5pPr marL="2057297" indent="-228588" algn="l" rtl="0" eaLnBrk="1" fontAlgn="base" hangingPunct="1">
              <a:spcBef>
                <a:spcPct val="20000"/>
              </a:spcBef>
              <a:spcAft>
                <a:spcPct val="0"/>
              </a:spcAft>
              <a:buChar char="»"/>
              <a:defRPr sz="2000">
                <a:solidFill>
                  <a:schemeClr val="tx1"/>
                </a:solidFill>
                <a:latin typeface="+mn-lt"/>
              </a:defRPr>
            </a:lvl5pPr>
            <a:lvl6pPr marL="2514474" indent="-228588" algn="l" rtl="0" eaLnBrk="1" fontAlgn="base" hangingPunct="1">
              <a:spcBef>
                <a:spcPct val="20000"/>
              </a:spcBef>
              <a:spcAft>
                <a:spcPct val="0"/>
              </a:spcAft>
              <a:buChar char="»"/>
              <a:defRPr sz="2000">
                <a:solidFill>
                  <a:schemeClr val="tx1"/>
                </a:solidFill>
                <a:latin typeface="+mn-lt"/>
              </a:defRPr>
            </a:lvl6pPr>
            <a:lvl7pPr marL="2971652" indent="-228588" algn="l" rtl="0" eaLnBrk="1" fontAlgn="base" hangingPunct="1">
              <a:spcBef>
                <a:spcPct val="20000"/>
              </a:spcBef>
              <a:spcAft>
                <a:spcPct val="0"/>
              </a:spcAft>
              <a:buChar char="»"/>
              <a:defRPr sz="2000">
                <a:solidFill>
                  <a:schemeClr val="tx1"/>
                </a:solidFill>
                <a:latin typeface="+mn-lt"/>
              </a:defRPr>
            </a:lvl7pPr>
            <a:lvl8pPr marL="3428829" indent="-228588" algn="l" rtl="0" eaLnBrk="1" fontAlgn="base" hangingPunct="1">
              <a:spcBef>
                <a:spcPct val="20000"/>
              </a:spcBef>
              <a:spcAft>
                <a:spcPct val="0"/>
              </a:spcAft>
              <a:buChar char="»"/>
              <a:defRPr sz="2000">
                <a:solidFill>
                  <a:schemeClr val="tx1"/>
                </a:solidFill>
                <a:latin typeface="+mn-lt"/>
              </a:defRPr>
            </a:lvl8pPr>
            <a:lvl9pPr marL="3886006" indent="-228588" algn="l" rtl="0" eaLnBrk="1" fontAlgn="base" hangingPunct="1">
              <a:spcBef>
                <a:spcPct val="20000"/>
              </a:spcBef>
              <a:spcAft>
                <a:spcPct val="0"/>
              </a:spcAft>
              <a:buChar char="»"/>
              <a:defRPr sz="2000">
                <a:solidFill>
                  <a:schemeClr val="tx1"/>
                </a:solidFill>
                <a:latin typeface="+mn-lt"/>
              </a:defRPr>
            </a:lvl9pPr>
          </a:lstStyle>
          <a:p>
            <a:pPr marL="0" indent="0">
              <a:spcBef>
                <a:spcPts val="0"/>
              </a:spcBef>
              <a:buNone/>
            </a:pPr>
            <a:r>
              <a:rPr lang="en-GB" sz="1500" b="1">
                <a:latin typeface="Courier New" panose="02070309020205020404" pitchFamily="49" charset="0"/>
                <a:cs typeface="Courier New" panose="02070309020205020404" pitchFamily="49" charset="0"/>
              </a:rPr>
              <a:t>void main()</a:t>
            </a:r>
          </a:p>
          <a:p>
            <a:pPr marL="0" indent="0">
              <a:spcBef>
                <a:spcPts val="0"/>
              </a:spcBef>
              <a:buNone/>
            </a:pPr>
            <a:r>
              <a:rPr lang="en-GB" sz="1500" b="1">
                <a:latin typeface="Courier New" panose="02070309020205020404" pitchFamily="49" charset="0"/>
                <a:cs typeface="Courier New" panose="02070309020205020404" pitchFamily="49" charset="0"/>
              </a:rPr>
              <a:t>{</a:t>
            </a:r>
          </a:p>
          <a:p>
            <a:pPr marL="0" indent="0">
              <a:spcBef>
                <a:spcPts val="0"/>
              </a:spcBef>
              <a:buNone/>
            </a:pPr>
            <a:r>
              <a:rPr lang="en-GB" sz="1500" b="1">
                <a:latin typeface="Courier New" panose="02070309020205020404" pitchFamily="49" charset="0"/>
                <a:cs typeface="Courier New" panose="02070309020205020404" pitchFamily="49" charset="0"/>
              </a:rPr>
              <a:t>  pthread_t thrID[threadcount];</a:t>
            </a:r>
          </a:p>
          <a:p>
            <a:pPr marL="0" indent="0">
              <a:spcBef>
                <a:spcPts val="0"/>
              </a:spcBef>
              <a:buNone/>
            </a:pPr>
            <a:endParaRPr lang="en-GB" sz="1500" b="1">
              <a:latin typeface="Courier New" panose="02070309020205020404" pitchFamily="49" charset="0"/>
              <a:cs typeface="Courier New" panose="02070309020205020404" pitchFamily="49" charset="0"/>
            </a:endParaRPr>
          </a:p>
          <a:p>
            <a:pPr marL="0" indent="0">
              <a:spcBef>
                <a:spcPts val="0"/>
              </a:spcBef>
              <a:buNone/>
            </a:pPr>
            <a:r>
              <a:rPr lang="en-GB" sz="1500" b="1">
                <a:latin typeface="Courier New" panose="02070309020205020404" pitchFamily="49" charset="0"/>
                <a:cs typeface="Courier New" panose="02070309020205020404" pitchFamily="49" charset="0"/>
              </a:rPr>
              <a:t>  pthread_rwlock_init(&amp;rwlock,NULL);</a:t>
            </a:r>
          </a:p>
          <a:p>
            <a:pPr marL="0" indent="0">
              <a:spcBef>
                <a:spcPts val="0"/>
              </a:spcBef>
              <a:buNone/>
            </a:pPr>
            <a:r>
              <a:rPr lang="en-GB" sz="1500" b="1">
                <a:latin typeface="Courier New" panose="02070309020205020404" pitchFamily="49" charset="0"/>
                <a:cs typeface="Courier New" panose="02070309020205020404" pitchFamily="49" charset="0"/>
              </a:rPr>
              <a:t>  for(int i=0; i &lt; threadcount/2; i++)</a:t>
            </a:r>
          </a:p>
          <a:p>
            <a:pPr marL="0" indent="0">
              <a:spcBef>
                <a:spcPts val="0"/>
              </a:spcBef>
              <a:buNone/>
            </a:pPr>
            <a:r>
              <a:rPr lang="en-GB" sz="1500" b="1">
                <a:latin typeface="Courier New" panose="02070309020205020404" pitchFamily="49" charset="0"/>
                <a:cs typeface="Courier New" panose="02070309020205020404" pitchFamily="49" charset="0"/>
              </a:rPr>
              <a:t>    pthread_create(&amp;thrID[i], NULL, threadwrite,i);</a:t>
            </a:r>
          </a:p>
          <a:p>
            <a:pPr marL="0" indent="0">
              <a:spcBef>
                <a:spcPts val="0"/>
              </a:spcBef>
              <a:buNone/>
            </a:pPr>
            <a:r>
              <a:rPr lang="en-GB" sz="1500" b="1">
                <a:latin typeface="Courier New" panose="02070309020205020404" pitchFamily="49" charset="0"/>
                <a:cs typeface="Courier New" panose="02070309020205020404" pitchFamily="49" charset="0"/>
              </a:rPr>
              <a:t>  for(int i=threadcount/2; i &lt; threadcount; i++)</a:t>
            </a:r>
          </a:p>
          <a:p>
            <a:pPr marL="0" indent="0">
              <a:spcBef>
                <a:spcPts val="0"/>
              </a:spcBef>
              <a:buNone/>
            </a:pPr>
            <a:r>
              <a:rPr lang="en-GB" sz="1500" b="1">
                <a:latin typeface="Courier New" panose="02070309020205020404" pitchFamily="49" charset="0"/>
                <a:cs typeface="Courier New" panose="02070309020205020404" pitchFamily="49" charset="0"/>
              </a:rPr>
              <a:t>    pthread_create(&amp;thrID[i], NULL, threadread, i);</a:t>
            </a:r>
          </a:p>
          <a:p>
            <a:pPr marL="0" indent="0">
              <a:spcBef>
                <a:spcPts val="0"/>
              </a:spcBef>
              <a:buNone/>
            </a:pPr>
            <a:r>
              <a:rPr lang="en-GB" sz="1500" b="1">
                <a:latin typeface="Courier New" panose="02070309020205020404" pitchFamily="49" charset="0"/>
                <a:cs typeface="Courier New" panose="02070309020205020404" pitchFamily="49" charset="0"/>
              </a:rPr>
              <a:t>  for(int i=0; i &lt; threadcount; i++)</a:t>
            </a:r>
          </a:p>
          <a:p>
            <a:pPr marL="0" indent="0">
              <a:spcBef>
                <a:spcPts val="0"/>
              </a:spcBef>
              <a:buNone/>
            </a:pPr>
            <a:r>
              <a:rPr lang="en-GB" sz="1500" b="1">
                <a:latin typeface="Courier New" panose="02070309020205020404" pitchFamily="49" charset="0"/>
                <a:cs typeface="Courier New" panose="02070309020205020404" pitchFamily="49" charset="0"/>
              </a:rPr>
              <a:t>    pthread_join(thrID[i], NULL);</a:t>
            </a:r>
          </a:p>
          <a:p>
            <a:pPr marL="0" indent="0">
              <a:spcBef>
                <a:spcPts val="0"/>
              </a:spcBef>
              <a:buNone/>
            </a:pPr>
            <a:r>
              <a:rPr lang="en-GB" sz="1500" b="1">
                <a:latin typeface="Courier New" panose="02070309020205020404" pitchFamily="49" charset="0"/>
                <a:cs typeface="Courier New" panose="02070309020205020404" pitchFamily="49" charset="0"/>
              </a:rPr>
              <a:t>  pthread_rwlock_destroy(&amp;rwlock);</a:t>
            </a:r>
          </a:p>
          <a:p>
            <a:pPr marL="0" indent="0">
              <a:spcBef>
                <a:spcPts val="0"/>
              </a:spcBef>
              <a:buNone/>
            </a:pPr>
            <a:r>
              <a:rPr lang="en-GB" sz="1500" b="1">
                <a:latin typeface="Courier New" panose="02070309020205020404" pitchFamily="49" charset="0"/>
                <a:cs typeface="Courier New" panose="02070309020205020404" pitchFamily="49" charset="0"/>
              </a:rPr>
              <a:t>}</a:t>
            </a:r>
          </a:p>
          <a:p>
            <a:pPr marL="0" indent="0">
              <a:spcBef>
                <a:spcPts val="0"/>
              </a:spcBef>
              <a:buNone/>
            </a:pPr>
            <a:endParaRPr lang="en-GB" sz="1500" b="1">
              <a:latin typeface="Courier New" panose="02070309020205020404" pitchFamily="49" charset="0"/>
              <a:cs typeface="Courier New" panose="02070309020205020404" pitchFamily="49" charset="0"/>
            </a:endParaRPr>
          </a:p>
          <a:p>
            <a:pPr marL="0" indent="0">
              <a:spcBef>
                <a:spcPts val="0"/>
              </a:spcBef>
              <a:buNone/>
            </a:pPr>
            <a:endParaRPr lang="en-GB" sz="1500" b="1">
              <a:latin typeface="Courier New" panose="02070309020205020404" pitchFamily="49" charset="0"/>
              <a:cs typeface="Courier New" panose="02070309020205020404" pitchFamily="49" charset="0"/>
            </a:endParaRPr>
          </a:p>
          <a:p>
            <a:pPr marL="0" indent="0">
              <a:spcBef>
                <a:spcPts val="0"/>
              </a:spcBef>
              <a:buNone/>
            </a:pPr>
            <a:endParaRPr lang="en-GB" sz="1500" b="1">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0526811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itle 1">
            <a:extLst>
              <a:ext uri="{FF2B5EF4-FFF2-40B4-BE49-F238E27FC236}">
                <a16:creationId xmlns:a16="http://schemas.microsoft.com/office/drawing/2014/main" id="{86ABDFF3-8F57-4E6A-8157-9A06F25DB26B}"/>
              </a:ext>
            </a:extLst>
          </p:cNvPr>
          <p:cNvSpPr>
            <a:spLocks noGrp="1" noChangeArrowheads="1"/>
          </p:cNvSpPr>
          <p:nvPr>
            <p:ph type="title"/>
          </p:nvPr>
        </p:nvSpPr>
        <p:spPr/>
        <p:txBody>
          <a:bodyPr/>
          <a:lstStyle/>
          <a:p>
            <a:r>
              <a:rPr lang="en-US" altLang="en-US" dirty="0"/>
              <a:t>Summary</a:t>
            </a:r>
          </a:p>
        </p:txBody>
      </p:sp>
      <p:sp>
        <p:nvSpPr>
          <p:cNvPr id="106499" name="Content Placeholder 2">
            <a:extLst>
              <a:ext uri="{FF2B5EF4-FFF2-40B4-BE49-F238E27FC236}">
                <a16:creationId xmlns:a16="http://schemas.microsoft.com/office/drawing/2014/main" id="{F67BB46D-4F9C-4DF8-8656-6C09900DB2EE}"/>
              </a:ext>
            </a:extLst>
          </p:cNvPr>
          <p:cNvSpPr>
            <a:spLocks noGrp="1" noChangeArrowheads="1"/>
          </p:cNvSpPr>
          <p:nvPr>
            <p:ph idx="1"/>
          </p:nvPr>
        </p:nvSpPr>
        <p:spPr/>
        <p:txBody>
          <a:bodyPr>
            <a:normAutofit fontScale="92500"/>
          </a:bodyPr>
          <a:lstStyle/>
          <a:p>
            <a:r>
              <a:rPr lang="en-US" altLang="en-US" dirty="0"/>
              <a:t>A thread in shared-memory programming is analogous to a process in distributed memory programming. </a:t>
            </a:r>
          </a:p>
          <a:p>
            <a:r>
              <a:rPr lang="en-US" altLang="en-US" dirty="0"/>
              <a:t>However, a thread is often lighter-weight than a full-fledged process.</a:t>
            </a:r>
          </a:p>
          <a:p>
            <a:r>
              <a:rPr lang="en-US" altLang="en-US" dirty="0"/>
              <a:t>In </a:t>
            </a:r>
            <a:r>
              <a:rPr lang="en-US" altLang="en-US" dirty="0" err="1"/>
              <a:t>Pthreads</a:t>
            </a:r>
            <a:r>
              <a:rPr lang="en-US" altLang="en-US" dirty="0"/>
              <a:t> programs, all the threads have access to global variables, while local variables usually are private to the thread running the function.</a:t>
            </a:r>
          </a:p>
          <a:p>
            <a:r>
              <a:rPr lang="en-GB" altLang="en-US" dirty="0"/>
              <a:t>When indeterminate results arise from multiple threads attempting to access a shared resource such as a shared variable or a shared file, at least one of the accesses is an update, and the accesses can result in an error, we have a </a:t>
            </a:r>
            <a:r>
              <a:rPr lang="en-GB" altLang="en-US" dirty="0">
                <a:solidFill>
                  <a:srgbClr val="FF0000"/>
                </a:solidFill>
              </a:rPr>
              <a:t>race condition</a:t>
            </a:r>
            <a:r>
              <a:rPr lang="en-GB" altLang="en-US" dirty="0"/>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itle 1">
            <a:extLst>
              <a:ext uri="{FF2B5EF4-FFF2-40B4-BE49-F238E27FC236}">
                <a16:creationId xmlns:a16="http://schemas.microsoft.com/office/drawing/2014/main" id="{7E5F084E-2112-49ED-9230-CB24C740C204}"/>
              </a:ext>
            </a:extLst>
          </p:cNvPr>
          <p:cNvSpPr>
            <a:spLocks noGrp="1" noChangeArrowheads="1"/>
          </p:cNvSpPr>
          <p:nvPr>
            <p:ph type="title"/>
          </p:nvPr>
        </p:nvSpPr>
        <p:spPr/>
        <p:txBody>
          <a:bodyPr/>
          <a:lstStyle/>
          <a:p>
            <a:r>
              <a:rPr lang="en-US" altLang="en-US" dirty="0"/>
              <a:t>Summary</a:t>
            </a:r>
          </a:p>
        </p:txBody>
      </p:sp>
      <p:sp>
        <p:nvSpPr>
          <p:cNvPr id="108547" name="Content Placeholder 2">
            <a:extLst>
              <a:ext uri="{FF2B5EF4-FFF2-40B4-BE49-F238E27FC236}">
                <a16:creationId xmlns:a16="http://schemas.microsoft.com/office/drawing/2014/main" id="{F54AE4F6-596D-465E-9231-B655B199E9F5}"/>
              </a:ext>
            </a:extLst>
          </p:cNvPr>
          <p:cNvSpPr>
            <a:spLocks noGrp="1" noChangeArrowheads="1"/>
          </p:cNvSpPr>
          <p:nvPr>
            <p:ph idx="1"/>
          </p:nvPr>
        </p:nvSpPr>
        <p:spPr/>
        <p:txBody>
          <a:bodyPr/>
          <a:lstStyle/>
          <a:p>
            <a:r>
              <a:rPr lang="en-US" altLang="en-US" dirty="0"/>
              <a:t>A </a:t>
            </a:r>
            <a:r>
              <a:rPr lang="en-US" altLang="en-US" dirty="0">
                <a:solidFill>
                  <a:srgbClr val="FF0000"/>
                </a:solidFill>
              </a:rPr>
              <a:t>critical section </a:t>
            </a:r>
            <a:r>
              <a:rPr lang="en-US" altLang="en-US" dirty="0"/>
              <a:t>is a block of code that updates a shared resource that can only be updated by one thread at a time.</a:t>
            </a:r>
          </a:p>
          <a:p>
            <a:r>
              <a:rPr lang="en-US" altLang="en-US" dirty="0"/>
              <a:t>So the execution of code in a critical section should, effectively, be executed as serial code.</a:t>
            </a:r>
          </a:p>
          <a:p>
            <a:r>
              <a:rPr lang="en-GB" altLang="en-US" dirty="0"/>
              <a:t>Busy-waiting can be used to avoid conflicting access to critical sections with a flag variable and a while-loop with an empty body.</a:t>
            </a:r>
          </a:p>
          <a:p>
            <a:r>
              <a:rPr lang="en-GB" altLang="en-US" dirty="0"/>
              <a:t>It can be very wasteful of CPU cycles. </a:t>
            </a:r>
          </a:p>
          <a:p>
            <a:r>
              <a:rPr lang="en-GB" altLang="en-US" dirty="0"/>
              <a:t>It can also be unreliable if compiler optimization is turned on.</a:t>
            </a:r>
          </a:p>
          <a:p>
            <a:pPr marL="0" indent="0">
              <a:buNone/>
            </a:pPr>
            <a:endParaRPr lang="en-US"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1">
            <a:extLst>
              <a:ext uri="{FF2B5EF4-FFF2-40B4-BE49-F238E27FC236}">
                <a16:creationId xmlns:a16="http://schemas.microsoft.com/office/drawing/2014/main" id="{1266E1FE-0209-4F67-ACDC-6A5E66BBE2DC}"/>
              </a:ext>
            </a:extLst>
          </p:cNvPr>
          <p:cNvSpPr>
            <a:spLocks noGrp="1" noChangeArrowheads="1"/>
          </p:cNvSpPr>
          <p:nvPr>
            <p:ph type="title"/>
          </p:nvPr>
        </p:nvSpPr>
        <p:spPr/>
        <p:txBody>
          <a:bodyPr/>
          <a:lstStyle/>
          <a:p>
            <a:r>
              <a:rPr lang="en-US" altLang="en-US" dirty="0"/>
              <a:t>Summary</a:t>
            </a:r>
          </a:p>
        </p:txBody>
      </p:sp>
      <p:sp>
        <p:nvSpPr>
          <p:cNvPr id="110595" name="Content Placeholder 2">
            <a:extLst>
              <a:ext uri="{FF2B5EF4-FFF2-40B4-BE49-F238E27FC236}">
                <a16:creationId xmlns:a16="http://schemas.microsoft.com/office/drawing/2014/main" id="{B2A36600-6E7D-4250-A4E6-416236AE6FAF}"/>
              </a:ext>
            </a:extLst>
          </p:cNvPr>
          <p:cNvSpPr>
            <a:spLocks noGrp="1" noChangeArrowheads="1"/>
          </p:cNvSpPr>
          <p:nvPr>
            <p:ph idx="1"/>
          </p:nvPr>
        </p:nvSpPr>
        <p:spPr/>
        <p:txBody>
          <a:bodyPr/>
          <a:lstStyle/>
          <a:p>
            <a:r>
              <a:rPr lang="en-US" altLang="en-US" dirty="0"/>
              <a:t>A </a:t>
            </a:r>
            <a:r>
              <a:rPr lang="en-US" altLang="en-US" dirty="0">
                <a:solidFill>
                  <a:srgbClr val="FF0000"/>
                </a:solidFill>
              </a:rPr>
              <a:t>mutex</a:t>
            </a:r>
            <a:r>
              <a:rPr lang="en-US" altLang="en-US" dirty="0"/>
              <a:t> can be used to avoid conflicting access to critical sections as well.</a:t>
            </a:r>
          </a:p>
          <a:p>
            <a:r>
              <a:rPr lang="en-US" altLang="en-US" dirty="0"/>
              <a:t>Think of it as a lock on a critical section, since mutexes arrange for mutually exclusive access to a critical section.</a:t>
            </a:r>
          </a:p>
          <a:p>
            <a:r>
              <a:rPr lang="en-GB" altLang="en-US" dirty="0"/>
              <a:t>A </a:t>
            </a:r>
            <a:r>
              <a:rPr lang="en-GB" altLang="en-US" dirty="0">
                <a:solidFill>
                  <a:srgbClr val="FF0000"/>
                </a:solidFill>
              </a:rPr>
              <a:t>semaphore</a:t>
            </a:r>
            <a:r>
              <a:rPr lang="en-GB" altLang="en-US" dirty="0"/>
              <a:t> is the third way to avoid conflicting access to critical sections.</a:t>
            </a:r>
          </a:p>
          <a:p>
            <a:r>
              <a:rPr lang="en-GB" altLang="en-US" dirty="0"/>
              <a:t>It is an unsigned int together with two operations: </a:t>
            </a:r>
            <a:r>
              <a:rPr lang="en-GB" altLang="en-US" dirty="0" err="1"/>
              <a:t>sem_wait</a:t>
            </a:r>
            <a:r>
              <a:rPr lang="en-GB" altLang="en-US" dirty="0"/>
              <a:t> and </a:t>
            </a:r>
            <a:r>
              <a:rPr lang="en-GB" altLang="en-US" dirty="0" err="1"/>
              <a:t>sem_post</a:t>
            </a:r>
            <a:r>
              <a:rPr lang="en-GB" altLang="en-US" dirty="0"/>
              <a:t>. </a:t>
            </a:r>
          </a:p>
          <a:p>
            <a:r>
              <a:rPr lang="en-GB" altLang="en-US" dirty="0"/>
              <a:t>Semaphores are more powerful than mutexes since they can be initialized to any nonnegative value.</a:t>
            </a:r>
          </a:p>
          <a:p>
            <a:endParaRPr lang="en-US"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itle 1">
            <a:extLst>
              <a:ext uri="{FF2B5EF4-FFF2-40B4-BE49-F238E27FC236}">
                <a16:creationId xmlns:a16="http://schemas.microsoft.com/office/drawing/2014/main" id="{9EC90CAA-866D-440A-99C7-36F2F9439339}"/>
              </a:ext>
            </a:extLst>
          </p:cNvPr>
          <p:cNvSpPr>
            <a:spLocks noGrp="1" noChangeArrowheads="1"/>
          </p:cNvSpPr>
          <p:nvPr>
            <p:ph type="title"/>
          </p:nvPr>
        </p:nvSpPr>
        <p:spPr/>
        <p:txBody>
          <a:bodyPr/>
          <a:lstStyle/>
          <a:p>
            <a:r>
              <a:rPr lang="en-US" altLang="en-US" dirty="0"/>
              <a:t>Summary</a:t>
            </a:r>
          </a:p>
        </p:txBody>
      </p:sp>
      <p:sp>
        <p:nvSpPr>
          <p:cNvPr id="112643" name="Content Placeholder 2">
            <a:extLst>
              <a:ext uri="{FF2B5EF4-FFF2-40B4-BE49-F238E27FC236}">
                <a16:creationId xmlns:a16="http://schemas.microsoft.com/office/drawing/2014/main" id="{F9220666-6B36-4632-8BC6-40CA329DF233}"/>
              </a:ext>
            </a:extLst>
          </p:cNvPr>
          <p:cNvSpPr>
            <a:spLocks noGrp="1" noChangeArrowheads="1"/>
          </p:cNvSpPr>
          <p:nvPr>
            <p:ph idx="1"/>
          </p:nvPr>
        </p:nvSpPr>
        <p:spPr/>
        <p:txBody>
          <a:bodyPr/>
          <a:lstStyle/>
          <a:p>
            <a:r>
              <a:rPr lang="en-US" altLang="en-US" dirty="0"/>
              <a:t>A </a:t>
            </a:r>
            <a:r>
              <a:rPr lang="en-US" altLang="en-US" dirty="0">
                <a:solidFill>
                  <a:srgbClr val="FF0000"/>
                </a:solidFill>
              </a:rPr>
              <a:t>barrier</a:t>
            </a:r>
            <a:r>
              <a:rPr lang="en-US" altLang="en-US" dirty="0"/>
              <a:t> is a point in a program at which the threads block until all of the threads have reached it.</a:t>
            </a:r>
          </a:p>
          <a:p>
            <a:r>
              <a:rPr lang="en-US" altLang="en-US" dirty="0"/>
              <a:t>A </a:t>
            </a:r>
            <a:r>
              <a:rPr lang="en-US" altLang="en-US" dirty="0">
                <a:solidFill>
                  <a:srgbClr val="FF0000"/>
                </a:solidFill>
              </a:rPr>
              <a:t>read-write lock </a:t>
            </a:r>
            <a:r>
              <a:rPr lang="en-US" altLang="en-US" dirty="0"/>
              <a:t>is used when it’s safe for multiple threads to simultaneously read a data structure, but if a thread needs to modify or write to the data structure, then only that thread can access the data structure during the modification.</a:t>
            </a:r>
          </a:p>
          <a:p>
            <a:endParaRPr lang="en-US"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2691FF-2F06-4AE6-9F21-6ED76FA9AC47}"/>
              </a:ext>
            </a:extLst>
          </p:cNvPr>
          <p:cNvSpPr>
            <a:spLocks noGrp="1"/>
          </p:cNvSpPr>
          <p:nvPr>
            <p:ph type="ctrTitle"/>
          </p:nvPr>
        </p:nvSpPr>
        <p:spPr/>
        <p:txBody>
          <a:bodyPr/>
          <a:lstStyle/>
          <a:p>
            <a:r>
              <a:rPr lang="en-GB" dirty="0"/>
              <a:t>End</a:t>
            </a:r>
          </a:p>
        </p:txBody>
      </p:sp>
      <p:sp>
        <p:nvSpPr>
          <p:cNvPr id="5" name="Subtitle 4">
            <a:extLst>
              <a:ext uri="{FF2B5EF4-FFF2-40B4-BE49-F238E27FC236}">
                <a16:creationId xmlns:a16="http://schemas.microsoft.com/office/drawing/2014/main" id="{3B9D748A-B42E-4284-B700-E323C8A0F3CC}"/>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036244208"/>
      </p:ext>
    </p:extLst>
  </p:cSld>
  <p:clrMapOvr>
    <a:masterClrMapping/>
  </p:clrMapOvr>
</p:sld>
</file>

<file path=ppt/theme/theme1.xml><?xml version="1.0" encoding="utf-8"?>
<a:theme xmlns:a="http://schemas.openxmlformats.org/drawingml/2006/main" name="University Standard">
  <a:themeElements>
    <a:clrScheme name="uow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uow2">
      <a:majorFont>
        <a:latin typeface="Rockwel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uow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uow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uow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uow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uow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uow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uow2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uow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uow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uow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uow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uow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226</TotalTime>
  <Words>4631</Words>
  <Application>Microsoft Office PowerPoint</Application>
  <PresentationFormat>Widescreen</PresentationFormat>
  <Paragraphs>568</Paragraphs>
  <Slides>33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Arial Black</vt:lpstr>
      <vt:lpstr>Arial Regular</vt:lpstr>
      <vt:lpstr>Courier New</vt:lpstr>
      <vt:lpstr>Helvetica</vt:lpstr>
      <vt:lpstr>Rockwell</vt:lpstr>
      <vt:lpstr>University Standard</vt:lpstr>
      <vt:lpstr>6CS005 High Performance Computing</vt:lpstr>
      <vt:lpstr>Race Condition</vt:lpstr>
      <vt:lpstr>Race Condition</vt:lpstr>
      <vt:lpstr>Critical Sections</vt:lpstr>
      <vt:lpstr>Critical Section</vt:lpstr>
      <vt:lpstr>Busy Wait</vt:lpstr>
      <vt:lpstr>Pthread Mutex Functions</vt:lpstr>
      <vt:lpstr>Mutex</vt:lpstr>
      <vt:lpstr>Mutex</vt:lpstr>
      <vt:lpstr>Deadlocks</vt:lpstr>
      <vt:lpstr>Deadlocks</vt:lpstr>
      <vt:lpstr>Avoiding deadlocks</vt:lpstr>
      <vt:lpstr>Avoiding deadlocks</vt:lpstr>
      <vt:lpstr>Semaphores</vt:lpstr>
      <vt:lpstr>Semaphore functions</vt:lpstr>
      <vt:lpstr>Simple Semaphore example</vt:lpstr>
      <vt:lpstr>Issues</vt:lpstr>
      <vt:lpstr>Barriers and Condition Variables</vt:lpstr>
      <vt:lpstr>Barriers</vt:lpstr>
      <vt:lpstr>Busy-waiting and a Mutex</vt:lpstr>
      <vt:lpstr>Busy-waiting and a Mutex</vt:lpstr>
      <vt:lpstr>Implementing a barrier with semaphores</vt:lpstr>
      <vt:lpstr>Condition Variables</vt:lpstr>
      <vt:lpstr>Condition Variables</vt:lpstr>
      <vt:lpstr>Implementing a barrier with condition variables</vt:lpstr>
      <vt:lpstr>Pthreads Read-Write Locks</vt:lpstr>
      <vt:lpstr>Pthreads Read-Write Locks Functions</vt:lpstr>
      <vt:lpstr>Pthreads Read-Write Locks</vt:lpstr>
      <vt:lpstr>Summary</vt:lpstr>
      <vt:lpstr>Summary</vt:lpstr>
      <vt:lpstr>Summary</vt:lpstr>
      <vt:lpstr>Summary</vt:lpstr>
      <vt:lpstr>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Kasun Kosala</cp:lastModifiedBy>
  <cp:revision>4</cp:revision>
  <dcterms:created xsi:type="dcterms:W3CDTF">2020-11-12T17:22:46Z</dcterms:created>
  <dcterms:modified xsi:type="dcterms:W3CDTF">2026-04-26T11:56:41Z</dcterms:modified>
</cp:coreProperties>
</file>