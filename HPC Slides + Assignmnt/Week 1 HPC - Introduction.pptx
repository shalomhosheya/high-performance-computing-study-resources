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1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g, Jeffrey" userId="7fa7d403-24fb-4228-9443-420c3c1569ac" providerId="ADAL" clId="{17744A42-3449-47F6-87AC-A29889C88123}"/>
    <pc:docChg chg="custSel delSld modSld">
      <pc:chgData name="Ting, Jeffrey" userId="7fa7d403-24fb-4228-9443-420c3c1569ac" providerId="ADAL" clId="{17744A42-3449-47F6-87AC-A29889C88123}" dt="2022-10-26T21:06:59.744" v="85" actId="47"/>
      <pc:docMkLst>
        <pc:docMk/>
      </pc:docMkLst>
      <pc:sldChg chg="modSp mod">
        <pc:chgData name="Ting, Jeffrey" userId="7fa7d403-24fb-4228-9443-420c3c1569ac" providerId="ADAL" clId="{17744A42-3449-47F6-87AC-A29889C88123}" dt="2022-10-26T21:05:14.539" v="5" actId="6549"/>
        <pc:sldMkLst>
          <pc:docMk/>
          <pc:sldMk cId="2693728053" sldId="257"/>
        </pc:sldMkLst>
        <pc:spChg chg="mod">
          <ac:chgData name="Ting, Jeffrey" userId="7fa7d403-24fb-4228-9443-420c3c1569ac" providerId="ADAL" clId="{17744A42-3449-47F6-87AC-A29889C88123}" dt="2022-10-26T21:05:14.539" v="5" actId="6549"/>
          <ac:spMkLst>
            <pc:docMk/>
            <pc:sldMk cId="2693728053" sldId="257"/>
            <ac:spMk id="3" creationId="{E8935FBE-8193-4B19-BA71-2EEEAE21E8DF}"/>
          </ac:spMkLst>
        </pc:spChg>
      </pc:sldChg>
      <pc:sldChg chg="del">
        <pc:chgData name="Ting, Jeffrey" userId="7fa7d403-24fb-4228-9443-420c3c1569ac" providerId="ADAL" clId="{17744A42-3449-47F6-87AC-A29889C88123}" dt="2022-10-26T21:06:59.744" v="85" actId="47"/>
        <pc:sldMkLst>
          <pc:docMk/>
          <pc:sldMk cId="4168448260" sldId="259"/>
        </pc:sldMkLst>
      </pc:sldChg>
      <pc:sldChg chg="modSp mod">
        <pc:chgData name="Ting, Jeffrey" userId="7fa7d403-24fb-4228-9443-420c3c1569ac" providerId="ADAL" clId="{17744A42-3449-47F6-87AC-A29889C88123}" dt="2022-10-26T21:06:42.913" v="84" actId="27636"/>
        <pc:sldMkLst>
          <pc:docMk/>
          <pc:sldMk cId="1895178008" sldId="263"/>
        </pc:sldMkLst>
        <pc:spChg chg="mod">
          <ac:chgData name="Ting, Jeffrey" userId="7fa7d403-24fb-4228-9443-420c3c1569ac" providerId="ADAL" clId="{17744A42-3449-47F6-87AC-A29889C88123}" dt="2022-10-26T21:06:42.913" v="84" actId="27636"/>
          <ac:spMkLst>
            <pc:docMk/>
            <pc:sldMk cId="1895178008" sldId="263"/>
            <ac:spMk id="3" creationId="{59982AFE-1DF7-4208-B065-6AFC5A1B6FE0}"/>
          </ac:spMkLst>
        </pc:spChg>
      </pc:sldChg>
      <pc:sldChg chg="del">
        <pc:chgData name="Ting, Jeffrey" userId="7fa7d403-24fb-4228-9443-420c3c1569ac" providerId="ADAL" clId="{17744A42-3449-47F6-87AC-A29889C88123}" dt="2022-10-26T21:05:04.311" v="0" actId="47"/>
        <pc:sldMkLst>
          <pc:docMk/>
          <pc:sldMk cId="1530696717" sldId="290"/>
        </pc:sldMkLst>
      </pc:sldChg>
      <pc:sldChg chg="del">
        <pc:chgData name="Ting, Jeffrey" userId="7fa7d403-24fb-4228-9443-420c3c1569ac" providerId="ADAL" clId="{17744A42-3449-47F6-87AC-A29889C88123}" dt="2022-10-26T21:05:07.395" v="1" actId="47"/>
        <pc:sldMkLst>
          <pc:docMk/>
          <pc:sldMk cId="3220756880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A3C4-F572-455D-B531-371A72BCB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2379E-EAE4-4572-AE73-91D462E2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9828-2E23-4323-933A-FCC2F853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54A3E-BA7C-4232-987B-EDCC6AEF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EDAC7-BF34-4AC1-9812-0E5D8461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12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F933-090F-47FD-BF40-649EC608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C8283-5D90-4D2B-BAC3-2B699B951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E0618-929A-4FE1-BB11-4C6184CD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691F4-A596-474A-9CEB-FE7E340F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A3568-9D87-4B38-956E-1BF1D86B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26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E91A-1B96-4122-ACFE-5DB4239F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C77D9-E363-402F-B70E-79F72088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EA53-5130-429D-822E-EE6EE53E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49A5C-1F63-4AC6-AE60-F818ADB3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B8D80-F60A-478A-B016-E4411A7F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26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E617-FF01-425E-84B6-C7F35309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40C6-542E-4CA5-8BFF-4E89093C6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C96B5-FCB0-4FA2-B71C-9DC7052E0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0D57B-E673-4D9C-B674-CE4AE8BD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9E363-F7BC-4A3D-8BB2-9185F9C9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D5178-E604-42F0-883A-A8E70EA8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16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E26A-85FA-4CFE-9877-897CD3DF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A6DBF-617C-4E40-8969-E15C50983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666BA-3BD4-4F89-80B0-E61366F14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3A88E-DF49-4334-9D89-00B9AA368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BD2ECF-A463-4F8D-BFDB-A20C0EBC0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CDFE8-8C5C-49C1-B3AC-2B8122DF2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DC5A3-58D2-4ABF-87DA-3E54868C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28D62-9FEF-463E-9EA2-BDE0E3B1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3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92B5-AB26-46DE-84BD-0557B25D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D236-54DC-4117-98FC-DCB2D4D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64789-AB44-4B8E-A539-5EB49854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A0531-6A5E-49F7-A61D-4ADB1608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83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2B495-26E1-4EF6-8C26-C4754815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6F0F4-1020-40A2-8E95-28D22A84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9FBE-5CB6-4171-839D-B6D6BDE0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96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DE2F-489A-498A-AEBF-5E3ED8A1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16D84-8015-4773-A55B-F6F163C9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681A1-661A-4826-A840-C8AF9A803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C2662-E70A-4536-84E0-9040CC09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45BF6-174E-494E-A0D8-ACA06BC4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7EF52-31EA-4CD7-BC4E-EC8D31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61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C5CB-5B92-43A3-B2ED-CFCBD0D0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97125-B610-4B7C-ADD5-A2225C2F3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27998-37D1-411F-AC05-3DEB2D475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4C25F-98A6-4CA4-8730-ED5BE431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ADEC0-9B7E-43DA-865F-8A4A2E6E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87F92-E9CC-47E8-B50D-602D0C2B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5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CE03-0616-4920-B1C7-42245891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AE05A-7274-4FFD-9464-AA0340AE4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8B105-591F-418E-AD92-02557232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53FBB-8F9F-4432-9504-DE12E4AA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8C7F-36D3-42F0-8045-77279A71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8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ECFC9-8A46-408F-ACF0-E647AD8C3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D5767-15F9-4193-945F-76AF692DB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BAA34-6592-49CF-990D-0EF9D8BA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A09AF-FD0F-4F3B-850B-3C88EC1A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C8CB-6A24-46E1-9205-13C02EFA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22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CC440-5D83-45D3-8A29-97276B7D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F2DD0-0597-4F0B-B741-3F79C073A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F4A77-1E7D-4673-BE5B-EA075A004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3E56E-EE61-46EA-84C7-4709A46CC478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05ABD-F924-490F-AB24-E2B2A72E4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FD7A1-7399-4C58-B156-54B1EE73E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CCF7E-EBDF-454D-A7CC-6AE56249D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08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DEEB-2732-4E14-8E42-F2F9FDCD2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044441"/>
          </a:xfrm>
        </p:spPr>
        <p:txBody>
          <a:bodyPr>
            <a:normAutofit/>
          </a:bodyPr>
          <a:lstStyle/>
          <a:p>
            <a:r>
              <a:rPr lang="en-GB" dirty="0"/>
              <a:t>6CS005 – High Performance Computing</a:t>
            </a:r>
            <a:br>
              <a:rPr lang="en-GB" dirty="0"/>
            </a:br>
            <a:br>
              <a:rPr lang="en-GB" dirty="0"/>
            </a:br>
            <a:r>
              <a:rPr lang="en-GB" sz="2200" dirty="0"/>
              <a:t>Pooja Kaur (Module Leader)</a:t>
            </a:r>
          </a:p>
        </p:txBody>
      </p:sp>
    </p:spTree>
    <p:extLst>
      <p:ext uri="{BB962C8B-B14F-4D97-AF65-F5344CB8AC3E}">
        <p14:creationId xmlns:p14="http://schemas.microsoft.com/office/powerpoint/2010/main" val="213768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9E87-0475-4A7C-9091-16B228CF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Dates and rooms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2AFE-1DF7-4208-B065-6AFC5A1B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Tuesday 13:00-14:00 Lecture in MC401</a:t>
            </a:r>
          </a:p>
          <a:p>
            <a:r>
              <a:rPr lang="en-GB" sz="4800" dirty="0"/>
              <a:t>Tuesday 14:00-16:00 Workshop in Mi034 and Mi035 and Mi204</a:t>
            </a:r>
          </a:p>
          <a:p>
            <a:r>
              <a:rPr lang="en-GB" sz="4800" dirty="0"/>
              <a:t>Surgery (Optional) – 16:00 – 17:00 in Mi034 and Mi035 and Mi204 (from week 2)</a:t>
            </a:r>
          </a:p>
        </p:txBody>
      </p:sp>
    </p:spTree>
    <p:extLst>
      <p:ext uri="{BB962C8B-B14F-4D97-AF65-F5344CB8AC3E}">
        <p14:creationId xmlns:p14="http://schemas.microsoft.com/office/powerpoint/2010/main" val="18951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E18C-2DD5-4172-9727-E4B8D0B5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8E00-6AF0-4DA8-9B79-7F6D0E38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By the end of this module, you will be able to:</a:t>
            </a:r>
          </a:p>
          <a:p>
            <a:r>
              <a:rPr lang="en-GB" sz="4000" dirty="0"/>
              <a:t>Use advanced multithreading features to speed up programs and terminate threads sensibly</a:t>
            </a:r>
          </a:p>
          <a:p>
            <a:r>
              <a:rPr lang="en-GB" sz="4000" dirty="0"/>
              <a:t>Use GPGPU computing using CUDA (Nvidia’s GPU programming platform)</a:t>
            </a:r>
          </a:p>
          <a:p>
            <a:r>
              <a:rPr lang="en-GB" sz="4000" dirty="0"/>
              <a:t>Learn when and where HPC tools are useful in real life problems</a:t>
            </a:r>
          </a:p>
        </p:txBody>
      </p:sp>
    </p:spTree>
    <p:extLst>
      <p:ext uri="{BB962C8B-B14F-4D97-AF65-F5344CB8AC3E}">
        <p14:creationId xmlns:p14="http://schemas.microsoft.com/office/powerpoint/2010/main" val="39817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F2AF-0B12-41FB-979A-1F993915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CPU and GPU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0BD2-1A73-4358-A188-8E829F50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4356"/>
          </a:xfrm>
        </p:spPr>
        <p:txBody>
          <a:bodyPr>
            <a:normAutofit/>
          </a:bodyPr>
          <a:lstStyle/>
          <a:p>
            <a:r>
              <a:rPr lang="en-GB" dirty="0"/>
              <a:t>Multi-threading (CPU) – first half of the module</a:t>
            </a:r>
          </a:p>
          <a:p>
            <a:pPr lvl="1"/>
            <a:r>
              <a:rPr lang="en-GB" dirty="0"/>
              <a:t>Using Mutex’s – synchronisation</a:t>
            </a:r>
          </a:p>
          <a:p>
            <a:pPr lvl="1"/>
            <a:r>
              <a:rPr lang="en-GB"/>
              <a:t>Completing </a:t>
            </a:r>
            <a:r>
              <a:rPr lang="en-GB" dirty="0"/>
              <a:t>a program when a solution has been found (specific problems)</a:t>
            </a:r>
          </a:p>
          <a:p>
            <a:r>
              <a:rPr lang="en-GB" dirty="0"/>
              <a:t>GPGPU Programming using CUDA – second half of the module</a:t>
            </a:r>
          </a:p>
          <a:p>
            <a:pPr lvl="1"/>
            <a:r>
              <a:rPr lang="en-GB" dirty="0"/>
              <a:t>Allocating memory on the GPU using VRAM</a:t>
            </a:r>
          </a:p>
          <a:p>
            <a:pPr lvl="1"/>
            <a:r>
              <a:rPr lang="en-GB" dirty="0"/>
              <a:t>Transferring data to the GPU from the CPU (and vice versa)</a:t>
            </a:r>
          </a:p>
          <a:p>
            <a:pPr lvl="1"/>
            <a:r>
              <a:rPr lang="en-GB" dirty="0"/>
              <a:t>Launching different amount of threads depending on task (different dimensions for blocks and threads)</a:t>
            </a:r>
          </a:p>
          <a:p>
            <a:pPr lvl="1"/>
            <a:r>
              <a:rPr lang="en-GB" dirty="0"/>
              <a:t>Memory management on both the CPU and GPU (freeing memory appropriately)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9AEE7F-F242-48B9-B5AA-2A65797C57B0}"/>
              </a:ext>
            </a:extLst>
          </p:cNvPr>
          <p:cNvSpPr txBox="1">
            <a:spLocks/>
          </p:cNvSpPr>
          <p:nvPr/>
        </p:nvSpPr>
        <p:spPr>
          <a:xfrm>
            <a:off x="759781" y="4074974"/>
            <a:ext cx="10515600" cy="241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48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EA93-3F97-4745-A65B-A23AD391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E8EE9-1121-4DD1-86DD-0BC858676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 Questions</a:t>
            </a:r>
          </a:p>
          <a:p>
            <a:pPr marL="0" indent="0">
              <a:buNone/>
            </a:pPr>
            <a:r>
              <a:rPr lang="en-GB" dirty="0"/>
              <a:t>1. Word Occurrence Counting using Multithreading - </a:t>
            </a:r>
            <a:r>
              <a:rPr lang="en-GB" dirty="0" err="1"/>
              <a:t>PThreads</a:t>
            </a:r>
            <a:r>
              <a:rPr lang="en-GB" dirty="0"/>
              <a:t> (10%)  </a:t>
            </a:r>
          </a:p>
          <a:p>
            <a:pPr marL="0" indent="0">
              <a:buNone/>
            </a:pPr>
            <a:r>
              <a:rPr lang="en-GB" dirty="0"/>
              <a:t>2. Multiple operations with Matrices using OpenMP (20%) </a:t>
            </a:r>
          </a:p>
          <a:p>
            <a:pPr marL="0" indent="0">
              <a:buNone/>
            </a:pPr>
            <a:r>
              <a:rPr lang="en-GB" dirty="0"/>
              <a:t>3. Password Cracking with Files using CUDA (30% -100 Marks) </a:t>
            </a:r>
          </a:p>
          <a:p>
            <a:pPr marL="0" indent="0">
              <a:buNone/>
            </a:pPr>
            <a:r>
              <a:rPr lang="en-GB" dirty="0"/>
              <a:t>4. Sobel Edge Detection using CUDA across many PNG (40%)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146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7163</TotalTime>
  <Words>243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6CS005 – High Performance Computing  Pooja Kaur (Module Leader)</vt:lpstr>
      <vt:lpstr>Dates and rooms</vt:lpstr>
      <vt:lpstr>Module outcomes</vt:lpstr>
      <vt:lpstr>CPU and GPU </vt:lpstr>
      <vt:lpstr>Assessment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Hiran Patel</dc:creator>
  <cp:lastModifiedBy>Kaur, Sarrina</cp:lastModifiedBy>
  <cp:revision>48</cp:revision>
  <dcterms:created xsi:type="dcterms:W3CDTF">2018-09-24T09:26:29Z</dcterms:created>
  <dcterms:modified xsi:type="dcterms:W3CDTF">2025-09-21T21:20:14Z</dcterms:modified>
</cp:coreProperties>
</file>