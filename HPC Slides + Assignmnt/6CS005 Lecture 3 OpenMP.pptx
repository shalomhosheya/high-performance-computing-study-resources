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84" r:id="rId3"/>
    <p:sldId id="285" r:id="rId4"/>
    <p:sldId id="286" r:id="rId5"/>
    <p:sldId id="289" r:id="rId6"/>
    <p:sldId id="287" r:id="rId7"/>
    <p:sldId id="290" r:id="rId8"/>
    <p:sldId id="291" r:id="rId9"/>
    <p:sldId id="265" r:id="rId10"/>
    <p:sldId id="266" r:id="rId11"/>
    <p:sldId id="292" r:id="rId12"/>
    <p:sldId id="293" r:id="rId13"/>
    <p:sldId id="294" r:id="rId14"/>
    <p:sldId id="295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283" r:id="rId25"/>
  </p:sldIdLst>
  <p:sldSz cx="12192000" cy="6858000"/>
  <p:notesSz cx="6797675" cy="9926638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8CF475-34CE-4AF9-BFC0-AADEC6D930FD}">
          <p14:sldIdLst>
            <p14:sldId id="256"/>
            <p14:sldId id="284"/>
            <p14:sldId id="285"/>
            <p14:sldId id="286"/>
            <p14:sldId id="289"/>
            <p14:sldId id="287"/>
            <p14:sldId id="290"/>
            <p14:sldId id="291"/>
            <p14:sldId id="265"/>
            <p14:sldId id="266"/>
            <p14:sldId id="292"/>
            <p14:sldId id="293"/>
            <p14:sldId id="294"/>
            <p14:sldId id="295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098">
          <p15:clr>
            <a:srgbClr val="A4A3A4"/>
          </p15:clr>
        </p15:guide>
        <p15:guide id="3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B18"/>
    <a:srgbClr val="FEE814"/>
    <a:srgbClr val="660066"/>
    <a:srgbClr val="CC0099"/>
    <a:srgbClr val="200029"/>
    <a:srgbClr val="1A00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2755B3-DB0B-4003-8E0A-3475AD37823C}" v="169" dt="2020-10-20T01:47:26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94" autoAdjust="0"/>
    <p:restoredTop sz="91379" autoAdjust="0"/>
  </p:normalViewPr>
  <p:slideViewPr>
    <p:cSldViewPr>
      <p:cViewPr varScale="1">
        <p:scale>
          <a:sx n="111" d="100"/>
          <a:sy n="111" d="100"/>
        </p:scale>
        <p:origin x="25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76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406" y="-90"/>
      </p:cViewPr>
      <p:guideLst>
        <p:guide orient="horz" pos="3126"/>
        <p:guide pos="2098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14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911" y="0"/>
            <a:ext cx="2946144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164"/>
            <a:ext cx="294614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DFF9B02-B511-41B7-B86E-BB5F034020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052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14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911" y="0"/>
            <a:ext cx="2946144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164"/>
            <a:ext cx="294614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C91629A-89CF-4C2C-9865-CC6C32D549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8705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779619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771302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91629A-89CF-4C2C-9865-CC6C32D5498C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281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27381" y="2512922"/>
            <a:ext cx="10363200" cy="1470025"/>
          </a:xfrm>
        </p:spPr>
        <p:txBody>
          <a:bodyPr/>
          <a:lstStyle>
            <a:lvl1pPr algn="l">
              <a:defRPr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27381" y="4268688"/>
            <a:ext cx="8534400" cy="1752600"/>
          </a:xfrm>
        </p:spPr>
        <p:txBody>
          <a:bodyPr/>
          <a:lstStyle>
            <a:lvl1pPr marL="0" indent="0" algn="l">
              <a:buFontTx/>
              <a:buNone/>
              <a:defRPr baseline="0">
                <a:solidFill>
                  <a:srgbClr val="FFC000"/>
                </a:solidFill>
                <a:latin typeface="Rockwell" pitchFamily="18" charset="0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158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690" y="188639"/>
            <a:ext cx="7063769" cy="576064"/>
          </a:xfrm>
        </p:spPr>
        <p:txBody>
          <a:bodyPr/>
          <a:lstStyle>
            <a:lvl1pPr>
              <a:defRPr sz="2800" baseline="0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350" y="1052737"/>
            <a:ext cx="11713301" cy="56166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1542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800"/>
            </a:lvl2pPr>
            <a:lvl3pPr marL="914355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4" indent="0">
              <a:buNone/>
              <a:defRPr sz="1400"/>
            </a:lvl7pPr>
            <a:lvl8pPr marL="3200240" indent="0">
              <a:buNone/>
              <a:defRPr sz="1400"/>
            </a:lvl8pPr>
            <a:lvl9pPr marL="3657418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873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17" y="1940981"/>
            <a:ext cx="11233151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1800" y="2852248"/>
            <a:ext cx="5513917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8934" y="2852248"/>
            <a:ext cx="551603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27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13913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774390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414149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8" y="2774390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3414149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58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748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30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7" y="1594874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59488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7" y="275693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96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604803"/>
            <a:ext cx="7315200" cy="3122777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5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4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6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653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38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58267" y="990603"/>
            <a:ext cx="2806700" cy="5462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1800" y="990603"/>
            <a:ext cx="8223251" cy="5462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258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60126"/>
            <a:ext cx="10515600" cy="637198"/>
          </a:xfrm>
        </p:spPr>
        <p:txBody>
          <a:bodyPr anchor="b">
            <a:noAutofit/>
          </a:bodyPr>
          <a:lstStyle>
            <a:lvl1pPr>
              <a:defRPr sz="2700" b="1" i="0" cap="none" normalizeH="0" baseline="0">
                <a:solidFill>
                  <a:srgbClr val="000000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4163"/>
            <a:ext cx="10515600" cy="4532801"/>
          </a:xfrm>
        </p:spPr>
        <p:txBody>
          <a:bodyPr/>
          <a:lstStyle>
            <a:lvl1pPr>
              <a:spcBef>
                <a:spcPts val="750"/>
              </a:spcBef>
              <a:buClr>
                <a:srgbClr val="3359EC"/>
              </a:buClr>
              <a:defRPr b="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spcBef>
                <a:spcPts val="750"/>
              </a:spcBef>
              <a:buClr>
                <a:srgbClr val="3359EC"/>
              </a:buClr>
              <a:defRPr b="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spcBef>
                <a:spcPts val="750"/>
              </a:spcBef>
              <a:buClr>
                <a:srgbClr val="3359EC"/>
              </a:buClr>
              <a:defRPr b="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spcBef>
                <a:spcPts val="750"/>
              </a:spcBef>
              <a:buClr>
                <a:srgbClr val="3359EC"/>
              </a:buClr>
              <a:defRPr b="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spcBef>
                <a:spcPts val="750"/>
              </a:spcBef>
              <a:buClr>
                <a:srgbClr val="3359EC"/>
              </a:buClr>
              <a:defRPr b="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2594" y="6356351"/>
            <a:ext cx="47068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levelaccess.com   </a:t>
            </a:r>
            <a:r>
              <a:rPr lang="en-US" b="1"/>
              <a:t> </a:t>
            </a:r>
            <a:r>
              <a:rPr lang="en-US" b="1">
                <a:solidFill>
                  <a:srgbClr val="5CD344"/>
                </a:solidFill>
              </a:rPr>
              <a:t>|</a:t>
            </a:r>
            <a:r>
              <a:rPr lang="en-US" b="1">
                <a:solidFill>
                  <a:srgbClr val="00D81A"/>
                </a:solidFill>
              </a:rPr>
              <a:t> </a:t>
            </a:r>
            <a:r>
              <a:rPr lang="en-US" b="1"/>
              <a:t>   </a:t>
            </a:r>
            <a:r>
              <a:rPr lang="en-US"/>
              <a:t>(</a:t>
            </a:r>
            <a:r>
              <a:rPr lang="de-DE"/>
              <a:t>800) 899-9659    </a:t>
            </a:r>
            <a:r>
              <a:rPr lang="en-US" b="1">
                <a:solidFill>
                  <a:srgbClr val="5CD344"/>
                </a:solidFill>
              </a:rPr>
              <a:t>|</a:t>
            </a:r>
            <a:r>
              <a:rPr lang="en-US"/>
              <a:t>    info@levelaccess.com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0EA8A-DA75-3443-B9EE-A63E33F4F2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10"/>
          </p:nvPr>
        </p:nvSpPr>
        <p:spPr>
          <a:xfrm>
            <a:off x="838200" y="1107373"/>
            <a:ext cx="10515600" cy="369276"/>
          </a:xfrm>
        </p:spPr>
        <p:txBody>
          <a:bodyPr anchor="ctr"/>
          <a:lstStyle>
            <a:lvl1pPr marL="0" indent="0" algn="l">
              <a:buNone/>
              <a:defRPr sz="1800" b="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 descr="Level Access Logo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05537" y="6302169"/>
            <a:ext cx="1048265" cy="419306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718038" y="1474177"/>
            <a:ext cx="10755927" cy="45719"/>
          </a:xfrm>
          <a:prstGeom prst="rect">
            <a:avLst/>
          </a:prstGeom>
          <a:solidFill>
            <a:srgbClr val="5DD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371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5906"/>
              <a:t>Title Text</a:t>
            </a:r>
          </a:p>
        </p:txBody>
      </p:sp>
      <p:sp>
        <p:nvSpPr>
          <p:cNvPr id="14" name="Shape 1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953"/>
              <a:t>Body Level One</a:t>
            </a:r>
          </a:p>
          <a:p>
            <a:pPr lvl="1">
              <a:defRPr sz="1800"/>
            </a:pPr>
            <a:r>
              <a:rPr sz="2953"/>
              <a:t>Body Level Two</a:t>
            </a:r>
          </a:p>
          <a:p>
            <a:pPr lvl="2">
              <a:defRPr sz="1800"/>
            </a:pPr>
            <a:r>
              <a:rPr sz="2953"/>
              <a:t>Body Level Three</a:t>
            </a:r>
          </a:p>
          <a:p>
            <a:pPr lvl="3">
              <a:defRPr sz="1800"/>
            </a:pPr>
            <a:r>
              <a:rPr sz="2953"/>
              <a:t>Body Level Four</a:t>
            </a:r>
          </a:p>
          <a:p>
            <a:pPr lvl="4">
              <a:defRPr sz="1800"/>
            </a:pPr>
            <a:r>
              <a:rPr sz="2953"/>
              <a:t>Body Level Five</a:t>
            </a:r>
          </a:p>
        </p:txBody>
      </p:sp>
      <p:sp>
        <p:nvSpPr>
          <p:cNvPr id="15" name="Shape 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720595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17" y="980728"/>
            <a:ext cx="9984664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17" y="1628801"/>
            <a:ext cx="11233151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4" r:id="rId12"/>
    <p:sldLayoutId id="2147483985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5pPr>
      <a:lvl6pPr marL="457178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6pPr>
      <a:lvl7pPr marL="914355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7pPr>
      <a:lvl8pPr marL="1371532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9pPr>
    </p:titleStyle>
    <p:bodyStyle>
      <a:lvl1pPr marL="342884" indent="-34288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6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2944" indent="-228588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120" indent="-228588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297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474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652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829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006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kumimoji="1" lang="en-GB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6CS005 High Performance Computing</a:t>
            </a:r>
            <a:endParaRPr lang="en-GB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Lecture 3 OpenMP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98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A6CC-E812-4BB6-9B8C-94231415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OpenMP- 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00CEF-0F31-414C-A0B2-C89B0B033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OpenMP stands for Open Multi-Processing.</a:t>
            </a:r>
          </a:p>
          <a:p>
            <a:r>
              <a:rPr lang="en-GB" dirty="0"/>
              <a:t>It is an API that supports shared memory multiprocessing programming in C, C++ and Fortran.</a:t>
            </a:r>
          </a:p>
          <a:p>
            <a:r>
              <a:rPr lang="en-GB" dirty="0"/>
              <a:t>OpenMP was defined by the OpenMP Architecture Review Board (OpenMP ARB), a group of vendors who joined forces during the 1990s to provide a common means for programming a broad range of SMP architectures. </a:t>
            </a:r>
          </a:p>
          <a:p>
            <a:r>
              <a:rPr lang="en-GB" dirty="0"/>
              <a:t>OpenMP is not a new programming language. It can be considered as a “notation” that can be added to a sequential program in Fortran, C or C++ to describe how the work is to be shared among threads that will execute on different processors/cores, and to order accesses to shared data as needed.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8459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A6CC-E812-4BB6-9B8C-94231415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OpenMP- 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00CEF-0F31-414C-A0B2-C89B0B033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OpenMP Application Programming Interface (API) was developed to enable portable shared memory parallel programming. </a:t>
            </a:r>
          </a:p>
          <a:p>
            <a:r>
              <a:rPr lang="en-GB" dirty="0"/>
              <a:t>An OpenMP directive is an instruction in a special format that is only understood by OpenMP-aware compilers.</a:t>
            </a:r>
          </a:p>
          <a:p>
            <a:r>
              <a:rPr lang="en-GB" dirty="0"/>
              <a:t>OpenMP offers a shared memory programming model, where most variables are visible to all threads by default.</a:t>
            </a:r>
          </a:p>
        </p:txBody>
      </p:sp>
    </p:spTree>
    <p:extLst>
      <p:ext uri="{BB962C8B-B14F-4D97-AF65-F5344CB8AC3E}">
        <p14:creationId xmlns:p14="http://schemas.microsoft.com/office/powerpoint/2010/main" val="3663162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53A9-54A3-4F44-B9F3-FEA55F00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OpenMP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87144-46FD-4734-A80D-1566733CE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OpenMP is designed to be a portable, scalable model that gives programmers a simple and flexible interface for developing parallel applications.</a:t>
            </a:r>
          </a:p>
          <a:p>
            <a:r>
              <a:rPr lang="en-GB" dirty="0"/>
              <a:t>The API is designed to permit incremental approach to parallelizing an existing code, possibly in successive steps.</a:t>
            </a:r>
          </a:p>
          <a:p>
            <a:r>
              <a:rPr lang="en-GB" dirty="0"/>
              <a:t>The impact of OpenMP parallelization is frequently localized, i.e. modifications are often needed in few places.</a:t>
            </a:r>
          </a:p>
          <a:p>
            <a:r>
              <a:rPr lang="en-GB" dirty="0"/>
              <a:t>It is possible to write the code such that the original sequential version is preserved.</a:t>
            </a:r>
          </a:p>
          <a:p>
            <a:r>
              <a:rPr lang="en-GB" dirty="0"/>
              <a:t>Each thread execute a parallelized section of code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384190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00B36-A3FC-4147-A331-A9BD3AB2E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OpenMP Solution Stack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9940A24-119B-4757-915A-C0DDF07AE5A1}"/>
              </a:ext>
            </a:extLst>
          </p:cNvPr>
          <p:cNvGrpSpPr/>
          <p:nvPr/>
        </p:nvGrpSpPr>
        <p:grpSpPr>
          <a:xfrm>
            <a:off x="1487488" y="1359769"/>
            <a:ext cx="8940366" cy="5237583"/>
            <a:chOff x="51234" y="1027112"/>
            <a:chExt cx="8940366" cy="5237583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0035D482-CD8C-437D-A469-8DC2B904772B}"/>
                </a:ext>
              </a:extLst>
            </p:cNvPr>
            <p:cNvSpPr txBox="1"/>
            <p:nvPr/>
          </p:nvSpPr>
          <p:spPr>
            <a:xfrm>
              <a:off x="635000" y="3770312"/>
              <a:ext cx="8229600" cy="371255"/>
            </a:xfrm>
            <a:prstGeom prst="rect">
              <a:avLst/>
            </a:prstGeom>
            <a:solidFill>
              <a:srgbClr val="660066"/>
            </a:solidFill>
            <a:ln w="12700">
              <a:solidFill>
                <a:srgbClr val="FFFFFF"/>
              </a:solidFill>
            </a:ln>
          </p:spPr>
          <p:txBody>
            <a:bodyPr vert="horz" wrap="square" lIns="0" tIns="6286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495"/>
                </a:spcBef>
              </a:pPr>
              <a:r>
                <a:rPr sz="2000" b="1" spc="-5" dirty="0">
                  <a:solidFill>
                    <a:schemeClr val="bg1"/>
                  </a:solidFill>
                  <a:latin typeface="Arial"/>
                  <a:cs typeface="Arial"/>
                </a:rPr>
                <a:t>OpenMP Runtime</a:t>
              </a:r>
              <a:r>
                <a:rPr sz="2000" b="1" spc="-5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2000" b="1" spc="-5" dirty="0">
                  <a:solidFill>
                    <a:schemeClr val="bg1"/>
                  </a:solidFill>
                  <a:latin typeface="Arial"/>
                  <a:cs typeface="Arial"/>
                </a:rPr>
                <a:t>library</a:t>
              </a:r>
              <a:endParaRPr sz="20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7FF4B69A-2CA6-448E-BC30-3D0E3133A24D}"/>
                </a:ext>
              </a:extLst>
            </p:cNvPr>
            <p:cNvSpPr txBox="1"/>
            <p:nvPr/>
          </p:nvSpPr>
          <p:spPr>
            <a:xfrm>
              <a:off x="635000" y="4379912"/>
              <a:ext cx="8229600" cy="371255"/>
            </a:xfrm>
            <a:prstGeom prst="rect">
              <a:avLst/>
            </a:prstGeom>
            <a:solidFill>
              <a:srgbClr val="660066"/>
            </a:solidFill>
            <a:ln w="12700">
              <a:solidFill>
                <a:srgbClr val="FFFFFF"/>
              </a:solidFill>
            </a:ln>
          </p:spPr>
          <p:txBody>
            <a:bodyPr vert="horz" wrap="square" lIns="0" tIns="62865" rIns="0" bIns="0" rtlCol="0">
              <a:spAutoFit/>
            </a:bodyPr>
            <a:lstStyle/>
            <a:p>
              <a:pPr marL="892175">
                <a:lnSpc>
                  <a:spcPct val="100000"/>
                </a:lnSpc>
                <a:spcBef>
                  <a:spcPts val="495"/>
                </a:spcBef>
              </a:pPr>
              <a:r>
                <a:rPr sz="2000" b="1" spc="-5" dirty="0">
                  <a:solidFill>
                    <a:schemeClr val="bg1"/>
                  </a:solidFill>
                  <a:latin typeface="Arial"/>
                  <a:cs typeface="Arial"/>
                </a:rPr>
                <a:t>OS/system support for shared memory and</a:t>
              </a:r>
              <a:r>
                <a:rPr sz="2000" b="1" spc="-3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2000" b="1" spc="-5" dirty="0">
                  <a:solidFill>
                    <a:schemeClr val="bg1"/>
                  </a:solidFill>
                  <a:latin typeface="Arial"/>
                  <a:cs typeface="Arial"/>
                </a:rPr>
                <a:t>threading</a:t>
              </a:r>
              <a:endParaRPr sz="20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E6623EBD-A667-46F7-BD55-5316B5070C9B}"/>
                </a:ext>
              </a:extLst>
            </p:cNvPr>
            <p:cNvSpPr/>
            <p:nvPr/>
          </p:nvSpPr>
          <p:spPr>
            <a:xfrm>
              <a:off x="533400" y="3670502"/>
              <a:ext cx="8458200" cy="1905"/>
            </a:xfrm>
            <a:custGeom>
              <a:avLst/>
              <a:gdLst/>
              <a:ahLst/>
              <a:cxnLst/>
              <a:rect l="l" t="t" r="r" b="b"/>
              <a:pathLst>
                <a:path w="8458200" h="1904">
                  <a:moveTo>
                    <a:pt x="0" y="0"/>
                  </a:moveTo>
                  <a:lnTo>
                    <a:pt x="8458204" y="1588"/>
                  </a:lnTo>
                </a:path>
              </a:pathLst>
            </a:custGeom>
            <a:ln w="7620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EE83F2B4-3B76-430C-BCF9-E84597DBD288}"/>
                </a:ext>
              </a:extLst>
            </p:cNvPr>
            <p:cNvSpPr txBox="1"/>
            <p:nvPr/>
          </p:nvSpPr>
          <p:spPr>
            <a:xfrm>
              <a:off x="96922" y="3642083"/>
              <a:ext cx="269304" cy="143700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2115"/>
                </a:lnSpc>
              </a:pPr>
              <a:r>
                <a:rPr sz="2700" b="1" spc="-7" baseline="1543" dirty="0">
                  <a:latin typeface="Arial"/>
                  <a:cs typeface="Arial"/>
                </a:rPr>
                <a:t>Syst</a:t>
              </a:r>
              <a:r>
                <a:rPr sz="1800" b="1" spc="-5" dirty="0">
                  <a:latin typeface="Arial"/>
                  <a:cs typeface="Arial"/>
                </a:rPr>
                <a:t>em</a:t>
              </a:r>
              <a:r>
                <a:rPr sz="1800" b="1" spc="-85" dirty="0">
                  <a:latin typeface="Arial"/>
                  <a:cs typeface="Arial"/>
                </a:rPr>
                <a:t> </a:t>
              </a:r>
              <a:r>
                <a:rPr sz="1800" b="1" spc="-5" dirty="0">
                  <a:latin typeface="Arial"/>
                  <a:cs typeface="Arial"/>
                </a:rPr>
                <a:t>layer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9D94068C-36D1-4561-957C-80A875AD76AE}"/>
                </a:ext>
              </a:extLst>
            </p:cNvPr>
            <p:cNvSpPr txBox="1"/>
            <p:nvPr/>
          </p:nvSpPr>
          <p:spPr>
            <a:xfrm>
              <a:off x="635000" y="2627312"/>
              <a:ext cx="2413000" cy="975266"/>
            </a:xfrm>
            <a:prstGeom prst="rect">
              <a:avLst/>
            </a:prstGeom>
            <a:solidFill>
              <a:srgbClr val="001B72"/>
            </a:solidFill>
            <a:ln w="12700">
              <a:solidFill>
                <a:srgbClr val="FFFFFF"/>
              </a:solidFill>
            </a:ln>
          </p:spPr>
          <p:txBody>
            <a:bodyPr vert="horz" wrap="square" lIns="0" tIns="26034" rIns="0" bIns="0" rtlCol="0">
              <a:spAutoFit/>
            </a:bodyPr>
            <a:lstStyle/>
            <a:p>
              <a:pPr marL="655955" marR="556895" indent="-91440">
                <a:lnSpc>
                  <a:spcPct val="100000"/>
                </a:lnSpc>
                <a:spcBef>
                  <a:spcPts val="204"/>
                </a:spcBef>
              </a:pPr>
              <a:r>
                <a:rPr sz="2000" b="1" spc="5" dirty="0">
                  <a:solidFill>
                    <a:schemeClr val="bg1"/>
                  </a:solidFill>
                  <a:latin typeface="Arial"/>
                  <a:cs typeface="Arial"/>
                </a:rPr>
                <a:t>D</a:t>
              </a:r>
              <a:r>
                <a:rPr sz="2000" b="1" spc="-10" dirty="0">
                  <a:solidFill>
                    <a:schemeClr val="bg1"/>
                  </a:solidFill>
                  <a:latin typeface="Arial"/>
                  <a:cs typeface="Arial"/>
                </a:rPr>
                <a:t>i</a:t>
              </a:r>
              <a:r>
                <a:rPr sz="2000" b="1" spc="-5" dirty="0">
                  <a:solidFill>
                    <a:schemeClr val="bg1"/>
                  </a:solidFill>
                  <a:latin typeface="Arial"/>
                  <a:cs typeface="Arial"/>
                </a:rPr>
                <a:t>rect</a:t>
              </a:r>
              <a:r>
                <a:rPr sz="2000" b="1" spc="-10" dirty="0">
                  <a:solidFill>
                    <a:schemeClr val="bg1"/>
                  </a:solidFill>
                  <a:latin typeface="Arial"/>
                  <a:cs typeface="Arial"/>
                </a:rPr>
                <a:t>i</a:t>
              </a:r>
              <a:r>
                <a:rPr sz="2000" b="1" spc="-5" dirty="0">
                  <a:solidFill>
                    <a:schemeClr val="bg1"/>
                  </a:solidFill>
                  <a:latin typeface="Arial"/>
                  <a:cs typeface="Arial"/>
                </a:rPr>
                <a:t>ves</a:t>
              </a:r>
              <a:r>
                <a:rPr sz="2000" b="1" dirty="0">
                  <a:solidFill>
                    <a:schemeClr val="bg1"/>
                  </a:solidFill>
                  <a:latin typeface="Arial"/>
                  <a:cs typeface="Arial"/>
                </a:rPr>
                <a:t>,  </a:t>
              </a:r>
              <a:r>
                <a:rPr sz="2000" b="1" spc="-5" dirty="0">
                  <a:solidFill>
                    <a:schemeClr val="bg1"/>
                  </a:solidFill>
                  <a:latin typeface="Arial"/>
                  <a:cs typeface="Arial"/>
                </a:rPr>
                <a:t>Compiler</a:t>
              </a:r>
              <a:endParaRPr lang="en-GB" sz="2000" b="1" spc="-5" dirty="0">
                <a:solidFill>
                  <a:schemeClr val="bg1"/>
                </a:solidFill>
                <a:latin typeface="Arial"/>
                <a:cs typeface="Arial"/>
              </a:endParaRPr>
            </a:p>
            <a:p>
              <a:pPr marL="655955" marR="556895" indent="-91440">
                <a:lnSpc>
                  <a:spcPct val="100000"/>
                </a:lnSpc>
                <a:spcBef>
                  <a:spcPts val="204"/>
                </a:spcBef>
              </a:pPr>
              <a:endParaRPr sz="20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57B91504-6152-46EF-BDC2-65D26ECDC561}"/>
                </a:ext>
              </a:extLst>
            </p:cNvPr>
            <p:cNvSpPr txBox="1"/>
            <p:nvPr/>
          </p:nvSpPr>
          <p:spPr>
            <a:xfrm>
              <a:off x="3276600" y="2627312"/>
              <a:ext cx="3048000" cy="897040"/>
            </a:xfrm>
            <a:prstGeom prst="rect">
              <a:avLst/>
            </a:prstGeom>
            <a:solidFill>
              <a:srgbClr val="001B72"/>
            </a:solidFill>
            <a:ln w="12700">
              <a:solidFill>
                <a:srgbClr val="FFFFFF"/>
              </a:solidFill>
            </a:ln>
          </p:spPr>
          <p:txBody>
            <a:bodyPr vert="horz" wrap="square" lIns="0" tIns="139065" rIns="0" bIns="0" rtlCol="0">
              <a:spAutoFit/>
            </a:bodyPr>
            <a:lstStyle/>
            <a:p>
              <a:pPr marL="588645">
                <a:lnSpc>
                  <a:spcPct val="100000"/>
                </a:lnSpc>
                <a:spcBef>
                  <a:spcPts val="1095"/>
                </a:spcBef>
              </a:pPr>
              <a:r>
                <a:rPr sz="2000" b="1" spc="-5" dirty="0">
                  <a:solidFill>
                    <a:schemeClr val="bg1"/>
                  </a:solidFill>
                  <a:latin typeface="Arial"/>
                  <a:cs typeface="Arial"/>
                </a:rPr>
                <a:t>OpenMP</a:t>
              </a:r>
              <a:r>
                <a:rPr sz="2000" b="1" spc="-5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sz="2000" b="1" spc="-5" dirty="0">
                  <a:solidFill>
                    <a:schemeClr val="bg1"/>
                  </a:solidFill>
                  <a:latin typeface="Arial"/>
                  <a:cs typeface="Arial"/>
                </a:rPr>
                <a:t>library</a:t>
              </a:r>
              <a:endParaRPr lang="en-GB" sz="2000" b="1" spc="-5" dirty="0">
                <a:solidFill>
                  <a:schemeClr val="bg1"/>
                </a:solidFill>
                <a:latin typeface="Arial"/>
                <a:cs typeface="Arial"/>
              </a:endParaRPr>
            </a:p>
            <a:p>
              <a:pPr marL="588645">
                <a:lnSpc>
                  <a:spcPct val="100000"/>
                </a:lnSpc>
                <a:spcBef>
                  <a:spcPts val="1095"/>
                </a:spcBef>
              </a:pPr>
              <a:endParaRPr sz="20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00155125-AD0C-48CB-BC97-E4E0F85F4857}"/>
                </a:ext>
              </a:extLst>
            </p:cNvPr>
            <p:cNvSpPr txBox="1"/>
            <p:nvPr/>
          </p:nvSpPr>
          <p:spPr>
            <a:xfrm>
              <a:off x="6553200" y="2627312"/>
              <a:ext cx="2311400" cy="910506"/>
            </a:xfrm>
            <a:prstGeom prst="rect">
              <a:avLst/>
            </a:prstGeom>
            <a:solidFill>
              <a:srgbClr val="001B72"/>
            </a:solidFill>
            <a:ln w="12700">
              <a:solidFill>
                <a:srgbClr val="FFFFFF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R="60960" algn="ctr">
                <a:lnSpc>
                  <a:spcPts val="2295"/>
                </a:lnSpc>
              </a:pPr>
              <a:r>
                <a:rPr sz="2000" b="1" spc="-5" dirty="0">
                  <a:solidFill>
                    <a:schemeClr val="bg1"/>
                  </a:solidFill>
                  <a:latin typeface="Arial"/>
                  <a:cs typeface="Arial"/>
                </a:rPr>
                <a:t>Environment</a:t>
              </a:r>
              <a:endParaRPr sz="2000" dirty="0">
                <a:solidFill>
                  <a:schemeClr val="bg1"/>
                </a:solidFill>
                <a:latin typeface="Arial"/>
                <a:cs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GB" sz="2000" b="1" spc="-5" dirty="0">
                  <a:solidFill>
                    <a:schemeClr val="bg1"/>
                  </a:solidFill>
                  <a:latin typeface="Arial"/>
                  <a:cs typeface="Arial"/>
                </a:rPr>
                <a:t>V</a:t>
              </a:r>
              <a:r>
                <a:rPr sz="2000" b="1" spc="-5" dirty="0" err="1">
                  <a:solidFill>
                    <a:schemeClr val="bg1"/>
                  </a:solidFill>
                  <a:latin typeface="Arial"/>
                  <a:cs typeface="Arial"/>
                </a:rPr>
                <a:t>ariables</a:t>
              </a:r>
              <a:endParaRPr lang="en-GB" sz="2000" b="1" spc="-5" dirty="0">
                <a:solidFill>
                  <a:schemeClr val="bg1"/>
                </a:solidFill>
                <a:latin typeface="Arial"/>
                <a:cs typeface="Arial"/>
              </a:endParaRPr>
            </a:p>
            <a:p>
              <a:pPr algn="ctr">
                <a:lnSpc>
                  <a:spcPct val="100000"/>
                </a:lnSpc>
              </a:pPr>
              <a:endParaRPr sz="20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CF817A57-D89A-420C-939A-B67160FE44FF}"/>
                </a:ext>
              </a:extLst>
            </p:cNvPr>
            <p:cNvSpPr/>
            <p:nvPr/>
          </p:nvSpPr>
          <p:spPr>
            <a:xfrm>
              <a:off x="533400" y="2520279"/>
              <a:ext cx="8458200" cy="0"/>
            </a:xfrm>
            <a:custGeom>
              <a:avLst/>
              <a:gdLst/>
              <a:ahLst/>
              <a:cxnLst/>
              <a:rect l="l" t="t" r="r" b="b"/>
              <a:pathLst>
                <a:path w="8458200">
                  <a:moveTo>
                    <a:pt x="0" y="0"/>
                  </a:moveTo>
                  <a:lnTo>
                    <a:pt x="8458204" y="1"/>
                  </a:lnTo>
                </a:path>
              </a:pathLst>
            </a:custGeom>
            <a:ln w="7620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A713588F-6CAC-4129-A11C-A88B69CD0ABD}"/>
                </a:ext>
              </a:extLst>
            </p:cNvPr>
            <p:cNvSpPr txBox="1"/>
            <p:nvPr/>
          </p:nvSpPr>
          <p:spPr>
            <a:xfrm>
              <a:off x="51234" y="2667531"/>
              <a:ext cx="487313" cy="567690"/>
            </a:xfrm>
            <a:prstGeom prst="rect">
              <a:avLst/>
            </a:prstGeom>
          </p:spPr>
          <p:txBody>
            <a:bodyPr vert="vert270" wrap="square" lIns="0" tIns="6350" rIns="0" bIns="0" rtlCol="0">
              <a:spAutoFit/>
            </a:bodyPr>
            <a:lstStyle/>
            <a:p>
              <a:pPr marL="12700" marR="5080" indent="12065">
                <a:lnSpc>
                  <a:spcPts val="1889"/>
                </a:lnSpc>
                <a:spcBef>
                  <a:spcPts val="50"/>
                </a:spcBef>
              </a:pPr>
              <a:r>
                <a:rPr sz="1600" b="1" spc="-10" dirty="0">
                  <a:latin typeface="Arial"/>
                  <a:cs typeface="Arial"/>
                </a:rPr>
                <a:t>Prog.  </a:t>
              </a:r>
              <a:r>
                <a:rPr sz="1600" b="1" spc="-5" dirty="0">
                  <a:latin typeface="Arial"/>
                  <a:cs typeface="Arial"/>
                </a:rPr>
                <a:t>Layer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2AFE83BF-14D3-4998-B0E8-C17286BBB321}"/>
                </a:ext>
              </a:extLst>
            </p:cNvPr>
            <p:cNvSpPr/>
            <p:nvPr/>
          </p:nvSpPr>
          <p:spPr>
            <a:xfrm>
              <a:off x="609600" y="1027112"/>
              <a:ext cx="8229600" cy="609600"/>
            </a:xfrm>
            <a:custGeom>
              <a:avLst/>
              <a:gdLst/>
              <a:ahLst/>
              <a:cxnLst/>
              <a:rect l="l" t="t" r="r" b="b"/>
              <a:pathLst>
                <a:path w="8229600" h="609600">
                  <a:moveTo>
                    <a:pt x="0" y="0"/>
                  </a:moveTo>
                  <a:lnTo>
                    <a:pt x="8229604" y="0"/>
                  </a:lnTo>
                  <a:lnTo>
                    <a:pt x="8229604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5" name="object 18">
              <a:extLst>
                <a:ext uri="{FF2B5EF4-FFF2-40B4-BE49-F238E27FC236}">
                  <a16:creationId xmlns:a16="http://schemas.microsoft.com/office/drawing/2014/main" id="{994DE48F-40CE-44DF-A29D-A72883DDCC14}"/>
                </a:ext>
              </a:extLst>
            </p:cNvPr>
            <p:cNvSpPr txBox="1"/>
            <p:nvPr/>
          </p:nvSpPr>
          <p:spPr>
            <a:xfrm>
              <a:off x="609600" y="1728191"/>
              <a:ext cx="6934200" cy="679032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rgbClr val="FFFFFF"/>
              </a:solidFill>
            </a:ln>
          </p:spPr>
          <p:txBody>
            <a:bodyPr vert="horz" wrap="square" lIns="0" tIns="628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495"/>
                </a:spcBef>
              </a:pPr>
              <a:r>
                <a:rPr sz="2000" b="1" spc="-5" dirty="0">
                  <a:latin typeface="Arial"/>
                  <a:cs typeface="Arial"/>
                </a:rPr>
                <a:t>Application</a:t>
              </a:r>
              <a:br>
                <a:rPr lang="en-GB" sz="2000" b="1" spc="-5" dirty="0">
                  <a:latin typeface="Arial"/>
                  <a:cs typeface="Arial"/>
                </a:rPr>
              </a:br>
              <a:endParaRPr sz="2000" dirty="0">
                <a:latin typeface="Arial"/>
                <a:cs typeface="Arial"/>
              </a:endParaRPr>
            </a:p>
          </p:txBody>
        </p:sp>
        <p:sp>
          <p:nvSpPr>
            <p:cNvPr id="16" name="object 19">
              <a:extLst>
                <a:ext uri="{FF2B5EF4-FFF2-40B4-BE49-F238E27FC236}">
                  <a16:creationId xmlns:a16="http://schemas.microsoft.com/office/drawing/2014/main" id="{CAFD7F90-73AC-4DC2-98D1-685D84CD0603}"/>
                </a:ext>
              </a:extLst>
            </p:cNvPr>
            <p:cNvSpPr txBox="1"/>
            <p:nvPr/>
          </p:nvSpPr>
          <p:spPr>
            <a:xfrm>
              <a:off x="4001287" y="1123188"/>
              <a:ext cx="114173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b="1" dirty="0">
                  <a:latin typeface="Arial"/>
                  <a:cs typeface="Arial"/>
                </a:rPr>
                <a:t>End</a:t>
              </a:r>
              <a:r>
                <a:rPr sz="2000" b="1" spc="-75" dirty="0">
                  <a:latin typeface="Arial"/>
                  <a:cs typeface="Arial"/>
                </a:rPr>
                <a:t> </a:t>
              </a:r>
              <a:r>
                <a:rPr sz="2000" b="1" spc="-5" dirty="0">
                  <a:latin typeface="Arial"/>
                  <a:cs typeface="Arial"/>
                </a:rPr>
                <a:t>User</a:t>
              </a:r>
              <a:endParaRPr sz="2000" dirty="0">
                <a:latin typeface="Arial"/>
                <a:cs typeface="Arial"/>
              </a:endParaRPr>
            </a:p>
          </p:txBody>
        </p:sp>
        <p:sp>
          <p:nvSpPr>
            <p:cNvPr id="17" name="object 20">
              <a:extLst>
                <a:ext uri="{FF2B5EF4-FFF2-40B4-BE49-F238E27FC236}">
                  <a16:creationId xmlns:a16="http://schemas.microsoft.com/office/drawing/2014/main" id="{65C166A7-2BC0-45E9-AAD2-24084F3E206B}"/>
                </a:ext>
              </a:extLst>
            </p:cNvPr>
            <p:cNvSpPr txBox="1"/>
            <p:nvPr/>
          </p:nvSpPr>
          <p:spPr>
            <a:xfrm>
              <a:off x="109629" y="1067500"/>
              <a:ext cx="243656" cy="100901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1895"/>
                </a:lnSpc>
              </a:pPr>
              <a:r>
                <a:rPr sz="2400" b="1" spc="-15" baseline="1736" dirty="0">
                  <a:latin typeface="Arial"/>
                  <a:cs typeface="Arial"/>
                </a:rPr>
                <a:t>Us</a:t>
              </a:r>
              <a:r>
                <a:rPr sz="1600" b="1" spc="-10" dirty="0">
                  <a:latin typeface="Arial"/>
                  <a:cs typeface="Arial"/>
                </a:rPr>
                <a:t>er</a:t>
              </a:r>
              <a:r>
                <a:rPr sz="1600" b="1" spc="-55" dirty="0">
                  <a:latin typeface="Arial"/>
                  <a:cs typeface="Arial"/>
                </a:rPr>
                <a:t> </a:t>
              </a:r>
              <a:r>
                <a:rPr sz="1600" b="1" spc="-10" dirty="0">
                  <a:latin typeface="Arial"/>
                  <a:cs typeface="Arial"/>
                </a:rPr>
                <a:t>layer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18" name="object 21">
              <a:extLst>
                <a:ext uri="{FF2B5EF4-FFF2-40B4-BE49-F238E27FC236}">
                  <a16:creationId xmlns:a16="http://schemas.microsoft.com/office/drawing/2014/main" id="{717A9389-04F0-4C89-BF09-10FB0592BC6B}"/>
                </a:ext>
              </a:extLst>
            </p:cNvPr>
            <p:cNvSpPr/>
            <p:nvPr/>
          </p:nvSpPr>
          <p:spPr>
            <a:xfrm>
              <a:off x="503237" y="5054600"/>
              <a:ext cx="8458200" cy="1905"/>
            </a:xfrm>
            <a:custGeom>
              <a:avLst/>
              <a:gdLst/>
              <a:ahLst/>
              <a:cxnLst/>
              <a:rect l="l" t="t" r="r" b="b"/>
              <a:pathLst>
                <a:path w="8458200" h="1904">
                  <a:moveTo>
                    <a:pt x="0" y="0"/>
                  </a:moveTo>
                  <a:lnTo>
                    <a:pt x="8458204" y="1588"/>
                  </a:lnTo>
                </a:path>
              </a:pathLst>
            </a:custGeom>
            <a:ln w="7620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1B5348CB-D27F-4F69-99C5-B44CA76144AD}"/>
                </a:ext>
              </a:extLst>
            </p:cNvPr>
            <p:cNvSpPr/>
            <p:nvPr/>
          </p:nvSpPr>
          <p:spPr>
            <a:xfrm>
              <a:off x="990600" y="5794795"/>
              <a:ext cx="7239000" cy="469900"/>
            </a:xfrm>
            <a:custGeom>
              <a:avLst/>
              <a:gdLst/>
              <a:ahLst/>
              <a:cxnLst/>
              <a:rect l="l" t="t" r="r" b="b"/>
              <a:pathLst>
                <a:path w="7239000" h="469900">
                  <a:moveTo>
                    <a:pt x="7239000" y="0"/>
                  </a:moveTo>
                  <a:lnTo>
                    <a:pt x="0" y="0"/>
                  </a:lnTo>
                  <a:lnTo>
                    <a:pt x="0" y="469480"/>
                  </a:lnTo>
                  <a:lnTo>
                    <a:pt x="7239000" y="469480"/>
                  </a:lnTo>
                  <a:lnTo>
                    <a:pt x="7239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0" name="object 23">
              <a:extLst>
                <a:ext uri="{FF2B5EF4-FFF2-40B4-BE49-F238E27FC236}">
                  <a16:creationId xmlns:a16="http://schemas.microsoft.com/office/drawing/2014/main" id="{E9AE68D5-E315-4DB1-913D-2C93D0082E14}"/>
                </a:ext>
              </a:extLst>
            </p:cNvPr>
            <p:cNvSpPr txBox="1"/>
            <p:nvPr/>
          </p:nvSpPr>
          <p:spPr>
            <a:xfrm>
              <a:off x="990600" y="5794795"/>
              <a:ext cx="7239000" cy="402673"/>
            </a:xfrm>
            <a:prstGeom prst="rect">
              <a:avLst/>
            </a:prstGeom>
            <a:ln w="12700">
              <a:solidFill>
                <a:srgbClr val="000000"/>
              </a:solidFill>
            </a:ln>
          </p:spPr>
          <p:txBody>
            <a:bodyPr vert="horz" wrap="square" lIns="0" tIns="33019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259"/>
                </a:spcBef>
              </a:pPr>
              <a:r>
                <a:rPr sz="2400" b="1" spc="-5" dirty="0">
                  <a:latin typeface="Arial"/>
                  <a:cs typeface="Arial"/>
                </a:rPr>
                <a:t>Shared Address</a:t>
              </a:r>
              <a:r>
                <a:rPr sz="2400" b="1" spc="-105" dirty="0">
                  <a:latin typeface="Arial"/>
                  <a:cs typeface="Arial"/>
                </a:rPr>
                <a:t> </a:t>
              </a:r>
              <a:r>
                <a:rPr sz="2400" b="1" spc="-5" dirty="0">
                  <a:latin typeface="Arial"/>
                  <a:cs typeface="Arial"/>
                </a:rPr>
                <a:t>Space</a:t>
              </a:r>
              <a:endParaRPr sz="2400">
                <a:latin typeface="Arial"/>
                <a:cs typeface="Arial"/>
              </a:endParaRPr>
            </a:p>
          </p:txBody>
        </p:sp>
        <p:grpSp>
          <p:nvGrpSpPr>
            <p:cNvPr id="21" name="object 24">
              <a:extLst>
                <a:ext uri="{FF2B5EF4-FFF2-40B4-BE49-F238E27FC236}">
                  <a16:creationId xmlns:a16="http://schemas.microsoft.com/office/drawing/2014/main" id="{04B160AC-2EA1-40EA-8C8B-065A7AC7A077}"/>
                </a:ext>
              </a:extLst>
            </p:cNvPr>
            <p:cNvGrpSpPr/>
            <p:nvPr/>
          </p:nvGrpSpPr>
          <p:grpSpPr>
            <a:xfrm>
              <a:off x="984250" y="5211762"/>
              <a:ext cx="6889750" cy="422275"/>
              <a:chOff x="984250" y="5211762"/>
              <a:chExt cx="6889750" cy="422275"/>
            </a:xfrm>
          </p:grpSpPr>
          <p:sp>
            <p:nvSpPr>
              <p:cNvPr id="32" name="object 25">
                <a:extLst>
                  <a:ext uri="{FF2B5EF4-FFF2-40B4-BE49-F238E27FC236}">
                    <a16:creationId xmlns:a16="http://schemas.microsoft.com/office/drawing/2014/main" id="{BA913E5A-9665-4DB8-8B03-01A5C1D7F133}"/>
                  </a:ext>
                </a:extLst>
              </p:cNvPr>
              <p:cNvSpPr/>
              <p:nvPr/>
            </p:nvSpPr>
            <p:spPr>
              <a:xfrm>
                <a:off x="990600" y="5218112"/>
                <a:ext cx="1085850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1085850" h="409575">
                    <a:moveTo>
                      <a:pt x="1085850" y="0"/>
                    </a:moveTo>
                    <a:lnTo>
                      <a:pt x="0" y="0"/>
                    </a:lnTo>
                    <a:lnTo>
                      <a:pt x="0" y="409408"/>
                    </a:lnTo>
                    <a:lnTo>
                      <a:pt x="1085850" y="409408"/>
                    </a:lnTo>
                    <a:lnTo>
                      <a:pt x="108585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33" name="object 26">
                <a:extLst>
                  <a:ext uri="{FF2B5EF4-FFF2-40B4-BE49-F238E27FC236}">
                    <a16:creationId xmlns:a16="http://schemas.microsoft.com/office/drawing/2014/main" id="{7379125D-350E-49C9-9913-70C1B19E228A}"/>
                  </a:ext>
                </a:extLst>
              </p:cNvPr>
              <p:cNvSpPr/>
              <p:nvPr/>
            </p:nvSpPr>
            <p:spPr>
              <a:xfrm>
                <a:off x="990600" y="5218112"/>
                <a:ext cx="1085850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1085850" h="409575">
                    <a:moveTo>
                      <a:pt x="0" y="0"/>
                    </a:moveTo>
                    <a:lnTo>
                      <a:pt x="1085850" y="0"/>
                    </a:lnTo>
                    <a:lnTo>
                      <a:pt x="1085850" y="409408"/>
                    </a:lnTo>
                    <a:lnTo>
                      <a:pt x="0" y="409408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34" name="object 27">
                <a:extLst>
                  <a:ext uri="{FF2B5EF4-FFF2-40B4-BE49-F238E27FC236}">
                    <a16:creationId xmlns:a16="http://schemas.microsoft.com/office/drawing/2014/main" id="{9BA3B1A0-293C-4C50-8687-E3D16002E089}"/>
                  </a:ext>
                </a:extLst>
              </p:cNvPr>
              <p:cNvSpPr/>
              <p:nvPr/>
            </p:nvSpPr>
            <p:spPr>
              <a:xfrm>
                <a:off x="2366010" y="5218112"/>
                <a:ext cx="1085850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1085850" h="409575">
                    <a:moveTo>
                      <a:pt x="1085850" y="0"/>
                    </a:moveTo>
                    <a:lnTo>
                      <a:pt x="0" y="0"/>
                    </a:lnTo>
                    <a:lnTo>
                      <a:pt x="0" y="409408"/>
                    </a:lnTo>
                    <a:lnTo>
                      <a:pt x="1085850" y="409408"/>
                    </a:lnTo>
                    <a:lnTo>
                      <a:pt x="108585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35" name="object 28">
                <a:extLst>
                  <a:ext uri="{FF2B5EF4-FFF2-40B4-BE49-F238E27FC236}">
                    <a16:creationId xmlns:a16="http://schemas.microsoft.com/office/drawing/2014/main" id="{C3484BBB-E02F-482D-B3EC-F96B2AE29F5F}"/>
                  </a:ext>
                </a:extLst>
              </p:cNvPr>
              <p:cNvSpPr/>
              <p:nvPr/>
            </p:nvSpPr>
            <p:spPr>
              <a:xfrm>
                <a:off x="2366010" y="5218112"/>
                <a:ext cx="1085850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1085850" h="409575">
                    <a:moveTo>
                      <a:pt x="0" y="0"/>
                    </a:moveTo>
                    <a:lnTo>
                      <a:pt x="1085850" y="0"/>
                    </a:lnTo>
                    <a:lnTo>
                      <a:pt x="1085850" y="409408"/>
                    </a:lnTo>
                    <a:lnTo>
                      <a:pt x="0" y="409408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36" name="object 29">
                <a:extLst>
                  <a:ext uri="{FF2B5EF4-FFF2-40B4-BE49-F238E27FC236}">
                    <a16:creationId xmlns:a16="http://schemas.microsoft.com/office/drawing/2014/main" id="{97365802-2509-41DB-AC4B-405FCEAAFCD2}"/>
                  </a:ext>
                </a:extLst>
              </p:cNvPr>
              <p:cNvSpPr/>
              <p:nvPr/>
            </p:nvSpPr>
            <p:spPr>
              <a:xfrm>
                <a:off x="3813810" y="5218112"/>
                <a:ext cx="1085850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1085850" h="409575">
                    <a:moveTo>
                      <a:pt x="1085850" y="0"/>
                    </a:moveTo>
                    <a:lnTo>
                      <a:pt x="0" y="0"/>
                    </a:lnTo>
                    <a:lnTo>
                      <a:pt x="0" y="409408"/>
                    </a:lnTo>
                    <a:lnTo>
                      <a:pt x="1085850" y="409408"/>
                    </a:lnTo>
                    <a:lnTo>
                      <a:pt x="108585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37" name="object 30">
                <a:extLst>
                  <a:ext uri="{FF2B5EF4-FFF2-40B4-BE49-F238E27FC236}">
                    <a16:creationId xmlns:a16="http://schemas.microsoft.com/office/drawing/2014/main" id="{6075B52E-83AF-4723-BA5B-95D1A3F71CD3}"/>
                  </a:ext>
                </a:extLst>
              </p:cNvPr>
              <p:cNvSpPr/>
              <p:nvPr/>
            </p:nvSpPr>
            <p:spPr>
              <a:xfrm>
                <a:off x="3813810" y="5218112"/>
                <a:ext cx="1085850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1085850" h="409575">
                    <a:moveTo>
                      <a:pt x="0" y="0"/>
                    </a:moveTo>
                    <a:lnTo>
                      <a:pt x="1085850" y="0"/>
                    </a:lnTo>
                    <a:lnTo>
                      <a:pt x="1085850" y="409408"/>
                    </a:lnTo>
                    <a:lnTo>
                      <a:pt x="0" y="409408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38" name="object 31">
                <a:extLst>
                  <a:ext uri="{FF2B5EF4-FFF2-40B4-BE49-F238E27FC236}">
                    <a16:creationId xmlns:a16="http://schemas.microsoft.com/office/drawing/2014/main" id="{8F919EBD-9A63-4936-B931-5BF4A7E84112}"/>
                  </a:ext>
                </a:extLst>
              </p:cNvPr>
              <p:cNvSpPr/>
              <p:nvPr/>
            </p:nvSpPr>
            <p:spPr>
              <a:xfrm>
                <a:off x="6709409" y="5218112"/>
                <a:ext cx="1158240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1158240" h="409575">
                    <a:moveTo>
                      <a:pt x="1158240" y="0"/>
                    </a:moveTo>
                    <a:lnTo>
                      <a:pt x="0" y="0"/>
                    </a:lnTo>
                    <a:lnTo>
                      <a:pt x="0" y="409408"/>
                    </a:lnTo>
                    <a:lnTo>
                      <a:pt x="1158240" y="409408"/>
                    </a:lnTo>
                    <a:lnTo>
                      <a:pt x="115824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39" name="object 32">
                <a:extLst>
                  <a:ext uri="{FF2B5EF4-FFF2-40B4-BE49-F238E27FC236}">
                    <a16:creationId xmlns:a16="http://schemas.microsoft.com/office/drawing/2014/main" id="{8001439C-C7ED-44AF-8E6C-C7E784A30249}"/>
                  </a:ext>
                </a:extLst>
              </p:cNvPr>
              <p:cNvSpPr/>
              <p:nvPr/>
            </p:nvSpPr>
            <p:spPr>
              <a:xfrm>
                <a:off x="6709409" y="5218112"/>
                <a:ext cx="1158240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1158240" h="409575">
                    <a:moveTo>
                      <a:pt x="0" y="0"/>
                    </a:moveTo>
                    <a:lnTo>
                      <a:pt x="1158240" y="0"/>
                    </a:lnTo>
                    <a:lnTo>
                      <a:pt x="1158240" y="409408"/>
                    </a:lnTo>
                    <a:lnTo>
                      <a:pt x="0" y="409408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22" name="object 33">
              <a:extLst>
                <a:ext uri="{FF2B5EF4-FFF2-40B4-BE49-F238E27FC236}">
                  <a16:creationId xmlns:a16="http://schemas.microsoft.com/office/drawing/2014/main" id="{8FBD7858-4D9C-4076-A04F-FC3C5B4098C4}"/>
                </a:ext>
              </a:extLst>
            </p:cNvPr>
            <p:cNvSpPr txBox="1"/>
            <p:nvPr/>
          </p:nvSpPr>
          <p:spPr>
            <a:xfrm>
              <a:off x="1018539" y="5237988"/>
              <a:ext cx="6569709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63500">
                <a:lnSpc>
                  <a:spcPct val="100000"/>
                </a:lnSpc>
                <a:spcBef>
                  <a:spcPts val="100"/>
                </a:spcBef>
                <a:tabLst>
                  <a:tab pos="1438275" algn="l"/>
                  <a:tab pos="2886075" algn="l"/>
                  <a:tab pos="5781675" algn="l"/>
                </a:tabLst>
              </a:pPr>
              <a:r>
                <a:rPr sz="2000" b="1" spc="-5" dirty="0">
                  <a:latin typeface="Arial"/>
                  <a:cs typeface="Arial"/>
                </a:rPr>
                <a:t>Proc1	Proc</a:t>
              </a:r>
              <a:r>
                <a:rPr sz="1950" b="1" spc="-7" baseline="-17094" dirty="0">
                  <a:latin typeface="Arial"/>
                  <a:cs typeface="Arial"/>
                </a:rPr>
                <a:t>2	</a:t>
              </a:r>
              <a:r>
                <a:rPr sz="2000" b="1" spc="-5" dirty="0">
                  <a:latin typeface="Arial"/>
                  <a:cs typeface="Arial"/>
                </a:rPr>
                <a:t>Proc</a:t>
              </a:r>
              <a:r>
                <a:rPr sz="1950" b="1" spc="-7" baseline="-17094" dirty="0">
                  <a:latin typeface="Arial"/>
                  <a:cs typeface="Arial"/>
                </a:rPr>
                <a:t>3	</a:t>
              </a:r>
              <a:r>
                <a:rPr sz="2000" b="1" spc="-5" dirty="0">
                  <a:latin typeface="Arial"/>
                  <a:cs typeface="Arial"/>
                </a:rPr>
                <a:t>ProcN</a:t>
              </a:r>
              <a:endParaRPr sz="2000">
                <a:latin typeface="Arial"/>
                <a:cs typeface="Arial"/>
              </a:endParaRPr>
            </a:p>
          </p:txBody>
        </p:sp>
        <p:grpSp>
          <p:nvGrpSpPr>
            <p:cNvPr id="23" name="object 34">
              <a:extLst>
                <a:ext uri="{FF2B5EF4-FFF2-40B4-BE49-F238E27FC236}">
                  <a16:creationId xmlns:a16="http://schemas.microsoft.com/office/drawing/2014/main" id="{BBE66ECC-2D99-47DC-BA71-1D5CB27E9D74}"/>
                </a:ext>
              </a:extLst>
            </p:cNvPr>
            <p:cNvGrpSpPr/>
            <p:nvPr/>
          </p:nvGrpSpPr>
          <p:grpSpPr>
            <a:xfrm>
              <a:off x="1478280" y="5343918"/>
              <a:ext cx="5756910" cy="494665"/>
              <a:chOff x="1478280" y="5343918"/>
              <a:chExt cx="5756910" cy="494665"/>
            </a:xfrm>
          </p:grpSpPr>
          <p:sp>
            <p:nvSpPr>
              <p:cNvPr id="25" name="object 35">
                <a:extLst>
                  <a:ext uri="{FF2B5EF4-FFF2-40B4-BE49-F238E27FC236}">
                    <a16:creationId xmlns:a16="http://schemas.microsoft.com/office/drawing/2014/main" id="{3D3DCD95-239C-4511-AB7B-B858D9C3493E}"/>
                  </a:ext>
                </a:extLst>
              </p:cNvPr>
              <p:cNvSpPr/>
              <p:nvPr/>
            </p:nvSpPr>
            <p:spPr>
              <a:xfrm>
                <a:off x="1497330" y="5527713"/>
                <a:ext cx="0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h="311150">
                    <a:moveTo>
                      <a:pt x="0" y="0"/>
                    </a:moveTo>
                    <a:lnTo>
                      <a:pt x="1" y="310522"/>
                    </a:lnTo>
                  </a:path>
                </a:pathLst>
              </a:custGeom>
              <a:ln w="381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6" name="object 36">
                <a:extLst>
                  <a:ext uri="{FF2B5EF4-FFF2-40B4-BE49-F238E27FC236}">
                    <a16:creationId xmlns:a16="http://schemas.microsoft.com/office/drawing/2014/main" id="{C2B9E7A8-E189-4C01-BC7A-FD84F3F08C0D}"/>
                  </a:ext>
                </a:extLst>
              </p:cNvPr>
              <p:cNvSpPr/>
              <p:nvPr/>
            </p:nvSpPr>
            <p:spPr>
              <a:xfrm>
                <a:off x="2872740" y="5527713"/>
                <a:ext cx="0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h="311150">
                    <a:moveTo>
                      <a:pt x="0" y="0"/>
                    </a:moveTo>
                    <a:lnTo>
                      <a:pt x="1" y="310522"/>
                    </a:lnTo>
                  </a:path>
                </a:pathLst>
              </a:custGeom>
              <a:ln w="381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7" name="object 37">
                <a:extLst>
                  <a:ext uri="{FF2B5EF4-FFF2-40B4-BE49-F238E27FC236}">
                    <a16:creationId xmlns:a16="http://schemas.microsoft.com/office/drawing/2014/main" id="{D2A735C6-1E45-4E38-B7B7-CC64B7407342}"/>
                  </a:ext>
                </a:extLst>
              </p:cNvPr>
              <p:cNvSpPr/>
              <p:nvPr/>
            </p:nvSpPr>
            <p:spPr>
              <a:xfrm>
                <a:off x="4320540" y="5527713"/>
                <a:ext cx="0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h="311150">
                    <a:moveTo>
                      <a:pt x="0" y="0"/>
                    </a:moveTo>
                    <a:lnTo>
                      <a:pt x="1" y="310522"/>
                    </a:lnTo>
                  </a:path>
                </a:pathLst>
              </a:custGeom>
              <a:ln w="381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8" name="object 38">
                <a:extLst>
                  <a:ext uri="{FF2B5EF4-FFF2-40B4-BE49-F238E27FC236}">
                    <a16:creationId xmlns:a16="http://schemas.microsoft.com/office/drawing/2014/main" id="{75C8E429-4A33-4070-8866-8D2BE83C163B}"/>
                  </a:ext>
                </a:extLst>
              </p:cNvPr>
              <p:cNvSpPr/>
              <p:nvPr/>
            </p:nvSpPr>
            <p:spPr>
              <a:xfrm>
                <a:off x="7216139" y="5527713"/>
                <a:ext cx="0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h="311150">
                    <a:moveTo>
                      <a:pt x="0" y="0"/>
                    </a:moveTo>
                    <a:lnTo>
                      <a:pt x="1" y="310522"/>
                    </a:lnTo>
                  </a:path>
                </a:pathLst>
              </a:custGeom>
              <a:ln w="38100"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9" name="object 39">
                <a:extLst>
                  <a:ext uri="{FF2B5EF4-FFF2-40B4-BE49-F238E27FC236}">
                    <a16:creationId xmlns:a16="http://schemas.microsoft.com/office/drawing/2014/main" id="{B2E9668A-8D91-4E13-A785-315D91AFB4E7}"/>
                  </a:ext>
                </a:extLst>
              </p:cNvPr>
              <p:cNvSpPr/>
              <p:nvPr/>
            </p:nvSpPr>
            <p:spPr>
              <a:xfrm>
                <a:off x="5400039" y="5343918"/>
                <a:ext cx="157480" cy="10142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30" name="object 40">
                <a:extLst>
                  <a:ext uri="{FF2B5EF4-FFF2-40B4-BE49-F238E27FC236}">
                    <a16:creationId xmlns:a16="http://schemas.microsoft.com/office/drawing/2014/main" id="{5FD83ED0-D8FF-40DB-B9FC-AB3344291C28}"/>
                  </a:ext>
                </a:extLst>
              </p:cNvPr>
              <p:cNvSpPr/>
              <p:nvPr/>
            </p:nvSpPr>
            <p:spPr>
              <a:xfrm>
                <a:off x="5761989" y="5343918"/>
                <a:ext cx="157480" cy="10142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31" name="object 41">
                <a:extLst>
                  <a:ext uri="{FF2B5EF4-FFF2-40B4-BE49-F238E27FC236}">
                    <a16:creationId xmlns:a16="http://schemas.microsoft.com/office/drawing/2014/main" id="{71322430-0830-489C-A06F-730113730532}"/>
                  </a:ext>
                </a:extLst>
              </p:cNvPr>
              <p:cNvSpPr/>
              <p:nvPr/>
            </p:nvSpPr>
            <p:spPr>
              <a:xfrm>
                <a:off x="6123939" y="5343918"/>
                <a:ext cx="157480" cy="10142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24" name="object 42">
              <a:extLst>
                <a:ext uri="{FF2B5EF4-FFF2-40B4-BE49-F238E27FC236}">
                  <a16:creationId xmlns:a16="http://schemas.microsoft.com/office/drawing/2014/main" id="{FA7E888F-8CF3-4072-A2E5-DC4A470847E5}"/>
                </a:ext>
              </a:extLst>
            </p:cNvPr>
            <p:cNvSpPr txBox="1"/>
            <p:nvPr/>
          </p:nvSpPr>
          <p:spPr>
            <a:xfrm>
              <a:off x="98891" y="5564448"/>
              <a:ext cx="269304" cy="40767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2090"/>
                </a:lnSpc>
              </a:pPr>
              <a:r>
                <a:rPr sz="1800" b="1" dirty="0">
                  <a:latin typeface="Arial"/>
                  <a:cs typeface="Arial"/>
                </a:rPr>
                <a:t>HW</a:t>
              </a:r>
              <a:endParaRPr sz="1800">
                <a:latin typeface="Arial"/>
                <a:cs typeface="Arial"/>
              </a:endParaRPr>
            </a:p>
          </p:txBody>
        </p:sp>
      </p:grpSp>
      <p:sp>
        <p:nvSpPr>
          <p:cNvPr id="40" name="object 18">
            <a:extLst>
              <a:ext uri="{FF2B5EF4-FFF2-40B4-BE49-F238E27FC236}">
                <a16:creationId xmlns:a16="http://schemas.microsoft.com/office/drawing/2014/main" id="{8407800C-FB0D-420E-956B-7E60F38E7617}"/>
              </a:ext>
            </a:extLst>
          </p:cNvPr>
          <p:cNvSpPr txBox="1"/>
          <p:nvPr/>
        </p:nvSpPr>
        <p:spPr>
          <a:xfrm>
            <a:off x="2045854" y="1268760"/>
            <a:ext cx="8255000" cy="743152"/>
          </a:xfrm>
          <a:prstGeom prst="rect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lang="en-GB" sz="2000" b="1" spc="-5" dirty="0">
                <a:latin typeface="Arial"/>
                <a:cs typeface="Arial"/>
              </a:rPr>
              <a:t>End User</a:t>
            </a:r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endParaRPr sz="2000" dirty="0">
              <a:latin typeface="Arial"/>
              <a:cs typeface="Arial"/>
            </a:endParaRPr>
          </a:p>
        </p:txBody>
      </p:sp>
      <p:sp>
        <p:nvSpPr>
          <p:cNvPr id="41" name="object 18">
            <a:extLst>
              <a:ext uri="{FF2B5EF4-FFF2-40B4-BE49-F238E27FC236}">
                <a16:creationId xmlns:a16="http://schemas.microsoft.com/office/drawing/2014/main" id="{F58AF97C-0642-4EBE-8031-B00A10BFF212}"/>
              </a:ext>
            </a:extLst>
          </p:cNvPr>
          <p:cNvSpPr txBox="1"/>
          <p:nvPr/>
        </p:nvSpPr>
        <p:spPr>
          <a:xfrm>
            <a:off x="9056254" y="1602987"/>
            <a:ext cx="1258837" cy="1177941"/>
          </a:xfrm>
          <a:prstGeom prst="rect">
            <a:avLst/>
          </a:prstGeom>
          <a:solidFill>
            <a:srgbClr val="FFC000"/>
          </a:solidFill>
          <a:ln w="12700">
            <a:noFill/>
          </a:ln>
        </p:spPr>
        <p:txBody>
          <a:bodyPr vert="horz" wrap="square" lIns="0" tIns="628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5"/>
              </a:spcBef>
            </a:pP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5261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4989C-89CA-48FB-98B2-43E7D8CA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51AD2-91FE-4C54-8ABA-BD8E0A15A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OpenMP is an implementation of multithreading,  where a master thread forks a specified number of slave threads and a task is divided among them.</a:t>
            </a:r>
          </a:p>
          <a:p>
            <a:r>
              <a:rPr lang="en-GB" dirty="0"/>
              <a:t>The main approach is based in identifying the parallelism in the program, and not in reprogramming the code to implement the parallelism.</a:t>
            </a:r>
          </a:p>
          <a:p>
            <a:r>
              <a:rPr lang="en-GB" dirty="0"/>
              <a:t>The section of code that is meant to run in parallel is marked with a </a:t>
            </a:r>
            <a:r>
              <a:rPr lang="en-GB" dirty="0" err="1"/>
              <a:t>preprocessor</a:t>
            </a:r>
            <a:r>
              <a:rPr lang="en-GB" dirty="0"/>
              <a:t> directive.</a:t>
            </a:r>
          </a:p>
          <a:p>
            <a:r>
              <a:rPr lang="en-GB" dirty="0"/>
              <a:t>Each thread has a unique identifier called a thread id, where the master thread has an id of 0.</a:t>
            </a:r>
          </a:p>
          <a:p>
            <a:r>
              <a:rPr lang="en-GB" dirty="0"/>
              <a:t>Both task and data parallelism can be achieved using OpenMP by using work-sharing constructs to divide a task.</a:t>
            </a:r>
          </a:p>
        </p:txBody>
      </p:sp>
    </p:spTree>
    <p:extLst>
      <p:ext uri="{BB962C8B-B14F-4D97-AF65-F5344CB8AC3E}">
        <p14:creationId xmlns:p14="http://schemas.microsoft.com/office/powerpoint/2010/main" val="827600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7F834-1B58-4169-9873-4EED7F776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OpenMP Fork/Join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C413001-4DBC-486E-B8BD-5BD572DEF5BD}"/>
              </a:ext>
            </a:extLst>
          </p:cNvPr>
          <p:cNvGrpSpPr/>
          <p:nvPr/>
        </p:nvGrpSpPr>
        <p:grpSpPr>
          <a:xfrm>
            <a:off x="119336" y="1201288"/>
            <a:ext cx="11953328" cy="5508161"/>
            <a:chOff x="57597" y="651138"/>
            <a:chExt cx="12934503" cy="8603727"/>
          </a:xfrm>
        </p:grpSpPr>
        <p:sp>
          <p:nvSpPr>
            <p:cNvPr id="5" name="Shape 131">
              <a:extLst>
                <a:ext uri="{FF2B5EF4-FFF2-40B4-BE49-F238E27FC236}">
                  <a16:creationId xmlns:a16="http://schemas.microsoft.com/office/drawing/2014/main" id="{C2D7255F-4538-4E87-B4B1-7A5A75FF1344}"/>
                </a:ext>
              </a:extLst>
            </p:cNvPr>
            <p:cNvSpPr/>
            <p:nvPr/>
          </p:nvSpPr>
          <p:spPr>
            <a:xfrm>
              <a:off x="832947" y="3228554"/>
              <a:ext cx="3340101" cy="769194"/>
            </a:xfrm>
            <a:prstGeom prst="rect">
              <a:avLst/>
            </a:prstGeom>
            <a:ln w="25400">
              <a:solidFill/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lvl="0">
                <a:defRPr sz="1800"/>
              </a:pPr>
              <a:r>
                <a:rPr sz="3200" dirty="0"/>
                <a:t>Fork</a:t>
              </a:r>
            </a:p>
          </p:txBody>
        </p:sp>
        <p:sp>
          <p:nvSpPr>
            <p:cNvPr id="6" name="Shape 132">
              <a:extLst>
                <a:ext uri="{FF2B5EF4-FFF2-40B4-BE49-F238E27FC236}">
                  <a16:creationId xmlns:a16="http://schemas.microsoft.com/office/drawing/2014/main" id="{6C87DE47-5061-452A-95FC-CB884F035837}"/>
                </a:ext>
              </a:extLst>
            </p:cNvPr>
            <p:cNvSpPr/>
            <p:nvPr/>
          </p:nvSpPr>
          <p:spPr>
            <a:xfrm flipV="1">
              <a:off x="1346199" y="4000357"/>
              <a:ext cx="1" cy="2531792"/>
            </a:xfrm>
            <a:prstGeom prst="line">
              <a:avLst/>
            </a:prstGeom>
            <a:ln w="88900">
              <a:solidFill/>
              <a:miter lim="400000"/>
              <a:headEnd type="stealth"/>
            </a:ln>
          </p:spPr>
          <p:txBody>
            <a:bodyPr lIns="0" tIns="0" rIns="0" bIns="0" anchor="ctr"/>
            <a:lstStyle/>
            <a:p>
              <a:pPr lvl="0"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000"/>
            </a:p>
          </p:txBody>
        </p:sp>
        <p:sp>
          <p:nvSpPr>
            <p:cNvPr id="7" name="Shape 133">
              <a:extLst>
                <a:ext uri="{FF2B5EF4-FFF2-40B4-BE49-F238E27FC236}">
                  <a16:creationId xmlns:a16="http://schemas.microsoft.com/office/drawing/2014/main" id="{862DFF79-9CC5-4E7B-AF75-79EFA22BA76A}"/>
                </a:ext>
              </a:extLst>
            </p:cNvPr>
            <p:cNvSpPr/>
            <p:nvPr/>
          </p:nvSpPr>
          <p:spPr>
            <a:xfrm>
              <a:off x="825499" y="6517854"/>
              <a:ext cx="3340100" cy="769194"/>
            </a:xfrm>
            <a:prstGeom prst="rect">
              <a:avLst/>
            </a:prstGeom>
            <a:ln w="25400">
              <a:solidFill/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lvl="0">
                <a:defRPr sz="1800"/>
              </a:pPr>
              <a:r>
                <a:rPr sz="3200"/>
                <a:t>Join</a:t>
              </a:r>
            </a:p>
          </p:txBody>
        </p:sp>
        <p:sp>
          <p:nvSpPr>
            <p:cNvPr id="8" name="Shape 134">
              <a:extLst>
                <a:ext uri="{FF2B5EF4-FFF2-40B4-BE49-F238E27FC236}">
                  <a16:creationId xmlns:a16="http://schemas.microsoft.com/office/drawing/2014/main" id="{23F59569-7B11-467F-87C4-F31DBC1475BB}"/>
                </a:ext>
              </a:extLst>
            </p:cNvPr>
            <p:cNvSpPr/>
            <p:nvPr/>
          </p:nvSpPr>
          <p:spPr>
            <a:xfrm>
              <a:off x="4750922" y="1499283"/>
              <a:ext cx="8140701" cy="189093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50800" tIns="50800" rIns="50800" bIns="50800" anchor="ctr">
              <a:spAutoFit/>
            </a:bodyPr>
            <a:lstStyle/>
            <a:p>
              <a:pPr lvl="0">
                <a:defRPr sz="1800"/>
              </a:pPr>
              <a:r>
                <a:rPr sz="2400" dirty="0"/>
                <a:t>The program starts as a single thread just like a sequential program. The thread that executes this code is referred to as the </a:t>
              </a:r>
              <a:r>
                <a:rPr lang="en-GB" sz="2400" i="1" dirty="0"/>
                <a:t>initial</a:t>
              </a:r>
              <a:r>
                <a:rPr sz="2400" i="1" dirty="0"/>
                <a:t> thread</a:t>
              </a:r>
              <a:r>
                <a:rPr sz="2400" dirty="0"/>
                <a:t>.</a:t>
              </a:r>
            </a:p>
          </p:txBody>
        </p:sp>
        <p:sp>
          <p:nvSpPr>
            <p:cNvPr id="9" name="Shape 135">
              <a:extLst>
                <a:ext uri="{FF2B5EF4-FFF2-40B4-BE49-F238E27FC236}">
                  <a16:creationId xmlns:a16="http://schemas.microsoft.com/office/drawing/2014/main" id="{DF7AA7CC-5DAD-4539-ABE5-F4C47C0F2F43}"/>
                </a:ext>
              </a:extLst>
            </p:cNvPr>
            <p:cNvSpPr/>
            <p:nvPr/>
          </p:nvSpPr>
          <p:spPr>
            <a:xfrm>
              <a:off x="4851400" y="4042935"/>
              <a:ext cx="8140700" cy="246782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50800" tIns="50800" rIns="50800" bIns="50800" anchor="ctr">
              <a:spAutoFit/>
            </a:bodyPr>
            <a:lstStyle/>
            <a:p>
              <a:pPr lvl="0">
                <a:defRPr sz="1800"/>
              </a:pPr>
              <a:r>
                <a:rPr sz="2400"/>
                <a:t>Whenever an OpenMP </a:t>
              </a:r>
              <a:r>
                <a:rPr sz="2400" i="1"/>
                <a:t>parallel</a:t>
              </a:r>
              <a:r>
                <a:rPr sz="2400"/>
                <a:t> construct is encountered, a team of threads is created (fork). The initial thread becomes the master of the team. They all execute the code enclosed in the construct.</a:t>
              </a:r>
            </a:p>
          </p:txBody>
        </p:sp>
        <p:sp>
          <p:nvSpPr>
            <p:cNvPr id="10" name="Shape 136">
              <a:extLst>
                <a:ext uri="{FF2B5EF4-FFF2-40B4-BE49-F238E27FC236}">
                  <a16:creationId xmlns:a16="http://schemas.microsoft.com/office/drawing/2014/main" id="{33765675-43B7-44DD-A024-493986F5CB7D}"/>
                </a:ext>
              </a:extLst>
            </p:cNvPr>
            <p:cNvSpPr/>
            <p:nvPr/>
          </p:nvSpPr>
          <p:spPr>
            <a:xfrm>
              <a:off x="4787900" y="7470981"/>
              <a:ext cx="8140700" cy="131403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50800" tIns="50800" rIns="50800" bIns="50800" anchor="ctr">
              <a:spAutoFit/>
            </a:bodyPr>
            <a:lstStyle>
              <a:lvl1pPr>
                <a:defRPr sz="3600"/>
              </a:lvl1pPr>
            </a:lstStyle>
            <a:p>
              <a:pPr lvl="0">
                <a:defRPr sz="1800"/>
              </a:pPr>
              <a:r>
                <a:rPr sz="2400" dirty="0"/>
                <a:t>At the end of the construct, only the original thread continues and all other terminate (join).</a:t>
              </a:r>
            </a:p>
          </p:txBody>
        </p:sp>
        <p:sp>
          <p:nvSpPr>
            <p:cNvPr id="11" name="Shape 137">
              <a:extLst>
                <a:ext uri="{FF2B5EF4-FFF2-40B4-BE49-F238E27FC236}">
                  <a16:creationId xmlns:a16="http://schemas.microsoft.com/office/drawing/2014/main" id="{912D9ADB-C717-4D52-8AFB-433B055CE6CA}"/>
                </a:ext>
              </a:extLst>
            </p:cNvPr>
            <p:cNvSpPr/>
            <p:nvPr/>
          </p:nvSpPr>
          <p:spPr>
            <a:xfrm flipV="1">
              <a:off x="2501900" y="1383620"/>
              <a:ext cx="0" cy="1859371"/>
            </a:xfrm>
            <a:prstGeom prst="line">
              <a:avLst/>
            </a:prstGeom>
            <a:ln w="88900">
              <a:solidFill/>
              <a:miter lim="400000"/>
              <a:headEnd type="stealth"/>
            </a:ln>
          </p:spPr>
          <p:txBody>
            <a:bodyPr lIns="0" tIns="0" rIns="0" bIns="0" anchor="ctr"/>
            <a:lstStyle/>
            <a:p>
              <a:pPr lvl="0"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000"/>
            </a:p>
          </p:txBody>
        </p:sp>
        <p:sp>
          <p:nvSpPr>
            <p:cNvPr id="12" name="Shape 138">
              <a:extLst>
                <a:ext uri="{FF2B5EF4-FFF2-40B4-BE49-F238E27FC236}">
                  <a16:creationId xmlns:a16="http://schemas.microsoft.com/office/drawing/2014/main" id="{9C8EF4CA-1587-4A5D-82C0-31B46E6467E9}"/>
                </a:ext>
              </a:extLst>
            </p:cNvPr>
            <p:cNvSpPr/>
            <p:nvPr/>
          </p:nvSpPr>
          <p:spPr>
            <a:xfrm flipV="1">
              <a:off x="2438400" y="7298737"/>
              <a:ext cx="0" cy="1837055"/>
            </a:xfrm>
            <a:prstGeom prst="line">
              <a:avLst/>
            </a:prstGeom>
            <a:ln w="88900">
              <a:solidFill/>
              <a:miter lim="400000"/>
              <a:headEnd type="stealth"/>
            </a:ln>
          </p:spPr>
          <p:txBody>
            <a:bodyPr lIns="0" tIns="0" rIns="0" bIns="0" anchor="ctr"/>
            <a:lstStyle/>
            <a:p>
              <a:pPr lvl="0"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000"/>
            </a:p>
          </p:txBody>
        </p:sp>
        <p:sp>
          <p:nvSpPr>
            <p:cNvPr id="13" name="Shape 139">
              <a:extLst>
                <a:ext uri="{FF2B5EF4-FFF2-40B4-BE49-F238E27FC236}">
                  <a16:creationId xmlns:a16="http://schemas.microsoft.com/office/drawing/2014/main" id="{7F4A652B-28AD-44D9-B232-D6DD59E082EF}"/>
                </a:ext>
              </a:extLst>
            </p:cNvPr>
            <p:cNvSpPr/>
            <p:nvPr/>
          </p:nvSpPr>
          <p:spPr>
            <a:xfrm flipV="1">
              <a:off x="2032000" y="4000500"/>
              <a:ext cx="0" cy="2531792"/>
            </a:xfrm>
            <a:prstGeom prst="line">
              <a:avLst/>
            </a:prstGeom>
            <a:ln w="88900">
              <a:solidFill>
                <a:srgbClr val="797979"/>
              </a:solidFill>
              <a:miter lim="400000"/>
              <a:headEnd type="stealth"/>
            </a:ln>
          </p:spPr>
          <p:txBody>
            <a:bodyPr lIns="0" tIns="0" rIns="0" bIns="0" anchor="ctr"/>
            <a:lstStyle/>
            <a:p>
              <a:pPr lvl="0"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000"/>
            </a:p>
          </p:txBody>
        </p:sp>
        <p:sp>
          <p:nvSpPr>
            <p:cNvPr id="14" name="Shape 140">
              <a:extLst>
                <a:ext uri="{FF2B5EF4-FFF2-40B4-BE49-F238E27FC236}">
                  <a16:creationId xmlns:a16="http://schemas.microsoft.com/office/drawing/2014/main" id="{F912BD7E-2CF7-4A75-B230-ED77B2502344}"/>
                </a:ext>
              </a:extLst>
            </p:cNvPr>
            <p:cNvSpPr/>
            <p:nvPr/>
          </p:nvSpPr>
          <p:spPr>
            <a:xfrm flipV="1">
              <a:off x="2794000" y="4000500"/>
              <a:ext cx="0" cy="2531792"/>
            </a:xfrm>
            <a:prstGeom prst="line">
              <a:avLst/>
            </a:prstGeom>
            <a:ln w="88900">
              <a:solidFill>
                <a:srgbClr val="797979"/>
              </a:solidFill>
              <a:miter lim="400000"/>
              <a:headEnd type="stealth"/>
            </a:ln>
          </p:spPr>
          <p:txBody>
            <a:bodyPr lIns="0" tIns="0" rIns="0" bIns="0" anchor="ctr"/>
            <a:lstStyle/>
            <a:p>
              <a:pPr lvl="0"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000"/>
            </a:p>
          </p:txBody>
        </p:sp>
        <p:sp>
          <p:nvSpPr>
            <p:cNvPr id="15" name="Shape 141">
              <a:extLst>
                <a:ext uri="{FF2B5EF4-FFF2-40B4-BE49-F238E27FC236}">
                  <a16:creationId xmlns:a16="http://schemas.microsoft.com/office/drawing/2014/main" id="{1AA0142D-4C36-4EF4-920E-CCDF80C74D29}"/>
                </a:ext>
              </a:extLst>
            </p:cNvPr>
            <p:cNvSpPr/>
            <p:nvPr/>
          </p:nvSpPr>
          <p:spPr>
            <a:xfrm flipV="1">
              <a:off x="3683000" y="4000500"/>
              <a:ext cx="0" cy="2531792"/>
            </a:xfrm>
            <a:prstGeom prst="line">
              <a:avLst/>
            </a:prstGeom>
            <a:ln w="88900">
              <a:solidFill>
                <a:srgbClr val="797979"/>
              </a:solidFill>
              <a:miter lim="400000"/>
              <a:headEnd type="stealth"/>
            </a:ln>
          </p:spPr>
          <p:txBody>
            <a:bodyPr lIns="0" tIns="0" rIns="0" bIns="0" anchor="ctr"/>
            <a:lstStyle/>
            <a:p>
              <a:pPr lvl="0"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000"/>
            </a:p>
          </p:txBody>
        </p:sp>
        <p:sp>
          <p:nvSpPr>
            <p:cNvPr id="16" name="Shape 142">
              <a:extLst>
                <a:ext uri="{FF2B5EF4-FFF2-40B4-BE49-F238E27FC236}">
                  <a16:creationId xmlns:a16="http://schemas.microsoft.com/office/drawing/2014/main" id="{8BA2837B-1352-4C11-A949-6D3591970DE1}"/>
                </a:ext>
              </a:extLst>
            </p:cNvPr>
            <p:cNvSpPr/>
            <p:nvPr/>
          </p:nvSpPr>
          <p:spPr>
            <a:xfrm rot="16200000">
              <a:off x="-633137" y="5225374"/>
              <a:ext cx="1687618" cy="3061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1800"/>
              </a:lvl1pPr>
            </a:lstStyle>
            <a:p>
              <a:pPr lvl="0"/>
              <a:r>
                <a:rPr sz="1200"/>
                <a:t>Parallel region</a:t>
              </a:r>
            </a:p>
          </p:txBody>
        </p:sp>
        <p:sp>
          <p:nvSpPr>
            <p:cNvPr id="17" name="Shape 143">
              <a:extLst>
                <a:ext uri="{FF2B5EF4-FFF2-40B4-BE49-F238E27FC236}">
                  <a16:creationId xmlns:a16="http://schemas.microsoft.com/office/drawing/2014/main" id="{7269CC59-7383-439C-99D5-1FBC4D4D9E69}"/>
                </a:ext>
              </a:extLst>
            </p:cNvPr>
            <p:cNvSpPr/>
            <p:nvPr/>
          </p:nvSpPr>
          <p:spPr>
            <a:xfrm>
              <a:off x="90394" y="3603887"/>
              <a:ext cx="582576" cy="266012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18000">
                  <a:solidFill>
                    <a:srgbClr val="96D35F"/>
                  </a:solidFill>
                  <a:latin typeface="Palatino"/>
                  <a:ea typeface="Palatino"/>
                  <a:cs typeface="Palatino"/>
                  <a:sym typeface="Palatino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0400" dirty="0">
                  <a:solidFill>
                    <a:srgbClr val="96D35F"/>
                  </a:solidFill>
                </a:rPr>
                <a:t>{</a:t>
              </a:r>
            </a:p>
          </p:txBody>
        </p:sp>
        <p:sp>
          <p:nvSpPr>
            <p:cNvPr id="18" name="Shape 144">
              <a:extLst>
                <a:ext uri="{FF2B5EF4-FFF2-40B4-BE49-F238E27FC236}">
                  <a16:creationId xmlns:a16="http://schemas.microsoft.com/office/drawing/2014/main" id="{99AC467A-9A64-4932-B0FC-A5EA242744C1}"/>
                </a:ext>
              </a:extLst>
            </p:cNvPr>
            <p:cNvSpPr/>
            <p:nvPr/>
          </p:nvSpPr>
          <p:spPr>
            <a:xfrm flipH="1">
              <a:off x="4267200" y="6594738"/>
              <a:ext cx="582576" cy="266012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18000">
                  <a:solidFill>
                    <a:srgbClr val="96D35F"/>
                  </a:solidFill>
                  <a:latin typeface="Palatino"/>
                  <a:ea typeface="Palatino"/>
                  <a:cs typeface="Palatino"/>
                  <a:sym typeface="Palatino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0400">
                  <a:solidFill>
                    <a:srgbClr val="96D35F"/>
                  </a:solidFill>
                </a:rPr>
                <a:t>{</a:t>
              </a:r>
            </a:p>
          </p:txBody>
        </p:sp>
        <p:sp>
          <p:nvSpPr>
            <p:cNvPr id="19" name="Shape 145">
              <a:extLst>
                <a:ext uri="{FF2B5EF4-FFF2-40B4-BE49-F238E27FC236}">
                  <a16:creationId xmlns:a16="http://schemas.microsoft.com/office/drawing/2014/main" id="{C0F7FC96-197F-4825-ABF3-D678C60EE379}"/>
                </a:ext>
              </a:extLst>
            </p:cNvPr>
            <p:cNvSpPr/>
            <p:nvPr/>
          </p:nvSpPr>
          <p:spPr>
            <a:xfrm flipH="1">
              <a:off x="4267200" y="3610238"/>
              <a:ext cx="582576" cy="266012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18000">
                  <a:solidFill>
                    <a:srgbClr val="96D35F"/>
                  </a:solidFill>
                  <a:latin typeface="Palatino"/>
                  <a:ea typeface="Palatino"/>
                  <a:cs typeface="Palatino"/>
                  <a:sym typeface="Palatino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0400">
                  <a:solidFill>
                    <a:srgbClr val="96D35F"/>
                  </a:solidFill>
                </a:rPr>
                <a:t>{</a:t>
              </a:r>
            </a:p>
          </p:txBody>
        </p:sp>
        <p:sp>
          <p:nvSpPr>
            <p:cNvPr id="20" name="Shape 146">
              <a:extLst>
                <a:ext uri="{FF2B5EF4-FFF2-40B4-BE49-F238E27FC236}">
                  <a16:creationId xmlns:a16="http://schemas.microsoft.com/office/drawing/2014/main" id="{59BC8FE2-05E9-4D63-8D4A-96C7C74C2D32}"/>
                </a:ext>
              </a:extLst>
            </p:cNvPr>
            <p:cNvSpPr/>
            <p:nvPr/>
          </p:nvSpPr>
          <p:spPr>
            <a:xfrm flipH="1">
              <a:off x="4267200" y="651138"/>
              <a:ext cx="582576" cy="266012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18000">
                  <a:solidFill>
                    <a:srgbClr val="96D35F"/>
                  </a:solidFill>
                  <a:latin typeface="Palatino"/>
                  <a:ea typeface="Palatino"/>
                  <a:cs typeface="Palatino"/>
                  <a:sym typeface="Palatino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0400">
                  <a:solidFill>
                    <a:srgbClr val="96D35F"/>
                  </a:solidFill>
                </a:rPr>
                <a:t>{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7638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D8BFBE66-BDD0-4056-A961-69035D66A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OpenMP Programming Model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CE4400DE-B353-465A-BF3E-165D3E76E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1" y="3069843"/>
            <a:ext cx="9145016" cy="35995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DF277886-324A-4BC1-B8CE-64FE9C68BE96}"/>
              </a:ext>
            </a:extLst>
          </p:cNvPr>
          <p:cNvSpPr txBox="1"/>
          <p:nvPr/>
        </p:nvSpPr>
        <p:spPr>
          <a:xfrm>
            <a:off x="1772792" y="1056482"/>
            <a:ext cx="8277859" cy="1724446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2800" spc="-5" dirty="0">
                <a:latin typeface="Arial"/>
                <a:cs typeface="Arial"/>
              </a:rPr>
              <a:t>Fork-Join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Parallelism:</a:t>
            </a:r>
            <a:endParaRPr sz="2800" dirty="0">
              <a:latin typeface="Arial"/>
              <a:cs typeface="Arial"/>
            </a:endParaRPr>
          </a:p>
          <a:p>
            <a:pPr marL="698500" indent="-228600">
              <a:lnSpc>
                <a:spcPct val="100000"/>
              </a:lnSpc>
              <a:spcBef>
                <a:spcPts val="655"/>
              </a:spcBef>
              <a:buClr>
                <a:srgbClr val="F5C300"/>
              </a:buClr>
              <a:buSzPct val="70833"/>
              <a:buFont typeface="Wingdings"/>
              <a:buChar char=""/>
              <a:tabLst>
                <a:tab pos="698500" algn="l"/>
              </a:tabLst>
            </a:pPr>
            <a:r>
              <a:rPr sz="2000" spc="-5" dirty="0">
                <a:latin typeface="Arial"/>
                <a:cs typeface="Arial"/>
              </a:rPr>
              <a:t>Master thread </a:t>
            </a:r>
            <a:r>
              <a:rPr sz="2000" dirty="0">
                <a:latin typeface="Arial"/>
                <a:cs typeface="Arial"/>
              </a:rPr>
              <a:t>spawns a </a:t>
            </a:r>
            <a:r>
              <a:rPr sz="2000" spc="-5" dirty="0">
                <a:latin typeface="Arial"/>
                <a:cs typeface="Arial"/>
              </a:rPr>
              <a:t>team </a:t>
            </a:r>
            <a:r>
              <a:rPr sz="2000" dirty="0">
                <a:latin typeface="Arial"/>
                <a:cs typeface="Arial"/>
              </a:rPr>
              <a:t>of </a:t>
            </a:r>
            <a:r>
              <a:rPr sz="2000" spc="-5" dirty="0">
                <a:latin typeface="Arial"/>
                <a:cs typeface="Arial"/>
              </a:rPr>
              <a:t>threads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needed.</a:t>
            </a:r>
          </a:p>
          <a:p>
            <a:pPr marL="698500" marR="5080" indent="-228600">
              <a:lnSpc>
                <a:spcPct val="93700"/>
              </a:lnSpc>
              <a:spcBef>
                <a:spcPts val="1500"/>
              </a:spcBef>
              <a:buClr>
                <a:srgbClr val="F5C300"/>
              </a:buClr>
              <a:buSzPct val="70833"/>
              <a:buFont typeface="Wingdings"/>
              <a:buChar char=""/>
              <a:tabLst>
                <a:tab pos="698500" algn="l"/>
              </a:tabLst>
            </a:pPr>
            <a:r>
              <a:rPr sz="2000" spc="-5" dirty="0">
                <a:latin typeface="Arial"/>
                <a:cs typeface="Arial"/>
              </a:rPr>
              <a:t>Parallelism </a:t>
            </a:r>
            <a:r>
              <a:rPr sz="2000" dirty="0">
                <a:latin typeface="Arial"/>
                <a:cs typeface="Arial"/>
              </a:rPr>
              <a:t>added </a:t>
            </a:r>
            <a:r>
              <a:rPr sz="2000" spc="-5" dirty="0">
                <a:latin typeface="Arial"/>
                <a:cs typeface="Arial"/>
              </a:rPr>
              <a:t>incrementally until performance </a:t>
            </a:r>
            <a:r>
              <a:rPr sz="2000" dirty="0">
                <a:latin typeface="Arial"/>
                <a:cs typeface="Arial"/>
              </a:rPr>
              <a:t>goals  are </a:t>
            </a:r>
            <a:r>
              <a:rPr sz="2000" spc="-5" dirty="0">
                <a:latin typeface="Arial"/>
                <a:cs typeface="Arial"/>
              </a:rPr>
              <a:t>met: i.e. the sequential </a:t>
            </a:r>
            <a:r>
              <a:rPr sz="2000" dirty="0">
                <a:latin typeface="Arial"/>
                <a:cs typeface="Arial"/>
              </a:rPr>
              <a:t>program evolves </a:t>
            </a:r>
            <a:r>
              <a:rPr sz="2000" spc="-5" dirty="0">
                <a:latin typeface="Arial"/>
                <a:cs typeface="Arial"/>
              </a:rPr>
              <a:t>into </a:t>
            </a:r>
            <a:r>
              <a:rPr sz="2000" dirty="0">
                <a:latin typeface="Arial"/>
                <a:cs typeface="Arial"/>
              </a:rPr>
              <a:t>a  parallel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program.</a:t>
            </a:r>
          </a:p>
        </p:txBody>
      </p:sp>
      <p:grpSp>
        <p:nvGrpSpPr>
          <p:cNvPr id="11" name="object 4">
            <a:extLst>
              <a:ext uri="{FF2B5EF4-FFF2-40B4-BE49-F238E27FC236}">
                <a16:creationId xmlns:a16="http://schemas.microsoft.com/office/drawing/2014/main" id="{B1EFE07F-36FA-40BF-B66A-54C890646A26}"/>
              </a:ext>
            </a:extLst>
          </p:cNvPr>
          <p:cNvGrpSpPr/>
          <p:nvPr/>
        </p:nvGrpSpPr>
        <p:grpSpPr>
          <a:xfrm>
            <a:off x="2147777" y="3200400"/>
            <a:ext cx="8080375" cy="3199130"/>
            <a:chOff x="911560" y="3200400"/>
            <a:chExt cx="8080375" cy="3199130"/>
          </a:xfrm>
        </p:grpSpPr>
        <p:sp>
          <p:nvSpPr>
            <p:cNvPr id="21" name="object 5">
              <a:extLst>
                <a:ext uri="{FF2B5EF4-FFF2-40B4-BE49-F238E27FC236}">
                  <a16:creationId xmlns:a16="http://schemas.microsoft.com/office/drawing/2014/main" id="{1F113DA3-03A5-4DE2-810F-DEE2643D6DBE}"/>
                </a:ext>
              </a:extLst>
            </p:cNvPr>
            <p:cNvSpPr/>
            <p:nvPr/>
          </p:nvSpPr>
          <p:spPr>
            <a:xfrm>
              <a:off x="1701800" y="3809999"/>
              <a:ext cx="6172200" cy="1981200"/>
            </a:xfrm>
            <a:custGeom>
              <a:avLst/>
              <a:gdLst/>
              <a:ahLst/>
              <a:cxnLst/>
              <a:rect l="l" t="t" r="r" b="b"/>
              <a:pathLst>
                <a:path w="6172200" h="1981200">
                  <a:moveTo>
                    <a:pt x="1600200" y="0"/>
                  </a:moveTo>
                  <a:lnTo>
                    <a:pt x="0" y="0"/>
                  </a:lnTo>
                  <a:lnTo>
                    <a:pt x="0" y="1981200"/>
                  </a:lnTo>
                  <a:lnTo>
                    <a:pt x="1600200" y="1981200"/>
                  </a:lnTo>
                  <a:lnTo>
                    <a:pt x="1600200" y="0"/>
                  </a:lnTo>
                  <a:close/>
                </a:path>
                <a:path w="6172200" h="1981200">
                  <a:moveTo>
                    <a:pt x="3962400" y="0"/>
                  </a:moveTo>
                  <a:lnTo>
                    <a:pt x="2362200" y="0"/>
                  </a:lnTo>
                  <a:lnTo>
                    <a:pt x="2362200" y="1981200"/>
                  </a:lnTo>
                  <a:lnTo>
                    <a:pt x="3962400" y="1981200"/>
                  </a:lnTo>
                  <a:lnTo>
                    <a:pt x="3962400" y="0"/>
                  </a:lnTo>
                  <a:close/>
                </a:path>
                <a:path w="6172200" h="1981200">
                  <a:moveTo>
                    <a:pt x="6172200" y="0"/>
                  </a:moveTo>
                  <a:lnTo>
                    <a:pt x="4648200" y="0"/>
                  </a:lnTo>
                  <a:lnTo>
                    <a:pt x="4648200" y="382587"/>
                  </a:lnTo>
                  <a:lnTo>
                    <a:pt x="4648200" y="1981200"/>
                  </a:lnTo>
                  <a:lnTo>
                    <a:pt x="6172200" y="1981200"/>
                  </a:lnTo>
                  <a:lnTo>
                    <a:pt x="6172200" y="382587"/>
                  </a:lnTo>
                  <a:lnTo>
                    <a:pt x="6172200" y="0"/>
                  </a:lnTo>
                  <a:close/>
                </a:path>
              </a:pathLst>
            </a:custGeom>
            <a:solidFill>
              <a:srgbClr val="001B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6">
              <a:extLst>
                <a:ext uri="{FF2B5EF4-FFF2-40B4-BE49-F238E27FC236}">
                  <a16:creationId xmlns:a16="http://schemas.microsoft.com/office/drawing/2014/main" id="{BD5724A8-8DCB-42E1-8232-DA07F2555BCD}"/>
                </a:ext>
              </a:extLst>
            </p:cNvPr>
            <p:cNvSpPr/>
            <p:nvPr/>
          </p:nvSpPr>
          <p:spPr>
            <a:xfrm>
              <a:off x="911560" y="3200400"/>
              <a:ext cx="8080039" cy="319903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7">
            <a:extLst>
              <a:ext uri="{FF2B5EF4-FFF2-40B4-BE49-F238E27FC236}">
                <a16:creationId xmlns:a16="http://schemas.microsoft.com/office/drawing/2014/main" id="{1316FA0E-7F20-44B6-8976-E318C3191B95}"/>
              </a:ext>
            </a:extLst>
          </p:cNvPr>
          <p:cNvSpPr txBox="1"/>
          <p:nvPr/>
        </p:nvSpPr>
        <p:spPr>
          <a:xfrm>
            <a:off x="4830317" y="3069843"/>
            <a:ext cx="27940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Arial"/>
                <a:cs typeface="Arial"/>
              </a:rPr>
              <a:t>Parallel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Regions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8">
            <a:extLst>
              <a:ext uri="{FF2B5EF4-FFF2-40B4-BE49-F238E27FC236}">
                <a16:creationId xmlns:a16="http://schemas.microsoft.com/office/drawing/2014/main" id="{FBD858D5-14B4-4660-8B7A-6A77AC893F60}"/>
              </a:ext>
            </a:extLst>
          </p:cNvPr>
          <p:cNvGrpSpPr/>
          <p:nvPr/>
        </p:nvGrpSpPr>
        <p:grpSpPr>
          <a:xfrm>
            <a:off x="3827017" y="3341192"/>
            <a:ext cx="4572000" cy="469265"/>
            <a:chOff x="2590800" y="3341192"/>
            <a:chExt cx="4572000" cy="469265"/>
          </a:xfrm>
        </p:grpSpPr>
        <p:sp>
          <p:nvSpPr>
            <p:cNvPr id="19" name="object 9">
              <a:extLst>
                <a:ext uri="{FF2B5EF4-FFF2-40B4-BE49-F238E27FC236}">
                  <a16:creationId xmlns:a16="http://schemas.microsoft.com/office/drawing/2014/main" id="{83FA8259-01B8-4ACD-A0A9-E4B6383EBC7A}"/>
                </a:ext>
              </a:extLst>
            </p:cNvPr>
            <p:cNvSpPr/>
            <p:nvPr/>
          </p:nvSpPr>
          <p:spPr>
            <a:xfrm>
              <a:off x="2590800" y="3341192"/>
              <a:ext cx="4572000" cy="469265"/>
            </a:xfrm>
            <a:custGeom>
              <a:avLst/>
              <a:gdLst/>
              <a:ahLst/>
              <a:cxnLst/>
              <a:rect l="l" t="t" r="r" b="b"/>
              <a:pathLst>
                <a:path w="4572000" h="469264">
                  <a:moveTo>
                    <a:pt x="916838" y="17475"/>
                  </a:moveTo>
                  <a:lnTo>
                    <a:pt x="911961" y="5753"/>
                  </a:lnTo>
                  <a:lnTo>
                    <a:pt x="48348" y="365582"/>
                  </a:lnTo>
                  <a:lnTo>
                    <a:pt x="55689" y="328129"/>
                  </a:lnTo>
                  <a:lnTo>
                    <a:pt x="0" y="392607"/>
                  </a:lnTo>
                  <a:lnTo>
                    <a:pt x="84988" y="398475"/>
                  </a:lnTo>
                  <a:lnTo>
                    <a:pt x="55664" y="378929"/>
                  </a:lnTo>
                  <a:lnTo>
                    <a:pt x="53225" y="377317"/>
                  </a:lnTo>
                  <a:lnTo>
                    <a:pt x="916838" y="17475"/>
                  </a:lnTo>
                  <a:close/>
                </a:path>
                <a:path w="4572000" h="469264">
                  <a:moveTo>
                    <a:pt x="4572000" y="468807"/>
                  </a:moveTo>
                  <a:lnTo>
                    <a:pt x="4558931" y="445617"/>
                  </a:lnTo>
                  <a:lnTo>
                    <a:pt x="4530204" y="394576"/>
                  </a:lnTo>
                  <a:lnTo>
                    <a:pt x="4529950" y="432739"/>
                  </a:lnTo>
                  <a:lnTo>
                    <a:pt x="4529912" y="440359"/>
                  </a:lnTo>
                  <a:lnTo>
                    <a:pt x="4529950" y="432739"/>
                  </a:lnTo>
                  <a:lnTo>
                    <a:pt x="3889756" y="0"/>
                  </a:lnTo>
                  <a:lnTo>
                    <a:pt x="3882644" y="10515"/>
                  </a:lnTo>
                  <a:lnTo>
                    <a:pt x="4522851" y="443255"/>
                  </a:lnTo>
                  <a:lnTo>
                    <a:pt x="4487532" y="457708"/>
                  </a:lnTo>
                  <a:lnTo>
                    <a:pt x="4572000" y="4688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0">
              <a:extLst>
                <a:ext uri="{FF2B5EF4-FFF2-40B4-BE49-F238E27FC236}">
                  <a16:creationId xmlns:a16="http://schemas.microsoft.com/office/drawing/2014/main" id="{6FBB4EDD-E354-4063-8338-E696396AF870}"/>
                </a:ext>
              </a:extLst>
            </p:cNvPr>
            <p:cNvSpPr/>
            <p:nvPr/>
          </p:nvSpPr>
          <p:spPr>
            <a:xfrm>
              <a:off x="4914900" y="3505199"/>
              <a:ext cx="76200" cy="228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1">
            <a:extLst>
              <a:ext uri="{FF2B5EF4-FFF2-40B4-BE49-F238E27FC236}">
                <a16:creationId xmlns:a16="http://schemas.microsoft.com/office/drawing/2014/main" id="{E8C88B38-9A6C-4B3E-9907-5CFFB9CB335C}"/>
              </a:ext>
            </a:extLst>
          </p:cNvPr>
          <p:cNvSpPr txBox="1"/>
          <p:nvPr/>
        </p:nvSpPr>
        <p:spPr>
          <a:xfrm>
            <a:off x="1631504" y="3448811"/>
            <a:ext cx="8731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604" algn="just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Arial"/>
                <a:cs typeface="Arial"/>
              </a:rPr>
              <a:t>Master  </a:t>
            </a:r>
            <a:r>
              <a:rPr sz="2000" b="1" dirty="0">
                <a:latin typeface="Arial"/>
                <a:cs typeface="Arial"/>
              </a:rPr>
              <a:t>Th</a:t>
            </a:r>
            <a:r>
              <a:rPr sz="2000" b="1" spc="-5" dirty="0">
                <a:latin typeface="Arial"/>
                <a:cs typeface="Arial"/>
              </a:rPr>
              <a:t>r</a:t>
            </a:r>
            <a:r>
              <a:rPr sz="2000" b="1" dirty="0">
                <a:latin typeface="Arial"/>
                <a:cs typeface="Arial"/>
              </a:rPr>
              <a:t>ead  </a:t>
            </a:r>
            <a:r>
              <a:rPr sz="2000" b="1" spc="-5" dirty="0">
                <a:latin typeface="Arial"/>
                <a:cs typeface="Arial"/>
              </a:rPr>
              <a:t>in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red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8F5EF61F-0C45-4941-BE68-08DAB876C3D3}"/>
              </a:ext>
            </a:extLst>
          </p:cNvPr>
          <p:cNvSpPr txBox="1"/>
          <p:nvPr/>
        </p:nvSpPr>
        <p:spPr>
          <a:xfrm>
            <a:off x="9038271" y="3233420"/>
            <a:ext cx="1007744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97155" marR="5080" indent="-85090">
              <a:lnSpc>
                <a:spcPts val="2090"/>
              </a:lnSpc>
              <a:spcBef>
                <a:spcPts val="225"/>
              </a:spcBef>
            </a:pP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1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Nested  Parallel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A26DBD22-97FE-458B-AE98-5DD038FD340F}"/>
              </a:ext>
            </a:extLst>
          </p:cNvPr>
          <p:cNvSpPr txBox="1"/>
          <p:nvPr/>
        </p:nvSpPr>
        <p:spPr>
          <a:xfrm>
            <a:off x="9180067" y="3779011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region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D59A743D-C7B3-459E-B9A6-528A6E1FD21D}"/>
              </a:ext>
            </a:extLst>
          </p:cNvPr>
          <p:cNvSpPr txBox="1"/>
          <p:nvPr/>
        </p:nvSpPr>
        <p:spPr>
          <a:xfrm>
            <a:off x="5020817" y="6193732"/>
            <a:ext cx="2640965" cy="443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b="1" spc="-70" dirty="0">
                <a:latin typeface="Arial"/>
                <a:cs typeface="Arial"/>
              </a:rPr>
              <a:t>Sequential</a:t>
            </a:r>
            <a:r>
              <a:rPr sz="2750" b="1" spc="-50" dirty="0">
                <a:latin typeface="Arial"/>
                <a:cs typeface="Arial"/>
              </a:rPr>
              <a:t> </a:t>
            </a:r>
            <a:r>
              <a:rPr sz="2750" b="1" spc="-70" dirty="0">
                <a:latin typeface="Arial"/>
                <a:cs typeface="Arial"/>
              </a:rPr>
              <a:t>Parts</a:t>
            </a:r>
            <a:endParaRPr sz="2750" dirty="0">
              <a:latin typeface="Arial"/>
              <a:cs typeface="Arial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A8980C15-8D4C-4C18-B900-8F2A8AE86F43}"/>
              </a:ext>
            </a:extLst>
          </p:cNvPr>
          <p:cNvSpPr/>
          <p:nvPr/>
        </p:nvSpPr>
        <p:spPr>
          <a:xfrm>
            <a:off x="2684017" y="4876800"/>
            <a:ext cx="2673350" cy="1529715"/>
          </a:xfrm>
          <a:custGeom>
            <a:avLst/>
            <a:gdLst/>
            <a:ahLst/>
            <a:cxnLst/>
            <a:rect l="l" t="t" r="r" b="b"/>
            <a:pathLst>
              <a:path w="2673350" h="1529714">
                <a:moveTo>
                  <a:pt x="2213406" y="1518780"/>
                </a:moveTo>
                <a:lnTo>
                  <a:pt x="48895" y="26022"/>
                </a:lnTo>
                <a:lnTo>
                  <a:pt x="54927" y="23622"/>
                </a:lnTo>
                <a:lnTo>
                  <a:pt x="84366" y="11899"/>
                </a:lnTo>
                <a:lnTo>
                  <a:pt x="0" y="0"/>
                </a:lnTo>
                <a:lnTo>
                  <a:pt x="41097" y="74625"/>
                </a:lnTo>
                <a:lnTo>
                  <a:pt x="41694" y="36474"/>
                </a:lnTo>
                <a:lnTo>
                  <a:pt x="2206193" y="1529232"/>
                </a:lnTo>
                <a:lnTo>
                  <a:pt x="2213406" y="1518780"/>
                </a:lnTo>
                <a:close/>
              </a:path>
              <a:path w="2673350" h="1529714">
                <a:moveTo>
                  <a:pt x="2673083" y="1363459"/>
                </a:moveTo>
                <a:lnTo>
                  <a:pt x="2307679" y="127177"/>
                </a:lnTo>
                <a:lnTo>
                  <a:pt x="2344140" y="138480"/>
                </a:lnTo>
                <a:lnTo>
                  <a:pt x="2329789" y="123113"/>
                </a:lnTo>
                <a:lnTo>
                  <a:pt x="2286000" y="76200"/>
                </a:lnTo>
                <a:lnTo>
                  <a:pt x="2271064" y="160070"/>
                </a:lnTo>
                <a:lnTo>
                  <a:pt x="2295499" y="130784"/>
                </a:lnTo>
                <a:lnTo>
                  <a:pt x="2660904" y="1367053"/>
                </a:lnTo>
                <a:lnTo>
                  <a:pt x="2673083" y="13634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4652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r"/>
          </a:lstStyle>
          <a:p>
            <a:pPr lvl="0" algn="l">
              <a:defRPr sz="1800"/>
            </a:pPr>
            <a:r>
              <a:rPr sz="5906" dirty="0"/>
              <a:t>OpenMP</a:t>
            </a:r>
            <a:r>
              <a:rPr lang="en-GB" sz="5906" dirty="0"/>
              <a:t> API</a:t>
            </a:r>
            <a:endParaRPr sz="5906" dirty="0"/>
          </a:p>
        </p:txBody>
      </p:sp>
      <p:sp>
        <p:nvSpPr>
          <p:cNvPr id="153" name="Shape 153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52" name="Shape 152"/>
          <p:cNvSpPr/>
          <p:nvPr/>
        </p:nvSpPr>
        <p:spPr>
          <a:xfrm>
            <a:off x="6779228" y="1949218"/>
            <a:ext cx="5014853" cy="3950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2400"/>
            </a:lvl1pPr>
          </a:lstStyle>
          <a:p>
            <a:pPr lvl="0">
              <a:defRPr sz="1800"/>
            </a:pPr>
            <a:r>
              <a:rPr sz="3600" dirty="0"/>
              <a:t>The OpenMP API provides directives, library functions and environment variables to create and control the execution of parallel programs.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BBEBCE3-F2D0-48FB-873C-2A1E82044BF8}"/>
              </a:ext>
            </a:extLst>
          </p:cNvPr>
          <p:cNvGrpSpPr/>
          <p:nvPr/>
        </p:nvGrpSpPr>
        <p:grpSpPr>
          <a:xfrm>
            <a:off x="946353" y="1045309"/>
            <a:ext cx="5365671" cy="5375086"/>
            <a:chOff x="2110770" y="1045309"/>
            <a:chExt cx="5365671" cy="5375086"/>
          </a:xfrm>
        </p:grpSpPr>
        <p:pic>
          <p:nvPicPr>
            <p:cNvPr id="156" name="Picture 155"/>
            <p:cNvPicPr/>
            <p:nvPr/>
          </p:nvPicPr>
          <p:blipFill>
            <a:blip r:embed="rId3"/>
            <a:stretch>
              <a:fillRect/>
            </a:stretch>
          </p:blipFill>
          <p:spPr>
            <a:xfrm rot="19783248">
              <a:off x="4656689" y="3150840"/>
              <a:ext cx="2713428" cy="53579"/>
            </a:xfrm>
            <a:prstGeom prst="rect">
              <a:avLst/>
            </a:prstGeom>
          </p:spPr>
        </p:pic>
        <p:pic>
          <p:nvPicPr>
            <p:cNvPr id="158" name="Picture 157"/>
            <p:cNvPicPr/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3567882" y="5099807"/>
              <a:ext cx="2587597" cy="53579"/>
            </a:xfrm>
            <a:prstGeom prst="rect">
              <a:avLst/>
            </a:prstGeom>
          </p:spPr>
        </p:pic>
        <p:pic>
          <p:nvPicPr>
            <p:cNvPr id="160" name="Picture 159"/>
            <p:cNvPicPr/>
            <p:nvPr/>
          </p:nvPicPr>
          <p:blipFill>
            <a:blip r:embed="rId5"/>
            <a:stretch>
              <a:fillRect/>
            </a:stretch>
          </p:blipFill>
          <p:spPr>
            <a:xfrm rot="2167714">
              <a:off x="2320732" y="3020057"/>
              <a:ext cx="2839648" cy="53579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4BA30A3-8142-4DB1-8808-22B2FB37895B}"/>
                </a:ext>
              </a:extLst>
            </p:cNvPr>
            <p:cNvGrpSpPr/>
            <p:nvPr/>
          </p:nvGrpSpPr>
          <p:grpSpPr>
            <a:xfrm>
              <a:off x="2110770" y="1045309"/>
              <a:ext cx="5365671" cy="5365671"/>
              <a:chOff x="2110770" y="1045309"/>
              <a:chExt cx="5365671" cy="5365671"/>
            </a:xfrm>
          </p:grpSpPr>
          <p:sp>
            <p:nvSpPr>
              <p:cNvPr id="155" name="Shape 155"/>
              <p:cNvSpPr/>
              <p:nvPr/>
            </p:nvSpPr>
            <p:spPr>
              <a:xfrm>
                <a:off x="2110770" y="1045309"/>
                <a:ext cx="5365671" cy="53656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38100">
                <a:solidFill>
                  <a:srgbClr val="FF2600"/>
                </a:solidFill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lIns="0" tIns="0" rIns="0" bIns="0" anchor="ctr"/>
              <a:lstStyle/>
              <a:p>
                <a:pPr lvl="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812"/>
              </a:p>
            </p:txBody>
          </p:sp>
          <p:sp>
            <p:nvSpPr>
              <p:cNvPr id="162" name="Shape 162"/>
              <p:cNvSpPr/>
              <p:nvPr/>
            </p:nvSpPr>
            <p:spPr>
              <a:xfrm>
                <a:off x="3468557" y="1737065"/>
                <a:ext cx="3121047" cy="118013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 lvl="0">
                  <a:defRPr sz="1800"/>
                </a:pPr>
                <a:r>
                  <a:rPr sz="2400" dirty="0"/>
                  <a:t>Language Extensions/</a:t>
                </a:r>
              </a:p>
              <a:p>
                <a:pPr lvl="0">
                  <a:defRPr sz="1800"/>
                </a:pPr>
                <a:r>
                  <a:rPr sz="2400" dirty="0"/>
                  <a:t>Compiler directives/</a:t>
                </a:r>
              </a:p>
              <a:p>
                <a:pPr lvl="0">
                  <a:defRPr sz="1800"/>
                </a:pPr>
                <a:r>
                  <a:rPr sz="2400" dirty="0"/>
                  <a:t>Constructs</a:t>
                </a:r>
              </a:p>
            </p:txBody>
          </p:sp>
          <p:sp>
            <p:nvSpPr>
              <p:cNvPr id="163" name="Shape 163"/>
              <p:cNvSpPr/>
              <p:nvPr/>
            </p:nvSpPr>
            <p:spPr>
              <a:xfrm>
                <a:off x="2376226" y="3590332"/>
                <a:ext cx="2176735" cy="118013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3700"/>
                </a:lvl1pPr>
              </a:lstStyle>
              <a:p>
                <a:pPr lvl="0">
                  <a:defRPr sz="1800"/>
                </a:pPr>
                <a:r>
                  <a:rPr sz="2400" dirty="0"/>
                  <a:t>User-level runtime routines</a:t>
                </a:r>
              </a:p>
            </p:txBody>
          </p:sp>
          <p:sp>
            <p:nvSpPr>
              <p:cNvPr id="164" name="Shape 164"/>
              <p:cNvSpPr/>
              <p:nvPr/>
            </p:nvSpPr>
            <p:spPr>
              <a:xfrm>
                <a:off x="3181794" y="5208644"/>
                <a:ext cx="1584890" cy="59138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400"/>
                </a:lvl1pPr>
              </a:lstStyle>
              <a:p>
                <a:pPr lvl="0">
                  <a:defRPr sz="1800"/>
                </a:pPr>
                <a:r>
                  <a:rPr sz="1687"/>
                  <a:t> header file &lt;omp.h&gt;</a:t>
                </a:r>
              </a:p>
            </p:txBody>
          </p:sp>
          <p:sp>
            <p:nvSpPr>
              <p:cNvPr id="165" name="Shape 165"/>
              <p:cNvSpPr/>
              <p:nvPr/>
            </p:nvSpPr>
            <p:spPr>
              <a:xfrm>
                <a:off x="5007633" y="3967577"/>
                <a:ext cx="2176734" cy="8107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pPr lvl="0">
                  <a:defRPr sz="1800"/>
                </a:pPr>
                <a:r>
                  <a:rPr sz="2400"/>
                  <a:t>Environment</a:t>
                </a:r>
              </a:p>
              <a:p>
                <a:pPr lvl="0">
                  <a:defRPr sz="1800"/>
                </a:pPr>
                <a:r>
                  <a:rPr sz="2400"/>
                  <a:t>Variables</a:t>
                </a: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>
            <a:lvl1pPr algn="r"/>
          </a:lstStyle>
          <a:p>
            <a:pPr lvl="0" algn="l">
              <a:defRPr sz="1800"/>
            </a:pPr>
            <a:r>
              <a:rPr sz="4800" dirty="0"/>
              <a:t>OpenMP</a:t>
            </a:r>
            <a:r>
              <a:rPr lang="en-GB" sz="4800" dirty="0"/>
              <a:t> Core elements</a:t>
            </a:r>
            <a:endParaRPr sz="4800" dirty="0"/>
          </a:p>
        </p:txBody>
      </p:sp>
      <p:sp>
        <p:nvSpPr>
          <p:cNvPr id="169" name="Shape 169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68" name="Shape 168"/>
          <p:cNvSpPr/>
          <p:nvPr/>
        </p:nvSpPr>
        <p:spPr>
          <a:xfrm>
            <a:off x="1943695" y="945784"/>
            <a:ext cx="8643938" cy="91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/>
            </a:pPr>
            <a:r>
              <a:rPr sz="1828"/>
              <a:t>The core elements of OpenMP are the constructs for thread creation, workload distribution (work sharing), data environment variables, thread synchronization, user-level runtime routines and environment variables.</a:t>
            </a:r>
          </a:p>
        </p:txBody>
      </p:sp>
      <p:sp>
        <p:nvSpPr>
          <p:cNvPr id="171" name="Shape 171"/>
          <p:cNvSpPr/>
          <p:nvPr/>
        </p:nvSpPr>
        <p:spPr>
          <a:xfrm>
            <a:off x="4676365" y="2191122"/>
            <a:ext cx="2882457" cy="447303"/>
          </a:xfrm>
          <a:prstGeom prst="rect">
            <a:avLst/>
          </a:prstGeom>
          <a:ln w="25400">
            <a:solidFill>
              <a:srgbClr val="FF93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8" tIns="71438" rIns="71438" bIns="71438" anchor="ctr">
            <a:spAutoFit/>
          </a:bodyPr>
          <a:lstStyle>
            <a:lvl1pPr>
              <a:defRPr sz="2800"/>
            </a:lvl1pPr>
          </a:lstStyle>
          <a:p>
            <a:pPr lvl="0">
              <a:defRPr sz="1800"/>
            </a:pPr>
            <a:r>
              <a:rPr sz="1969"/>
              <a:t>OpenMP Core Elements</a:t>
            </a:r>
          </a:p>
        </p:txBody>
      </p:sp>
      <p:sp>
        <p:nvSpPr>
          <p:cNvPr id="172" name="Shape 172"/>
          <p:cNvSpPr/>
          <p:nvPr/>
        </p:nvSpPr>
        <p:spPr>
          <a:xfrm>
            <a:off x="1724642" y="3557072"/>
            <a:ext cx="1548502" cy="663516"/>
          </a:xfrm>
          <a:prstGeom prst="rect">
            <a:avLst/>
          </a:prstGeom>
          <a:ln w="25400">
            <a:solidFill>
              <a:srgbClr val="FF93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8" tIns="71438" rIns="71438" bIns="71438" anchor="ctr">
            <a:spAutoFit/>
          </a:bodyPr>
          <a:lstStyle/>
          <a:p>
            <a:pPr lvl="0">
              <a:defRPr sz="1800"/>
            </a:pPr>
            <a:r>
              <a:rPr sz="1687"/>
              <a:t>parallel control</a:t>
            </a:r>
          </a:p>
          <a:p>
            <a:pPr lvl="0">
              <a:defRPr sz="1800"/>
            </a:pPr>
            <a:r>
              <a:rPr sz="1687"/>
              <a:t>structures</a:t>
            </a:r>
          </a:p>
        </p:txBody>
      </p:sp>
      <p:sp>
        <p:nvSpPr>
          <p:cNvPr id="173" name="Shape 173"/>
          <p:cNvSpPr/>
          <p:nvPr/>
        </p:nvSpPr>
        <p:spPr>
          <a:xfrm>
            <a:off x="3666554" y="3544009"/>
            <a:ext cx="1367363" cy="403894"/>
          </a:xfrm>
          <a:prstGeom prst="rect">
            <a:avLst/>
          </a:prstGeom>
          <a:ln w="25400">
            <a:solidFill>
              <a:srgbClr val="FF93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8" tIns="71438" rIns="71438" bIns="71438" anchor="ctr">
            <a:spAutoFit/>
          </a:bodyPr>
          <a:lstStyle>
            <a:lvl1pPr>
              <a:defRPr sz="2400"/>
            </a:lvl1pPr>
          </a:lstStyle>
          <a:p>
            <a:pPr lvl="0">
              <a:defRPr sz="1800"/>
            </a:pPr>
            <a:r>
              <a:rPr sz="1687"/>
              <a:t>work sharing</a:t>
            </a:r>
          </a:p>
        </p:txBody>
      </p:sp>
      <p:sp>
        <p:nvSpPr>
          <p:cNvPr id="174" name="Shape 174"/>
          <p:cNvSpPr/>
          <p:nvPr/>
        </p:nvSpPr>
        <p:spPr>
          <a:xfrm>
            <a:off x="5368285" y="3557072"/>
            <a:ext cx="1332097" cy="663516"/>
          </a:xfrm>
          <a:prstGeom prst="rect">
            <a:avLst/>
          </a:prstGeom>
          <a:ln w="25400">
            <a:solidFill>
              <a:srgbClr val="FF93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8" tIns="71438" rIns="71438" bIns="71438" anchor="ctr">
            <a:spAutoFit/>
          </a:bodyPr>
          <a:lstStyle/>
          <a:p>
            <a:pPr lvl="0">
              <a:defRPr sz="1800"/>
            </a:pPr>
            <a:r>
              <a:rPr sz="1687"/>
              <a:t>data</a:t>
            </a:r>
          </a:p>
          <a:p>
            <a:pPr lvl="0">
              <a:defRPr sz="1800"/>
            </a:pPr>
            <a:r>
              <a:rPr sz="1687"/>
              <a:t>environment</a:t>
            </a:r>
          </a:p>
        </p:txBody>
      </p:sp>
      <p:sp>
        <p:nvSpPr>
          <p:cNvPr id="175" name="Shape 175"/>
          <p:cNvSpPr/>
          <p:nvPr/>
        </p:nvSpPr>
        <p:spPr>
          <a:xfrm>
            <a:off x="6981062" y="3544009"/>
            <a:ext cx="1643080" cy="403894"/>
          </a:xfrm>
          <a:prstGeom prst="rect">
            <a:avLst/>
          </a:prstGeom>
          <a:ln w="25400">
            <a:solidFill>
              <a:srgbClr val="FF93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8" tIns="71438" rIns="71438" bIns="71438" anchor="ctr">
            <a:spAutoFit/>
          </a:bodyPr>
          <a:lstStyle>
            <a:lvl1pPr>
              <a:defRPr sz="2400"/>
            </a:lvl1pPr>
          </a:lstStyle>
          <a:p>
            <a:pPr lvl="0">
              <a:defRPr sz="1800"/>
            </a:pPr>
            <a:r>
              <a:rPr sz="1687"/>
              <a:t>synchronization</a:t>
            </a:r>
          </a:p>
        </p:txBody>
      </p:sp>
      <p:sp>
        <p:nvSpPr>
          <p:cNvPr id="176" name="Shape 176"/>
          <p:cNvSpPr/>
          <p:nvPr/>
        </p:nvSpPr>
        <p:spPr>
          <a:xfrm>
            <a:off x="8707358" y="3557072"/>
            <a:ext cx="1845058" cy="663516"/>
          </a:xfrm>
          <a:prstGeom prst="rect">
            <a:avLst/>
          </a:prstGeom>
          <a:ln w="25400">
            <a:solidFill>
              <a:srgbClr val="FF93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8" tIns="71438" rIns="71438" bIns="71438" anchor="ctr">
            <a:spAutoFit/>
          </a:bodyPr>
          <a:lstStyle/>
          <a:p>
            <a:pPr lvl="0">
              <a:defRPr sz="1800"/>
            </a:pPr>
            <a:r>
              <a:rPr sz="1687"/>
              <a:t>runtime functions,</a:t>
            </a:r>
          </a:p>
          <a:p>
            <a:pPr lvl="0">
              <a:defRPr sz="1800"/>
            </a:pPr>
            <a:r>
              <a:rPr sz="1687"/>
              <a:t>env variables</a:t>
            </a:r>
          </a:p>
        </p:txBody>
      </p:sp>
      <p:sp>
        <p:nvSpPr>
          <p:cNvPr id="177" name="Shape 177"/>
          <p:cNvSpPr/>
          <p:nvPr/>
        </p:nvSpPr>
        <p:spPr>
          <a:xfrm>
            <a:off x="1684999" y="4880255"/>
            <a:ext cx="1621994" cy="1118256"/>
          </a:xfrm>
          <a:prstGeom prst="rect">
            <a:avLst/>
          </a:prstGeom>
          <a:ln w="25400">
            <a:solidFill>
              <a:srgbClr val="FF93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8" tIns="71438" rIns="71438" bIns="71438" anchor="ctr">
            <a:spAutoFit/>
          </a:bodyPr>
          <a:lstStyle/>
          <a:p>
            <a:pPr lvl="0">
              <a:defRPr sz="1800"/>
            </a:pPr>
            <a:r>
              <a:rPr sz="1266"/>
              <a:t>governs flow of control in the program</a:t>
            </a:r>
          </a:p>
          <a:p>
            <a:pPr lvl="0">
              <a:defRPr sz="1800"/>
            </a:pPr>
            <a:endParaRPr sz="1266"/>
          </a:p>
          <a:p>
            <a:pPr lvl="0">
              <a:defRPr sz="1800"/>
            </a:pPr>
            <a:r>
              <a:rPr sz="1266">
                <a:solidFill>
                  <a:srgbClr val="0433FF"/>
                </a:solidFill>
              </a:rPr>
              <a:t>parallel</a:t>
            </a:r>
            <a:r>
              <a:rPr sz="1266"/>
              <a:t> directive</a:t>
            </a:r>
          </a:p>
        </p:txBody>
      </p:sp>
      <p:sp>
        <p:nvSpPr>
          <p:cNvPr id="178" name="Shape 178"/>
          <p:cNvSpPr/>
          <p:nvPr/>
        </p:nvSpPr>
        <p:spPr>
          <a:xfrm>
            <a:off x="3506820" y="4970379"/>
            <a:ext cx="1621995" cy="1313053"/>
          </a:xfrm>
          <a:prstGeom prst="rect">
            <a:avLst/>
          </a:prstGeom>
          <a:ln w="25400">
            <a:solidFill>
              <a:srgbClr val="FF93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8" tIns="71438" rIns="71438" bIns="71438" anchor="ctr">
            <a:spAutoFit/>
          </a:bodyPr>
          <a:lstStyle/>
          <a:p>
            <a:pPr lvl="0">
              <a:defRPr sz="1800"/>
            </a:pPr>
            <a:r>
              <a:rPr sz="1266"/>
              <a:t>distributes work among threads</a:t>
            </a:r>
          </a:p>
          <a:p>
            <a:pPr lvl="0">
              <a:defRPr sz="1800"/>
            </a:pPr>
            <a:endParaRPr sz="1266"/>
          </a:p>
          <a:p>
            <a:pPr lvl="0">
              <a:defRPr sz="1800"/>
            </a:pPr>
            <a:r>
              <a:rPr sz="1266">
                <a:solidFill>
                  <a:srgbClr val="0433FF"/>
                </a:solidFill>
              </a:rPr>
              <a:t>do/parallel do</a:t>
            </a:r>
          </a:p>
          <a:p>
            <a:pPr lvl="0">
              <a:defRPr sz="1800"/>
            </a:pPr>
            <a:r>
              <a:rPr sz="1266"/>
              <a:t>and</a:t>
            </a:r>
          </a:p>
          <a:p>
            <a:pPr lvl="0">
              <a:defRPr sz="1800"/>
            </a:pPr>
            <a:r>
              <a:rPr sz="1266">
                <a:solidFill>
                  <a:srgbClr val="0433FF"/>
                </a:solidFill>
              </a:rPr>
              <a:t>section directives</a:t>
            </a:r>
          </a:p>
        </p:txBody>
      </p:sp>
      <p:sp>
        <p:nvSpPr>
          <p:cNvPr id="179" name="Shape 179"/>
          <p:cNvSpPr/>
          <p:nvPr/>
        </p:nvSpPr>
        <p:spPr>
          <a:xfrm>
            <a:off x="5352805" y="4974017"/>
            <a:ext cx="1368577" cy="1118256"/>
          </a:xfrm>
          <a:prstGeom prst="rect">
            <a:avLst/>
          </a:prstGeom>
          <a:ln w="25400">
            <a:solidFill>
              <a:srgbClr val="FF93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8" tIns="71438" rIns="71438" bIns="71438" anchor="ctr">
            <a:spAutoFit/>
          </a:bodyPr>
          <a:lstStyle/>
          <a:p>
            <a:pPr lvl="0">
              <a:defRPr sz="1800"/>
            </a:pPr>
            <a:r>
              <a:rPr sz="1266"/>
              <a:t>scopes</a:t>
            </a:r>
          </a:p>
          <a:p>
            <a:pPr lvl="0">
              <a:defRPr sz="1800"/>
            </a:pPr>
            <a:r>
              <a:rPr sz="1266"/>
              <a:t>variables</a:t>
            </a:r>
          </a:p>
          <a:p>
            <a:pPr lvl="0">
              <a:defRPr sz="1800"/>
            </a:pPr>
            <a:endParaRPr sz="1266"/>
          </a:p>
          <a:p>
            <a:pPr lvl="0">
              <a:defRPr sz="1800"/>
            </a:pPr>
            <a:r>
              <a:rPr sz="1266">
                <a:solidFill>
                  <a:srgbClr val="0433FF"/>
                </a:solidFill>
              </a:rPr>
              <a:t>shared</a:t>
            </a:r>
            <a:r>
              <a:rPr sz="1266"/>
              <a:t> and </a:t>
            </a:r>
            <a:r>
              <a:rPr sz="1266">
                <a:solidFill>
                  <a:srgbClr val="0433FF"/>
                </a:solidFill>
              </a:rPr>
              <a:t>private</a:t>
            </a:r>
            <a:r>
              <a:rPr sz="1266"/>
              <a:t> clauses</a:t>
            </a:r>
          </a:p>
        </p:txBody>
      </p:sp>
      <p:sp>
        <p:nvSpPr>
          <p:cNvPr id="180" name="Shape 180"/>
          <p:cNvSpPr/>
          <p:nvPr/>
        </p:nvSpPr>
        <p:spPr>
          <a:xfrm>
            <a:off x="7004188" y="4974017"/>
            <a:ext cx="1480201" cy="1118256"/>
          </a:xfrm>
          <a:prstGeom prst="rect">
            <a:avLst/>
          </a:prstGeom>
          <a:ln w="25400">
            <a:solidFill>
              <a:srgbClr val="FF93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8" tIns="71438" rIns="71438" bIns="71438" anchor="ctr">
            <a:spAutoFit/>
          </a:bodyPr>
          <a:lstStyle/>
          <a:p>
            <a:pPr lvl="0">
              <a:defRPr sz="1800"/>
            </a:pPr>
            <a:r>
              <a:rPr sz="1266"/>
              <a:t>coordinates thread execution</a:t>
            </a:r>
          </a:p>
          <a:p>
            <a:pPr lvl="0">
              <a:defRPr sz="1800"/>
            </a:pPr>
            <a:endParaRPr sz="1266"/>
          </a:p>
          <a:p>
            <a:pPr lvl="0">
              <a:defRPr sz="1800"/>
            </a:pPr>
            <a:r>
              <a:rPr sz="1266">
                <a:solidFill>
                  <a:srgbClr val="0433FF"/>
                </a:solidFill>
              </a:rPr>
              <a:t>critical</a:t>
            </a:r>
            <a:r>
              <a:rPr sz="1266"/>
              <a:t>, </a:t>
            </a:r>
            <a:r>
              <a:rPr sz="1266">
                <a:solidFill>
                  <a:srgbClr val="0433FF"/>
                </a:solidFill>
              </a:rPr>
              <a:t>atomic</a:t>
            </a:r>
            <a:r>
              <a:rPr sz="1266"/>
              <a:t> and </a:t>
            </a:r>
            <a:r>
              <a:rPr sz="1266">
                <a:solidFill>
                  <a:srgbClr val="0433FF"/>
                </a:solidFill>
              </a:rPr>
              <a:t>barrier</a:t>
            </a:r>
            <a:r>
              <a:rPr sz="1266"/>
              <a:t> directives</a:t>
            </a:r>
          </a:p>
        </p:txBody>
      </p:sp>
      <p:sp>
        <p:nvSpPr>
          <p:cNvPr id="181" name="Shape 181"/>
          <p:cNvSpPr/>
          <p:nvPr/>
        </p:nvSpPr>
        <p:spPr>
          <a:xfrm>
            <a:off x="8695178" y="4869345"/>
            <a:ext cx="1833493" cy="1702647"/>
          </a:xfrm>
          <a:prstGeom prst="rect">
            <a:avLst/>
          </a:prstGeom>
          <a:ln w="25400">
            <a:solidFill>
              <a:srgbClr val="FF93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8" tIns="71438" rIns="71438" bIns="71438" anchor="ctr">
            <a:spAutoFit/>
          </a:bodyPr>
          <a:lstStyle/>
          <a:p>
            <a:pPr lvl="0">
              <a:defRPr sz="1800"/>
            </a:pPr>
            <a:r>
              <a:rPr sz="1266"/>
              <a:t>runtime environment</a:t>
            </a:r>
          </a:p>
          <a:p>
            <a:pPr lvl="0">
              <a:defRPr sz="1800"/>
            </a:pPr>
            <a:endParaRPr sz="1266"/>
          </a:p>
          <a:p>
            <a:pPr lvl="0">
              <a:defRPr sz="1800"/>
            </a:pPr>
            <a:r>
              <a:rPr sz="1266">
                <a:solidFill>
                  <a:srgbClr val="0433FF"/>
                </a:solidFill>
              </a:rPr>
              <a:t>omp_set_num_threads()</a:t>
            </a:r>
          </a:p>
          <a:p>
            <a:pPr lvl="0">
              <a:defRPr sz="1800"/>
            </a:pPr>
            <a:r>
              <a:rPr sz="1266">
                <a:solidFill>
                  <a:srgbClr val="0433FF"/>
                </a:solidFill>
              </a:rPr>
              <a:t>omp_get_thread_num()</a:t>
            </a:r>
          </a:p>
          <a:p>
            <a:pPr lvl="0">
              <a:defRPr sz="1800"/>
            </a:pPr>
            <a:endParaRPr sz="1266">
              <a:solidFill>
                <a:srgbClr val="0433FF"/>
              </a:solidFill>
            </a:endParaRPr>
          </a:p>
          <a:p>
            <a:pPr lvl="0">
              <a:defRPr sz="1800"/>
            </a:pPr>
            <a:r>
              <a:rPr sz="1266">
                <a:solidFill>
                  <a:srgbClr val="0433FF"/>
                </a:solidFill>
              </a:rPr>
              <a:t>OMP_NUM_THREADS</a:t>
            </a:r>
          </a:p>
          <a:p>
            <a:pPr lvl="0">
              <a:defRPr sz="1800"/>
            </a:pPr>
            <a:r>
              <a:rPr sz="1266">
                <a:solidFill>
                  <a:srgbClr val="0433FF"/>
                </a:solidFill>
              </a:rPr>
              <a:t>OMP_SCHEDULE</a:t>
            </a:r>
          </a:p>
        </p:txBody>
      </p:sp>
      <p:sp>
        <p:nvSpPr>
          <p:cNvPr id="182" name="Shape 182"/>
          <p:cNvSpPr/>
          <p:nvPr/>
        </p:nvSpPr>
        <p:spPr>
          <a:xfrm flipV="1">
            <a:off x="5971995" y="2650062"/>
            <a:ext cx="1" cy="901899"/>
          </a:xfrm>
          <a:prstGeom prst="line">
            <a:avLst/>
          </a:prstGeom>
          <a:ln w="254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3" name="Shape 183"/>
          <p:cNvSpPr/>
          <p:nvPr/>
        </p:nvSpPr>
        <p:spPr>
          <a:xfrm>
            <a:off x="2505376" y="3041720"/>
            <a:ext cx="7063436" cy="1"/>
          </a:xfrm>
          <a:prstGeom prst="line">
            <a:avLst/>
          </a:prstGeom>
          <a:ln w="254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4" name="Shape 184"/>
          <p:cNvSpPr/>
          <p:nvPr/>
        </p:nvSpPr>
        <p:spPr>
          <a:xfrm flipV="1">
            <a:off x="2495995" y="3025109"/>
            <a:ext cx="1" cy="526852"/>
          </a:xfrm>
          <a:prstGeom prst="line">
            <a:avLst/>
          </a:prstGeom>
          <a:ln w="254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5" name="Shape 185"/>
          <p:cNvSpPr/>
          <p:nvPr/>
        </p:nvSpPr>
        <p:spPr>
          <a:xfrm flipV="1">
            <a:off x="4317817" y="3024559"/>
            <a:ext cx="1" cy="526852"/>
          </a:xfrm>
          <a:prstGeom prst="line">
            <a:avLst/>
          </a:prstGeom>
          <a:ln w="254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6" name="Shape 186"/>
          <p:cNvSpPr/>
          <p:nvPr/>
        </p:nvSpPr>
        <p:spPr>
          <a:xfrm flipV="1">
            <a:off x="7746399" y="3027721"/>
            <a:ext cx="1" cy="526852"/>
          </a:xfrm>
          <a:prstGeom prst="line">
            <a:avLst/>
          </a:prstGeom>
          <a:ln w="254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7" name="Shape 187"/>
          <p:cNvSpPr/>
          <p:nvPr/>
        </p:nvSpPr>
        <p:spPr>
          <a:xfrm flipV="1">
            <a:off x="9574500" y="3024559"/>
            <a:ext cx="1" cy="526852"/>
          </a:xfrm>
          <a:prstGeom prst="line">
            <a:avLst/>
          </a:prstGeom>
          <a:ln w="254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8" name="Shape 188"/>
          <p:cNvSpPr/>
          <p:nvPr/>
        </p:nvSpPr>
        <p:spPr>
          <a:xfrm flipV="1">
            <a:off x="2495996" y="4212204"/>
            <a:ext cx="1" cy="678657"/>
          </a:xfrm>
          <a:prstGeom prst="line">
            <a:avLst/>
          </a:prstGeom>
          <a:ln w="254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9" name="Shape 189"/>
          <p:cNvSpPr/>
          <p:nvPr/>
        </p:nvSpPr>
        <p:spPr>
          <a:xfrm flipV="1">
            <a:off x="4317817" y="3940701"/>
            <a:ext cx="1" cy="1053904"/>
          </a:xfrm>
          <a:prstGeom prst="line">
            <a:avLst/>
          </a:prstGeom>
          <a:ln w="254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90" name="Shape 190"/>
          <p:cNvSpPr/>
          <p:nvPr/>
        </p:nvSpPr>
        <p:spPr>
          <a:xfrm flipV="1">
            <a:off x="6000063" y="4224846"/>
            <a:ext cx="1" cy="753505"/>
          </a:xfrm>
          <a:prstGeom prst="line">
            <a:avLst/>
          </a:prstGeom>
          <a:ln w="254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91" name="Shape 191"/>
          <p:cNvSpPr/>
          <p:nvPr/>
        </p:nvSpPr>
        <p:spPr>
          <a:xfrm flipV="1">
            <a:off x="7747440" y="3940701"/>
            <a:ext cx="1" cy="1053905"/>
          </a:xfrm>
          <a:prstGeom prst="line">
            <a:avLst/>
          </a:prstGeom>
          <a:ln w="254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92" name="Shape 192"/>
          <p:cNvSpPr/>
          <p:nvPr/>
        </p:nvSpPr>
        <p:spPr>
          <a:xfrm flipV="1">
            <a:off x="9574500" y="4231568"/>
            <a:ext cx="1" cy="740062"/>
          </a:xfrm>
          <a:prstGeom prst="line">
            <a:avLst/>
          </a:prstGeom>
          <a:ln w="254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F9A7-FEE3-4EAF-9A23-C531422CE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OpenMP Directive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AD146-A076-47FD-8A38-8C132BC6A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General form of an OpenMP directive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Parallel construct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Shape 196">
            <a:extLst>
              <a:ext uri="{FF2B5EF4-FFF2-40B4-BE49-F238E27FC236}">
                <a16:creationId xmlns:a16="http://schemas.microsoft.com/office/drawing/2014/main" id="{0A258646-0D30-4323-8D96-34D516F7A681}"/>
              </a:ext>
            </a:extLst>
          </p:cNvPr>
          <p:cNvSpPr/>
          <p:nvPr/>
        </p:nvSpPr>
        <p:spPr>
          <a:xfrm>
            <a:off x="335360" y="1772816"/>
            <a:ext cx="11760200" cy="431800"/>
          </a:xfrm>
          <a:prstGeom prst="rect">
            <a:avLst/>
          </a:prstGeom>
          <a:solidFill>
            <a:srgbClr val="F1FEC9"/>
          </a:solidFill>
          <a:ln w="12700">
            <a:solidFill/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/>
          <a:p>
            <a:pPr lvl="2" indent="0" algn="l">
              <a:spcBef>
                <a:spcPts val="800"/>
              </a:spcBef>
              <a:defRPr sz="1800"/>
            </a:pPr>
            <a:r>
              <a:rPr sz="2400" dirty="0">
                <a:latin typeface="Consolas"/>
                <a:ea typeface="Consolas"/>
                <a:cs typeface="Consolas"/>
                <a:sym typeface="Consolas"/>
              </a:rPr>
              <a:t>#pragma </a:t>
            </a:r>
            <a:r>
              <a:rPr sz="2400" dirty="0" err="1">
                <a:latin typeface="Consolas"/>
                <a:ea typeface="Consolas"/>
                <a:cs typeface="Consolas"/>
                <a:sym typeface="Consolas"/>
              </a:rPr>
              <a:t>omp</a:t>
            </a:r>
            <a:r>
              <a:rPr sz="24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sz="2400" i="1" dirty="0">
                <a:latin typeface="Consolas"/>
                <a:ea typeface="Consolas"/>
                <a:cs typeface="Consolas"/>
                <a:sym typeface="Consolas"/>
              </a:rPr>
              <a:t>directive-name</a:t>
            </a:r>
            <a:r>
              <a:rPr sz="24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sz="2400" i="1" dirty="0">
                <a:latin typeface="Consolas"/>
                <a:ea typeface="Consolas"/>
                <a:cs typeface="Consolas"/>
                <a:sym typeface="Consolas"/>
              </a:rPr>
              <a:t>[clause[[,] clause]...] new-line</a:t>
            </a:r>
          </a:p>
        </p:txBody>
      </p:sp>
      <p:sp>
        <p:nvSpPr>
          <p:cNvPr id="7" name="Shape 207">
            <a:extLst>
              <a:ext uri="{FF2B5EF4-FFF2-40B4-BE49-F238E27FC236}">
                <a16:creationId xmlns:a16="http://schemas.microsoft.com/office/drawing/2014/main" id="{5FE83A26-6641-4984-B37D-393595FCFD0C}"/>
              </a:ext>
            </a:extLst>
          </p:cNvPr>
          <p:cNvSpPr/>
          <p:nvPr/>
        </p:nvSpPr>
        <p:spPr>
          <a:xfrm>
            <a:off x="335360" y="3573016"/>
            <a:ext cx="11760200" cy="1803401"/>
          </a:xfrm>
          <a:prstGeom prst="rect">
            <a:avLst/>
          </a:prstGeom>
          <a:solidFill>
            <a:srgbClr val="F1FEC9"/>
          </a:solidFill>
          <a:ln w="12700">
            <a:solidFill/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/>
          <a:p>
            <a:pPr lvl="2" indent="0" algn="l">
              <a:spcBef>
                <a:spcPts val="800"/>
              </a:spcBef>
              <a:defRPr sz="1800"/>
            </a:pPr>
            <a:r>
              <a:rPr sz="2400">
                <a:latin typeface="Consolas"/>
                <a:ea typeface="Consolas"/>
                <a:cs typeface="Consolas"/>
                <a:sym typeface="Consolas"/>
              </a:rPr>
              <a:t>#pragma omp parallel </a:t>
            </a:r>
            <a:r>
              <a:rPr sz="2400" i="1">
                <a:latin typeface="Consolas"/>
                <a:ea typeface="Consolas"/>
                <a:cs typeface="Consolas"/>
                <a:sym typeface="Consolas"/>
              </a:rPr>
              <a:t>[clause[[,] clause]...]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lvl="2" indent="0" algn="l">
              <a:spcBef>
                <a:spcPts val="800"/>
              </a:spcBef>
              <a:defRPr sz="1800"/>
            </a:pPr>
            <a:r>
              <a:rPr sz="2400"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lvl="2" indent="0" algn="l">
              <a:spcBef>
                <a:spcPts val="800"/>
              </a:spcBef>
              <a:defRPr sz="1800"/>
            </a:pPr>
            <a:r>
              <a:rPr sz="2400">
                <a:latin typeface="Consolas"/>
                <a:ea typeface="Consolas"/>
                <a:cs typeface="Consolas"/>
                <a:sym typeface="Consolas"/>
              </a:rPr>
              <a:t>   /* parallel section */</a:t>
            </a:r>
          </a:p>
          <a:p>
            <a:pPr lvl="2" indent="0" algn="l">
              <a:spcBef>
                <a:spcPts val="800"/>
              </a:spcBef>
              <a:defRPr sz="1800"/>
            </a:pPr>
            <a:r>
              <a:rPr sz="2400"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8904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35010-F15C-42D2-BB0E-29A128F1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690" y="188639"/>
            <a:ext cx="7063769" cy="576064"/>
          </a:xfrm>
        </p:spPr>
        <p:txBody>
          <a:bodyPr wrap="square" anchor="ctr">
            <a:normAutofit/>
          </a:bodyPr>
          <a:lstStyle/>
          <a:p>
            <a:r>
              <a:rPr lang="en-GB" dirty="0" err="1"/>
              <a:t>Pthread</a:t>
            </a:r>
            <a:r>
              <a:rPr lang="en-GB" dirty="0"/>
              <a:t> Hello World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AAE02A-36E3-41E1-AFBB-964660091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183" y="1052737"/>
            <a:ext cx="8379110" cy="57606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18745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EDE26-6C58-42BE-A3C9-CF0FBA520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690" y="188639"/>
            <a:ext cx="7063769" cy="576064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OpenMP Hello World example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05597C-FFDD-48E9-8800-E36FB7D9B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1412777"/>
            <a:ext cx="8570445" cy="424847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33E748E-E63A-453D-9E74-0856B5A2DC49}"/>
              </a:ext>
            </a:extLst>
          </p:cNvPr>
          <p:cNvSpPr/>
          <p:nvPr/>
        </p:nvSpPr>
        <p:spPr>
          <a:xfrm>
            <a:off x="7032104" y="4365104"/>
            <a:ext cx="2736304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899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2B2A-EA72-4EF3-827F-3C34D2FC4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OpenMP Hello World with specified threads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861CB4-7C68-4972-B24E-74FCEFF0A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1412777"/>
            <a:ext cx="8570445" cy="424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53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51E71-EC93-4A7A-AF36-FCE8D090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Single Threaded Prime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55086-1DC8-4512-91CB-DD2D1C36B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</a:t>
            </a: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c;</a:t>
            </a: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nstart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=1,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nfinish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=20000; </a:t>
            </a: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("Prime numbers between %d and %d are :\n",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nstart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nfinish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nn-NO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for(i=nstart; i&lt;=nfinish; i++){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for(c = 2; c &lt;= i-1;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if (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i%c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0 )</a:t>
            </a: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break;</a:t>
            </a: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 c == i ) </a:t>
            </a:r>
          </a:p>
          <a:p>
            <a:pPr marL="0" indent="0">
              <a:buNone/>
            </a:pPr>
            <a:r>
              <a:rPr lang="pt-B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printf("%d\n", i);</a:t>
            </a: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0429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5AF8-09AD-40B5-A5FF-3D225787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Multithreaded Version - 2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E2543-A785-44E8-AE30-4C0D0E9C5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478" y="1052737"/>
            <a:ext cx="6288698" cy="561662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dirty="0"/>
              <a:t>#include &lt;</a:t>
            </a:r>
            <a:r>
              <a:rPr lang="en-GB" dirty="0" err="1"/>
              <a:t>stdio.h</a:t>
            </a:r>
            <a:r>
              <a:rPr lang="en-GB" dirty="0"/>
              <a:t>&gt;</a:t>
            </a:r>
          </a:p>
          <a:p>
            <a:pPr marL="0" indent="0">
              <a:buNone/>
            </a:pPr>
            <a:r>
              <a:rPr lang="en-GB" dirty="0"/>
              <a:t>#include &lt;</a:t>
            </a:r>
            <a:r>
              <a:rPr lang="en-GB" dirty="0" err="1"/>
              <a:t>pthread.h</a:t>
            </a:r>
            <a:r>
              <a:rPr lang="en-GB" dirty="0"/>
              <a:t>&gt;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void *</a:t>
            </a:r>
            <a:r>
              <a:rPr lang="en-GB" dirty="0" err="1"/>
              <a:t>threadOne</a:t>
            </a:r>
            <a:r>
              <a:rPr lang="en-GB" dirty="0"/>
              <a:t>(void *p){</a:t>
            </a:r>
          </a:p>
          <a:p>
            <a:pPr marL="0" indent="0">
              <a:buNone/>
            </a:pPr>
            <a:r>
              <a:rPr lang="en-GB" dirty="0"/>
              <a:t>  int </a:t>
            </a:r>
            <a:r>
              <a:rPr lang="en-GB" dirty="0" err="1"/>
              <a:t>i</a:t>
            </a:r>
            <a:r>
              <a:rPr lang="en-GB" dirty="0"/>
              <a:t>, c;</a:t>
            </a:r>
          </a:p>
          <a:p>
            <a:pPr marL="0" indent="0">
              <a:buNone/>
            </a:pPr>
            <a:r>
              <a:rPr lang="en-GB" dirty="0"/>
              <a:t>  int </a:t>
            </a:r>
            <a:r>
              <a:rPr lang="en-GB" dirty="0" err="1"/>
              <a:t>nstart</a:t>
            </a:r>
            <a:r>
              <a:rPr lang="en-GB" dirty="0"/>
              <a:t>=1, </a:t>
            </a:r>
            <a:r>
              <a:rPr lang="en-GB" dirty="0" err="1"/>
              <a:t>nfinish</a:t>
            </a:r>
            <a:r>
              <a:rPr lang="en-GB" dirty="0"/>
              <a:t>=10000; </a:t>
            </a:r>
          </a:p>
          <a:p>
            <a:pPr marL="0" indent="0">
              <a:buNone/>
            </a:pPr>
            <a:r>
              <a:rPr lang="en-GB" dirty="0"/>
              <a:t>for(i=</a:t>
            </a:r>
            <a:r>
              <a:rPr lang="en-GB" dirty="0" err="1"/>
              <a:t>nstart</a:t>
            </a:r>
            <a:r>
              <a:rPr lang="en-GB" dirty="0"/>
              <a:t>; i&lt;=</a:t>
            </a:r>
            <a:r>
              <a:rPr lang="en-GB" dirty="0" err="1"/>
              <a:t>nfinish</a:t>
            </a:r>
            <a:r>
              <a:rPr lang="en-GB" dirty="0"/>
              <a:t>; i++){ </a:t>
            </a:r>
          </a:p>
          <a:p>
            <a:pPr marL="0" indent="0">
              <a:buNone/>
            </a:pPr>
            <a:r>
              <a:rPr lang="en-GB" dirty="0"/>
              <a:t>    for(c=2; c &lt;= i-1; </a:t>
            </a:r>
            <a:r>
              <a:rPr lang="en-GB" dirty="0" err="1"/>
              <a:t>c++</a:t>
            </a:r>
            <a:r>
              <a:rPr lang="en-GB" dirty="0"/>
              <a:t>){</a:t>
            </a:r>
          </a:p>
          <a:p>
            <a:pPr marL="0" indent="0">
              <a:buNone/>
            </a:pPr>
            <a:r>
              <a:rPr lang="en-GB" dirty="0"/>
              <a:t>      if ( </a:t>
            </a:r>
            <a:r>
              <a:rPr lang="en-GB" dirty="0" err="1"/>
              <a:t>i%c</a:t>
            </a:r>
            <a:r>
              <a:rPr lang="en-GB" dirty="0"/>
              <a:t> == 0 )</a:t>
            </a:r>
          </a:p>
          <a:p>
            <a:pPr marL="0" indent="0">
              <a:buNone/>
            </a:pPr>
            <a:r>
              <a:rPr lang="en-GB" dirty="0"/>
              <a:t>        break;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if ( c == i )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printf</a:t>
            </a:r>
            <a:r>
              <a:rPr lang="en-GB" dirty="0"/>
              <a:t>("</a:t>
            </a:r>
            <a:r>
              <a:rPr lang="en-GB" dirty="0" err="1"/>
              <a:t>threadOne</a:t>
            </a:r>
            <a:r>
              <a:rPr lang="en-GB" dirty="0"/>
              <a:t> : %d\n", </a:t>
            </a:r>
            <a:r>
              <a:rPr lang="en-GB" dirty="0" err="1"/>
              <a:t>i</a:t>
            </a:r>
            <a:r>
              <a:rPr lang="en-GB" dirty="0"/>
              <a:t>);</a:t>
            </a:r>
          </a:p>
          <a:p>
            <a:pPr marL="0" indent="0">
              <a:buNone/>
            </a:pPr>
            <a:r>
              <a:rPr lang="en-GB" dirty="0"/>
              <a:t>  }</a:t>
            </a:r>
          </a:p>
          <a:p>
            <a:pPr marL="0" indent="0">
              <a:buNone/>
            </a:pPr>
            <a:r>
              <a:rPr lang="en-GB" dirty="0"/>
              <a:t>  return 0;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void main(){</a:t>
            </a:r>
          </a:p>
          <a:p>
            <a:pPr marL="0" indent="0">
              <a:buNone/>
            </a:pPr>
            <a:r>
              <a:rPr lang="en-GB" dirty="0"/>
              <a:t>  </a:t>
            </a:r>
            <a:r>
              <a:rPr lang="en-GB" dirty="0" err="1"/>
              <a:t>pthread_t</a:t>
            </a:r>
            <a:r>
              <a:rPr lang="en-GB" dirty="0"/>
              <a:t> thrID1, thrID2;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/>
              <a:t>  </a:t>
            </a:r>
            <a:r>
              <a:rPr lang="en-GB" dirty="0" err="1"/>
              <a:t>printf</a:t>
            </a:r>
            <a:r>
              <a:rPr lang="en-GB" dirty="0"/>
              <a:t>("</a:t>
            </a:r>
            <a:r>
              <a:rPr lang="en-GB" dirty="0" err="1"/>
              <a:t>threadOne</a:t>
            </a:r>
            <a:r>
              <a:rPr lang="en-GB" dirty="0"/>
              <a:t> : Prime numbers between %d and %d are :\n", </a:t>
            </a:r>
            <a:r>
              <a:rPr lang="en-GB" dirty="0" err="1"/>
              <a:t>nstart</a:t>
            </a:r>
            <a:r>
              <a:rPr lang="en-GB" dirty="0"/>
              <a:t>, </a:t>
            </a:r>
            <a:r>
              <a:rPr lang="en-GB" dirty="0" err="1"/>
              <a:t>nfinish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</a:t>
            </a:r>
            <a:r>
              <a:rPr lang="en-GB" dirty="0" err="1"/>
              <a:t>pthread_create</a:t>
            </a:r>
            <a:r>
              <a:rPr lang="en-GB" dirty="0"/>
              <a:t>(&amp;thrID1, NULL, </a:t>
            </a:r>
            <a:r>
              <a:rPr lang="en-GB" dirty="0" err="1"/>
              <a:t>threadOne</a:t>
            </a:r>
            <a:r>
              <a:rPr lang="en-GB" dirty="0"/>
              <a:t>, NULL);</a:t>
            </a:r>
          </a:p>
          <a:p>
            <a:pPr marL="0" indent="0">
              <a:buNone/>
            </a:pPr>
            <a:r>
              <a:rPr lang="en-GB" dirty="0"/>
              <a:t>  </a:t>
            </a:r>
            <a:r>
              <a:rPr lang="en-GB" dirty="0" err="1"/>
              <a:t>pthread_create</a:t>
            </a:r>
            <a:r>
              <a:rPr lang="en-GB" dirty="0"/>
              <a:t>(&amp;thrID2, NULL, </a:t>
            </a:r>
            <a:r>
              <a:rPr lang="en-GB" dirty="0" err="1"/>
              <a:t>threadTwo</a:t>
            </a:r>
            <a:r>
              <a:rPr lang="en-GB" dirty="0"/>
              <a:t>, NULL);</a:t>
            </a:r>
          </a:p>
          <a:p>
            <a:pPr marL="0" indent="0">
              <a:buNone/>
            </a:pPr>
            <a:r>
              <a:rPr lang="en-GB" dirty="0"/>
              <a:t>  </a:t>
            </a:r>
            <a:r>
              <a:rPr lang="en-GB" dirty="0" err="1"/>
              <a:t>pthread_join</a:t>
            </a:r>
            <a:r>
              <a:rPr lang="en-GB" dirty="0"/>
              <a:t>(thrID1, NULL);</a:t>
            </a:r>
          </a:p>
          <a:p>
            <a:pPr marL="0" indent="0">
              <a:buNone/>
            </a:pPr>
            <a:r>
              <a:rPr lang="en-GB" dirty="0"/>
              <a:t>  </a:t>
            </a:r>
            <a:r>
              <a:rPr lang="en-GB" dirty="0" err="1"/>
              <a:t>pthread_join</a:t>
            </a:r>
            <a:r>
              <a:rPr lang="en-GB" dirty="0"/>
              <a:t>(thrID2, NULL);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0C5A28-48EB-4474-B55E-3282EABA9A3F}"/>
              </a:ext>
            </a:extLst>
          </p:cNvPr>
          <p:cNvSpPr txBox="1">
            <a:spLocks/>
          </p:cNvSpPr>
          <p:nvPr/>
        </p:nvSpPr>
        <p:spPr bwMode="auto">
          <a:xfrm>
            <a:off x="6600056" y="1196752"/>
            <a:ext cx="2736304" cy="3336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40000" lnSpcReduction="20000"/>
          </a:bodyPr>
          <a:lstStyle>
            <a:lvl1pPr marL="342884" indent="-3428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13" indent="-28573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2944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120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297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474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GB" kern="0" dirty="0"/>
              <a:t>void *</a:t>
            </a:r>
            <a:r>
              <a:rPr lang="en-GB" kern="0" dirty="0" err="1"/>
              <a:t>threadTwo</a:t>
            </a:r>
            <a:r>
              <a:rPr lang="en-GB" kern="0" dirty="0"/>
              <a:t>(void *p){</a:t>
            </a:r>
          </a:p>
          <a:p>
            <a:pPr marL="0" indent="0">
              <a:buNone/>
            </a:pPr>
            <a:r>
              <a:rPr lang="en-GB" kern="0" dirty="0"/>
              <a:t>  int </a:t>
            </a:r>
            <a:r>
              <a:rPr lang="en-GB" kern="0" dirty="0" err="1"/>
              <a:t>i</a:t>
            </a:r>
            <a:r>
              <a:rPr lang="en-GB" kern="0" dirty="0"/>
              <a:t>, c;</a:t>
            </a:r>
          </a:p>
          <a:p>
            <a:pPr marL="0" indent="0">
              <a:buNone/>
            </a:pPr>
            <a:r>
              <a:rPr lang="en-GB" kern="0" dirty="0"/>
              <a:t>  int </a:t>
            </a:r>
            <a:r>
              <a:rPr lang="en-GB" kern="0" dirty="0" err="1"/>
              <a:t>nstart</a:t>
            </a:r>
            <a:r>
              <a:rPr lang="en-GB" kern="0" dirty="0"/>
              <a:t>=10001, </a:t>
            </a:r>
            <a:r>
              <a:rPr lang="en-GB" kern="0" dirty="0" err="1"/>
              <a:t>nfinish</a:t>
            </a:r>
            <a:r>
              <a:rPr lang="en-GB" kern="0" dirty="0"/>
              <a:t>=20000; </a:t>
            </a:r>
          </a:p>
          <a:p>
            <a:pPr marL="0" indent="0">
              <a:buNone/>
            </a:pPr>
            <a:r>
              <a:rPr lang="en-GB" kern="0" dirty="0"/>
              <a:t>  for(i=</a:t>
            </a:r>
            <a:r>
              <a:rPr lang="en-GB" kern="0" dirty="0" err="1"/>
              <a:t>nstart</a:t>
            </a:r>
            <a:r>
              <a:rPr lang="en-GB" kern="0" dirty="0"/>
              <a:t>; i&lt;=</a:t>
            </a:r>
            <a:r>
              <a:rPr lang="en-GB" kern="0" dirty="0" err="1"/>
              <a:t>nfinish</a:t>
            </a:r>
            <a:r>
              <a:rPr lang="en-GB" kern="0" dirty="0"/>
              <a:t>; i++){ </a:t>
            </a:r>
          </a:p>
          <a:p>
            <a:pPr marL="0" indent="0">
              <a:buNone/>
            </a:pPr>
            <a:r>
              <a:rPr lang="en-GB" kern="0" dirty="0"/>
              <a:t>    for(c=2; c&lt;=i-1; </a:t>
            </a:r>
            <a:r>
              <a:rPr lang="en-GB" kern="0" dirty="0" err="1"/>
              <a:t>c++</a:t>
            </a:r>
            <a:r>
              <a:rPr lang="en-GB" kern="0" dirty="0"/>
              <a:t>){</a:t>
            </a:r>
          </a:p>
          <a:p>
            <a:pPr marL="0" indent="0">
              <a:buNone/>
            </a:pPr>
            <a:r>
              <a:rPr lang="en-GB" kern="0" dirty="0"/>
              <a:t>      if ( </a:t>
            </a:r>
            <a:r>
              <a:rPr lang="en-GB" kern="0" dirty="0" err="1"/>
              <a:t>i%c</a:t>
            </a:r>
            <a:r>
              <a:rPr lang="en-GB" kern="0" dirty="0"/>
              <a:t>==0 )</a:t>
            </a:r>
          </a:p>
          <a:p>
            <a:pPr marL="0" indent="0">
              <a:buNone/>
            </a:pPr>
            <a:r>
              <a:rPr lang="en-GB" kern="0" dirty="0"/>
              <a:t>        break;</a:t>
            </a:r>
          </a:p>
          <a:p>
            <a:pPr marL="0" indent="0">
              <a:buNone/>
            </a:pPr>
            <a:r>
              <a:rPr lang="en-GB" kern="0" dirty="0"/>
              <a:t>    }</a:t>
            </a:r>
          </a:p>
          <a:p>
            <a:pPr marL="0" indent="0">
              <a:buNone/>
            </a:pPr>
            <a:r>
              <a:rPr lang="en-GB" kern="0" dirty="0"/>
              <a:t>    if ( c==i )</a:t>
            </a:r>
          </a:p>
          <a:p>
            <a:pPr marL="0" indent="0">
              <a:buNone/>
            </a:pPr>
            <a:r>
              <a:rPr lang="en-GB" kern="0" dirty="0"/>
              <a:t>        </a:t>
            </a:r>
            <a:r>
              <a:rPr lang="en-GB" kern="0" dirty="0" err="1"/>
              <a:t>printf</a:t>
            </a:r>
            <a:r>
              <a:rPr lang="en-GB" kern="0" dirty="0"/>
              <a:t>("</a:t>
            </a:r>
            <a:r>
              <a:rPr lang="en-GB" kern="0" dirty="0" err="1"/>
              <a:t>threadTwo</a:t>
            </a:r>
            <a:r>
              <a:rPr lang="en-GB" kern="0" dirty="0"/>
              <a:t> : %d\n", </a:t>
            </a:r>
            <a:r>
              <a:rPr lang="en-GB" kern="0" dirty="0" err="1"/>
              <a:t>i</a:t>
            </a:r>
            <a:r>
              <a:rPr lang="en-GB" kern="0" dirty="0"/>
              <a:t>);</a:t>
            </a:r>
          </a:p>
          <a:p>
            <a:pPr marL="0" indent="0">
              <a:buNone/>
            </a:pPr>
            <a:r>
              <a:rPr lang="en-GB" kern="0" dirty="0"/>
              <a:t>  }</a:t>
            </a:r>
          </a:p>
          <a:p>
            <a:pPr marL="0" indent="0">
              <a:buNone/>
            </a:pPr>
            <a:r>
              <a:rPr lang="en-GB" kern="0" dirty="0"/>
              <a:t>  return 0;</a:t>
            </a:r>
          </a:p>
          <a:p>
            <a:pPr marL="0" indent="0">
              <a:buNone/>
            </a:pPr>
            <a:r>
              <a:rPr lang="en-GB" kern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56657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BB88D-9CB4-4C14-BF1E-28CD777B5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Calculating PI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EF8A6B-BE8D-4924-8ED6-2C02D03CC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101" y="1071232"/>
            <a:ext cx="6287378" cy="518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0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98DD-318C-4AF9-A1D8-8BEE0A6A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OpenMP PI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4648CBA-ED73-4DDB-9154-880693BC3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8101" y="1052736"/>
            <a:ext cx="6287378" cy="5239482"/>
          </a:xfrm>
        </p:spPr>
      </p:pic>
    </p:spTree>
    <p:extLst>
      <p:ext uri="{BB962C8B-B14F-4D97-AF65-F5344CB8AC3E}">
        <p14:creationId xmlns:p14="http://schemas.microsoft.com/office/powerpoint/2010/main" val="3319889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54EA8-1667-4331-BAFB-EF6E988C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OpenMP PI Critical Section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4F956D7-EB9C-4F60-8557-BB0753600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8101" y="1052736"/>
            <a:ext cx="6287378" cy="5239482"/>
          </a:xfrm>
        </p:spPr>
      </p:pic>
    </p:spTree>
    <p:extLst>
      <p:ext uri="{BB962C8B-B14F-4D97-AF65-F5344CB8AC3E}">
        <p14:creationId xmlns:p14="http://schemas.microsoft.com/office/powerpoint/2010/main" val="3406916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9877C-5191-4740-AB19-10B7A3A0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OpenMP PI Atomic Operation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3FF7D1-A0F6-4754-AC02-F5509E1C3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8101" y="1052736"/>
            <a:ext cx="6287378" cy="5239482"/>
          </a:xfrm>
        </p:spPr>
      </p:pic>
    </p:spTree>
    <p:extLst>
      <p:ext uri="{BB962C8B-B14F-4D97-AF65-F5344CB8AC3E}">
        <p14:creationId xmlns:p14="http://schemas.microsoft.com/office/powerpoint/2010/main" val="209575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ADAB5-06EC-45F7-BF97-5287931DC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OpenMP PI Reduction Operation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C7A0D7-BFBE-4F6E-88E3-05EA4F232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5680" y="1052736"/>
            <a:ext cx="6800847" cy="5239482"/>
          </a:xfrm>
        </p:spPr>
      </p:pic>
    </p:spTree>
    <p:extLst>
      <p:ext uri="{BB962C8B-B14F-4D97-AF65-F5344CB8AC3E}">
        <p14:creationId xmlns:p14="http://schemas.microsoft.com/office/powerpoint/2010/main" val="1547811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063B035-58FB-48F0-A8BD-48A6AB1A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Pthread</a:t>
            </a:r>
            <a:r>
              <a:rPr lang="en-GB" dirty="0"/>
              <a:t> Barrier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999A8C5-3052-4E85-9F07-231B14F138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412776"/>
            <a:ext cx="12207928" cy="4536504"/>
          </a:xfrm>
          <a:noFill/>
        </p:spPr>
      </p:pic>
    </p:spTree>
    <p:extLst>
      <p:ext uri="{BB962C8B-B14F-4D97-AF65-F5344CB8AC3E}">
        <p14:creationId xmlns:p14="http://schemas.microsoft.com/office/powerpoint/2010/main" val="2100650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4B06A-F15E-4A36-8428-F88463624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OpenMP Barrier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147245B-9C85-4377-A3C7-78AD116CD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5520" y="1045281"/>
            <a:ext cx="8388075" cy="5768095"/>
          </a:xfrm>
        </p:spPr>
      </p:pic>
    </p:spTree>
    <p:extLst>
      <p:ext uri="{BB962C8B-B14F-4D97-AF65-F5344CB8AC3E}">
        <p14:creationId xmlns:p14="http://schemas.microsoft.com/office/powerpoint/2010/main" val="3662897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2691FF-2F06-4AE6-9F21-6ED76FA9AC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To be continued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B9D748A-B42E-4284-B700-E323C8A0F3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244208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Standard">
  <a:themeElements>
    <a:clrScheme name="uow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ow2">
      <a:majorFont>
        <a:latin typeface="Rockwel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ow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1210</Words>
  <Application>Microsoft Office PowerPoint</Application>
  <PresentationFormat>Widescreen</PresentationFormat>
  <Paragraphs>182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Black</vt:lpstr>
      <vt:lpstr>Arial Regular</vt:lpstr>
      <vt:lpstr>Consolas</vt:lpstr>
      <vt:lpstr>Courier New</vt:lpstr>
      <vt:lpstr>Helvetica</vt:lpstr>
      <vt:lpstr>Rockwell</vt:lpstr>
      <vt:lpstr>Wingdings</vt:lpstr>
      <vt:lpstr>University Standard</vt:lpstr>
      <vt:lpstr>6CS005 High Performance Computing</vt:lpstr>
      <vt:lpstr>OpenMP- What is it?</vt:lpstr>
      <vt:lpstr>OpenMP- What is it?</vt:lpstr>
      <vt:lpstr>OpenMP Goals</vt:lpstr>
      <vt:lpstr>OpenMP Solution Stack</vt:lpstr>
      <vt:lpstr>How it works</vt:lpstr>
      <vt:lpstr>OpenMP Fork/Join Model</vt:lpstr>
      <vt:lpstr>OpenMP Programming Model</vt:lpstr>
      <vt:lpstr>OpenMP API</vt:lpstr>
      <vt:lpstr>OpenMP Core elements</vt:lpstr>
      <vt:lpstr>OpenMP Directive</vt:lpstr>
      <vt:lpstr>Pthread Hello World example</vt:lpstr>
      <vt:lpstr>OpenMP Hello World example</vt:lpstr>
      <vt:lpstr>OpenMP Hello World with specified threads</vt:lpstr>
      <vt:lpstr>Single Threaded Prime Numbers</vt:lpstr>
      <vt:lpstr>Multithreaded Version - 2 threads</vt:lpstr>
      <vt:lpstr>Calculating PI</vt:lpstr>
      <vt:lpstr>OpenMP PI</vt:lpstr>
      <vt:lpstr>OpenMP PI Critical Section</vt:lpstr>
      <vt:lpstr>OpenMP PI Atomic Operation</vt:lpstr>
      <vt:lpstr>OpenMP PI Reduction Operation</vt:lpstr>
      <vt:lpstr>Pthread Barrier</vt:lpstr>
      <vt:lpstr>OpenMP Barrier</vt:lpstr>
      <vt:lpstr>To be continued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2020-10-20T01:36:00Z</dcterms:created>
  <dcterms:modified xsi:type="dcterms:W3CDTF">2024-09-20T14:55:39Z</dcterms:modified>
</cp:coreProperties>
</file>