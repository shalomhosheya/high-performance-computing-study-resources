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B18"/>
    <a:srgbClr val="FEE814"/>
    <a:srgbClr val="660066"/>
    <a:srgbClr val="CC0099"/>
    <a:srgbClr val="200029"/>
    <a:srgbClr val="1A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B4588-FF8D-4559-A138-EA814FF0939D}" v="18" dt="2020-10-29T00:48:49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07" autoAdjust="0"/>
    <p:restoredTop sz="84288" autoAdjust="0"/>
  </p:normalViewPr>
  <p:slideViewPr>
    <p:cSldViewPr>
      <p:cViewPr varScale="1">
        <p:scale>
          <a:sx n="96" d="100"/>
          <a:sy n="96" d="100"/>
        </p:scale>
        <p:origin x="163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406" y="-90"/>
      </p:cViewPr>
      <p:guideLst>
        <p:guide orient="horz" pos="3126"/>
        <p:guide pos="209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FF9B02-B511-41B7-B86E-BB5F03402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05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1629A-89CF-4C2C-9865-CC6C32D549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70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00B106-CA7A-462B-9E3C-E754271A2A10}" type="slidenum">
              <a:rPr lang="en-GB" smtClean="0"/>
              <a:pPr eaLnBrk="1" hangingPunct="1"/>
              <a:t>1</a:t>
            </a:fld>
            <a:endParaRPr lang="en-GB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6891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2512921"/>
            <a:ext cx="7772400" cy="14700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536" y="4268688"/>
            <a:ext cx="6400800" cy="17526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15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7" y="188639"/>
            <a:ext cx="5297827" cy="576064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616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54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5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4" indent="0">
              <a:buNone/>
              <a:defRPr sz="1400"/>
            </a:lvl7pPr>
            <a:lvl8pPr marL="3200240" indent="0">
              <a:buNone/>
              <a:defRPr sz="1400"/>
            </a:lvl8pPr>
            <a:lvl9pPr marL="365741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87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62" y="1004877"/>
            <a:ext cx="8424863" cy="5519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628801"/>
            <a:ext cx="4135438" cy="55446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00" y="1628801"/>
            <a:ext cx="4137025" cy="55446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127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3913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74389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414149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2774389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3414149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58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74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2" y="1594873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59488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2" y="275693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9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04802"/>
            <a:ext cx="5486400" cy="3122777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5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38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700" y="990603"/>
            <a:ext cx="2105025" cy="546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990603"/>
            <a:ext cx="6167438" cy="546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25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63" y="980728"/>
            <a:ext cx="7488498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62" y="1628801"/>
            <a:ext cx="8424863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5pPr>
      <a:lvl6pPr marL="45717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6pPr>
      <a:lvl7pPr marL="91435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7pPr>
      <a:lvl8pPr marL="1371532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9pPr>
    </p:titleStyle>
    <p:bodyStyle>
      <a:lvl1pPr marL="342884" indent="-34288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44" indent="-228588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20" indent="-228588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297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474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652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829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006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7638" y="2060848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en-GB" sz="4000" dirty="0">
                <a:solidFill>
                  <a:srgbClr val="FFC000"/>
                </a:solidFill>
              </a:rPr>
              <a:t>5CS021 Numerical Methods and Concurrency</a:t>
            </a:r>
          </a:p>
          <a:p>
            <a:pPr>
              <a:defRPr/>
            </a:pPr>
            <a:r>
              <a:rPr lang="en-GB" sz="2400" dirty="0">
                <a:solidFill>
                  <a:srgbClr val="FACB18"/>
                </a:solidFill>
                <a:latin typeface="+mj-lt"/>
                <a:ea typeface="+mj-ea"/>
                <a:cs typeface="+mj-cs"/>
              </a:rPr>
              <a:t>File Handling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Operations 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Typical operations on a file are:</a:t>
            </a:r>
          </a:p>
          <a:p>
            <a:pPr lvl="1"/>
            <a:r>
              <a:rPr lang="en-GB" dirty="0"/>
              <a:t>Open : To open a file to store/retrieve data in it</a:t>
            </a:r>
          </a:p>
          <a:p>
            <a:pPr lvl="1"/>
            <a:r>
              <a:rPr lang="en-GB" dirty="0"/>
              <a:t>Read : The file is used as an input</a:t>
            </a:r>
          </a:p>
          <a:p>
            <a:pPr lvl="1"/>
            <a:r>
              <a:rPr lang="en-GB" dirty="0"/>
              <a:t>Write : The file is used as output</a:t>
            </a:r>
          </a:p>
          <a:p>
            <a:pPr lvl="1"/>
            <a:r>
              <a:rPr lang="en-GB" dirty="0"/>
              <a:t>Close : Preserve the file for a later use</a:t>
            </a:r>
          </a:p>
          <a:p>
            <a:pPr lvl="1"/>
            <a:r>
              <a:rPr lang="en-GB" dirty="0"/>
              <a:t>Access: Random accessing data in a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Handling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Include header file &lt;</a:t>
            </a:r>
            <a:r>
              <a:rPr lang="en-GB" sz="2800" dirty="0" err="1"/>
              <a:t>stdio.h</a:t>
            </a:r>
            <a:r>
              <a:rPr lang="en-GB" sz="2800" dirty="0"/>
              <a:t>&gt; to access all file handling utilities.</a:t>
            </a:r>
          </a:p>
          <a:p>
            <a:r>
              <a:rPr lang="en-GB" sz="2800" dirty="0"/>
              <a:t>A data type called FILE is there to create a pointer to a file. Sometimes also called a file stream.</a:t>
            </a:r>
            <a:br>
              <a:rPr lang="en-GB" sz="2800" dirty="0"/>
            </a:br>
            <a:endParaRPr lang="en-GB" sz="2800" dirty="0"/>
          </a:p>
          <a:p>
            <a:pPr lvl="1"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FILE *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; //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is a pointer to a</a:t>
            </a:r>
            <a:br>
              <a:rPr lang="en-GB" sz="2400" b="1" dirty="0">
                <a:latin typeface="Courier New" pitchFamily="49" charset="0"/>
                <a:cs typeface="Courier New" pitchFamily="49" charset="0"/>
              </a:rPr>
            </a:b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           // FILE structure</a:t>
            </a:r>
            <a:br>
              <a:rPr lang="en-GB" sz="2400" b="1" dirty="0">
                <a:latin typeface="Courier New" pitchFamily="49" charset="0"/>
                <a:cs typeface="Courier New" pitchFamily="49" charset="0"/>
              </a:rPr>
            </a:br>
            <a:endParaRPr lang="en-GB" sz="2400" dirty="0"/>
          </a:p>
          <a:p>
            <a:r>
              <a:rPr lang="en-GB" sz="2800" dirty="0"/>
              <a:t>To open a file, use </a:t>
            </a:r>
            <a:r>
              <a:rPr lang="en-GB" sz="2800" dirty="0" err="1"/>
              <a:t>fopen</a:t>
            </a:r>
            <a:r>
              <a:rPr lang="en-GB" sz="2800" dirty="0"/>
              <a:t>() function</a:t>
            </a:r>
          </a:p>
          <a:p>
            <a:pPr lvl="1"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FILE *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(char *filename, char *mode);</a:t>
            </a:r>
          </a:p>
          <a:p>
            <a:endParaRPr lang="en-GB" sz="2800" dirty="0"/>
          </a:p>
          <a:p>
            <a:r>
              <a:rPr lang="en-GB" sz="2800" dirty="0"/>
              <a:t>To close a file, use </a:t>
            </a:r>
            <a:r>
              <a:rPr lang="en-GB" sz="2800" dirty="0" err="1"/>
              <a:t>fclose</a:t>
            </a:r>
            <a:r>
              <a:rPr lang="en-GB" sz="2800" dirty="0"/>
              <a:t>() function</a:t>
            </a:r>
          </a:p>
          <a:p>
            <a:pPr lvl="1">
              <a:buNone/>
            </a:pP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(FILE *</a:t>
            </a:r>
            <a:r>
              <a:rPr lang="en-GB" sz="24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 err="1"/>
              <a:t>fopen</a:t>
            </a:r>
            <a:r>
              <a:rPr lang="en-GB" sz="2400" dirty="0"/>
              <a:t>(char *filename, char *mode)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688632"/>
          </a:xfrm>
        </p:spPr>
        <p:txBody>
          <a:bodyPr>
            <a:normAutofit/>
          </a:bodyPr>
          <a:lstStyle/>
          <a:p>
            <a:r>
              <a:rPr lang="en-GB" sz="2000" dirty="0"/>
              <a:t>The first argument is a string to characters indicating the name of the file to be opened.</a:t>
            </a:r>
          </a:p>
          <a:p>
            <a:r>
              <a:rPr lang="en-GB" sz="2000" dirty="0"/>
              <a:t>The second argument is to specify the mode of file opening. There are five file opening modes in C :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E362387-C024-4321-AD54-B8C8CD2FB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46608"/>
              </p:ext>
            </p:extLst>
          </p:nvPr>
        </p:nvGraphicFramePr>
        <p:xfrm>
          <a:off x="611560" y="2528801"/>
          <a:ext cx="8136904" cy="39965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5042">
                  <a:extLst>
                    <a:ext uri="{9D8B030D-6E8A-4147-A177-3AD203B41FA5}">
                      <a16:colId xmlns:a16="http://schemas.microsoft.com/office/drawing/2014/main" val="2278628645"/>
                    </a:ext>
                  </a:extLst>
                </a:gridCol>
                <a:gridCol w="7271862">
                  <a:extLst>
                    <a:ext uri="{9D8B030D-6E8A-4147-A177-3AD203B41FA5}">
                      <a16:colId xmlns:a16="http://schemas.microsoft.com/office/drawing/2014/main" val="2644400802"/>
                    </a:ext>
                  </a:extLst>
                </a:gridCol>
              </a:tblGrid>
              <a:tr h="44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"r"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Open file for input operations. The file must exist.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111587"/>
                  </a:ext>
                </a:extLst>
              </a:tr>
              <a:tr h="44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"w"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write: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Create an empty file for output operations. If a file with the same name already exists, its contents are discarded. 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18934"/>
                  </a:ext>
                </a:extLst>
              </a:tr>
              <a:tr h="44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"a"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append: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Open file for output at the end of a file. Output operations always write data at the end of the file, expanding it. The file is created if not exist.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0664166"/>
                  </a:ext>
                </a:extLst>
              </a:tr>
              <a:tr h="44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"r+"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read/update: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Open a file for update (both for input and output). The file must exist.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2895555"/>
                  </a:ext>
                </a:extLst>
              </a:tr>
              <a:tr h="6582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"w+"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write/update: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Create an empty file and open it for update (both for input and output). If a file with the same name already exists its contents are discarded and the file is treated as a new empty file.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7724728"/>
                  </a:ext>
                </a:extLst>
              </a:tr>
              <a:tr h="44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"a+"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append/update:</a:t>
                      </a:r>
                      <a:r>
                        <a:rPr lang="en-GB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Open a file for update (both for input and output) with all output operations writing data at the end of the file. The file is created if it does not exist.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31140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fopen</a:t>
            </a:r>
            <a:r>
              <a:rPr lang="en-GB" dirty="0"/>
              <a:t>() function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File opening error :</a:t>
            </a:r>
          </a:p>
          <a:p>
            <a:pPr lvl="1"/>
            <a:r>
              <a:rPr lang="en-GB" sz="3200" dirty="0"/>
              <a:t>Trying to read a file that does not exist. </a:t>
            </a:r>
          </a:p>
          <a:p>
            <a:pPr lvl="1"/>
            <a:r>
              <a:rPr lang="en-GB" sz="3200" dirty="0"/>
              <a:t>Trying to read a file that doesn’t have permission.</a:t>
            </a:r>
          </a:p>
          <a:p>
            <a:pPr lvl="1"/>
            <a:r>
              <a:rPr lang="en-GB" sz="3200" dirty="0"/>
              <a:t>If there is an error, </a:t>
            </a:r>
            <a:r>
              <a:rPr lang="en-GB" sz="3200" dirty="0" err="1"/>
              <a:t>fopen</a:t>
            </a:r>
            <a:r>
              <a:rPr lang="en-GB" sz="3200" dirty="0"/>
              <a:t>() returns NULL.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fopen</a:t>
            </a:r>
            <a:r>
              <a:rPr lang="en-GB" dirty="0"/>
              <a:t>()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stdlib.h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void main() 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char filename[]= "file01.txt";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filename,"w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== NULL) 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("Error creating file %s\n", filename);  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exit(-1);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else 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("Success creating file %s\n", filename);  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GB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Following functions in C are usually used for reading simple data from a file  :</a:t>
            </a:r>
          </a:p>
          <a:p>
            <a:pPr lvl="1"/>
            <a:r>
              <a:rPr lang="en-GB" dirty="0"/>
              <a:t>int </a:t>
            </a:r>
            <a:r>
              <a:rPr lang="en-GB" dirty="0" err="1"/>
              <a:t>fgetc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);</a:t>
            </a:r>
          </a:p>
          <a:p>
            <a:pPr lvl="1"/>
            <a:r>
              <a:rPr lang="en-GB" dirty="0"/>
              <a:t>int </a:t>
            </a:r>
            <a:r>
              <a:rPr lang="en-GB" dirty="0" err="1"/>
              <a:t>getc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);</a:t>
            </a:r>
          </a:p>
          <a:p>
            <a:pPr lvl="1"/>
            <a:r>
              <a:rPr lang="en-GB" dirty="0"/>
              <a:t>int </a:t>
            </a:r>
            <a:r>
              <a:rPr lang="en-GB" dirty="0" err="1"/>
              <a:t>ungetc</a:t>
            </a:r>
            <a:r>
              <a:rPr lang="en-GB" dirty="0"/>
              <a:t> ( int character, FILE * stream );</a:t>
            </a:r>
          </a:p>
          <a:p>
            <a:pPr lvl="1"/>
            <a:r>
              <a:rPr lang="en-GB" dirty="0"/>
              <a:t>int </a:t>
            </a:r>
            <a:r>
              <a:rPr lang="en-GB" dirty="0" err="1"/>
              <a:t>fscanf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, char *format, ...);</a:t>
            </a:r>
          </a:p>
          <a:p>
            <a:pPr lvl="1"/>
            <a:r>
              <a:rPr lang="en-GB" dirty="0"/>
              <a:t>char *</a:t>
            </a:r>
            <a:r>
              <a:rPr lang="en-GB" dirty="0" err="1"/>
              <a:t>fgets</a:t>
            </a:r>
            <a:r>
              <a:rPr lang="en-GB" dirty="0"/>
              <a:t>(char *s, int n, FILE *</a:t>
            </a:r>
            <a:r>
              <a:rPr lang="en-GB" dirty="0" err="1"/>
              <a:t>fptr</a:t>
            </a:r>
            <a:r>
              <a:rPr lang="en-GB" dirty="0"/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fgetc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dirty="0" err="1"/>
              <a:t>fgetc</a:t>
            </a:r>
            <a:r>
              <a:rPr lang="en-GB" dirty="0"/>
              <a:t>() function returns the next character in the stream </a:t>
            </a:r>
            <a:r>
              <a:rPr lang="en-GB" dirty="0" err="1"/>
              <a:t>fptr</a:t>
            </a:r>
            <a:r>
              <a:rPr lang="en-GB" dirty="0"/>
              <a:t>  as an unsigned char</a:t>
            </a:r>
          </a:p>
          <a:p>
            <a:r>
              <a:rPr lang="en-GB" dirty="0"/>
              <a:t>It returns the special value EOF, if end of file or error occurs. </a:t>
            </a:r>
          </a:p>
          <a:p>
            <a:pPr lvl="1"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c;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test.dat","r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lvl="1"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while ((c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fgetc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)) != EOF){</a:t>
            </a:r>
          </a:p>
          <a:p>
            <a:pPr lvl="1"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("%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c",c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fscanf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, char *format, ...);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fscanf</a:t>
            </a:r>
            <a:r>
              <a:rPr lang="en-GB" dirty="0"/>
              <a:t>() reads from the stream </a:t>
            </a:r>
            <a:r>
              <a:rPr lang="en-GB" dirty="0" err="1"/>
              <a:t>fptr</a:t>
            </a:r>
            <a:r>
              <a:rPr lang="en-GB" dirty="0"/>
              <a:t> under control of format and assigns converted values through subsequent assignments, each of which must be a pointer.</a:t>
            </a:r>
          </a:p>
          <a:p>
            <a:r>
              <a:rPr lang="en-GB" dirty="0"/>
              <a:t>It returns when format is exhausted.</a:t>
            </a:r>
          </a:p>
          <a:p>
            <a:r>
              <a:rPr lang="en-GB" dirty="0" err="1"/>
              <a:t>fscanf</a:t>
            </a:r>
            <a:r>
              <a:rPr lang="en-GB" dirty="0"/>
              <a:t>() returns EOF if end of file or an error occurs before any conversion.</a:t>
            </a:r>
          </a:p>
          <a:p>
            <a:r>
              <a:rPr lang="en-GB" dirty="0"/>
              <a:t> It returns the number of input items converted and assigned.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fscanf</a:t>
            </a:r>
            <a:r>
              <a:rPr lang="en-GB" dirty="0"/>
              <a:t>()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x,y,n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("test2.dat","r");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n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fscanf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,"%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d,%d",&amp;x,&amp;y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("x=%d, y=%d \n",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dirty="0"/>
              <a:t>char *</a:t>
            </a:r>
            <a:r>
              <a:rPr lang="en-GB" sz="2000" b="1" dirty="0" err="1"/>
              <a:t>fgets</a:t>
            </a:r>
            <a:r>
              <a:rPr lang="en-GB" sz="2000" b="1" dirty="0"/>
              <a:t>(char *s, </a:t>
            </a:r>
            <a:r>
              <a:rPr lang="en-GB" sz="2000" b="1" dirty="0" err="1"/>
              <a:t>int</a:t>
            </a:r>
            <a:r>
              <a:rPr lang="en-GB" sz="2000" b="1" dirty="0"/>
              <a:t> n, FILE *</a:t>
            </a:r>
            <a:r>
              <a:rPr lang="en-GB" sz="2000" b="1" dirty="0" err="1"/>
              <a:t>fptr</a:t>
            </a:r>
            <a:r>
              <a:rPr lang="en-GB" sz="2000" b="1" dirty="0"/>
              <a:t>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b="1" dirty="0"/>
              <a:t>s</a:t>
            </a:r>
            <a:r>
              <a:rPr lang="en-GB" dirty="0"/>
              <a:t> 	- The array where the characters will be stored.</a:t>
            </a:r>
          </a:p>
          <a:p>
            <a:pPr>
              <a:buNone/>
            </a:pPr>
            <a:r>
              <a:rPr lang="en-GB" b="1" dirty="0"/>
              <a:t>n</a:t>
            </a:r>
            <a:r>
              <a:rPr lang="en-GB" dirty="0"/>
              <a:t> 	- The size of s.</a:t>
            </a:r>
          </a:p>
          <a:p>
            <a:pPr>
              <a:buNone/>
            </a:pPr>
            <a:r>
              <a:rPr lang="en-GB" b="1" dirty="0" err="1"/>
              <a:t>fptr</a:t>
            </a:r>
            <a:r>
              <a:rPr lang="en-GB" dirty="0"/>
              <a:t> - The file stream to read.</a:t>
            </a:r>
          </a:p>
          <a:p>
            <a:endParaRPr lang="en-GB" dirty="0"/>
          </a:p>
          <a:p>
            <a:r>
              <a:rPr lang="en-GB" dirty="0" err="1"/>
              <a:t>fgets</a:t>
            </a:r>
            <a:r>
              <a:rPr lang="en-GB" dirty="0"/>
              <a:t>()  reads at most n-1 characters into the array  </a:t>
            </a:r>
            <a:r>
              <a:rPr lang="en-GB" b="1" dirty="0"/>
              <a:t>s</a:t>
            </a:r>
            <a:r>
              <a:rPr lang="en-GB" dirty="0"/>
              <a:t>, stopping if a newline is encountered.</a:t>
            </a:r>
          </a:p>
          <a:p>
            <a:r>
              <a:rPr lang="en-GB" dirty="0"/>
              <a:t>The newline is included in the array, which is terminated by ‘\0’.</a:t>
            </a:r>
          </a:p>
          <a:p>
            <a:r>
              <a:rPr lang="en-GB" dirty="0"/>
              <a:t>The </a:t>
            </a:r>
            <a:r>
              <a:rPr lang="en-GB" dirty="0" err="1"/>
              <a:t>fgets</a:t>
            </a:r>
            <a:r>
              <a:rPr lang="en-GB" dirty="0"/>
              <a:t>() function returns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 </a:t>
            </a:r>
          </a:p>
          <a:p>
            <a:r>
              <a:rPr lang="en-GB" dirty="0"/>
              <a:t>If an error occurs, it returns NULL;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fgets</a:t>
            </a:r>
            <a:r>
              <a:rPr lang="en-GB" dirty="0"/>
              <a:t>()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char line [100];</a:t>
            </a:r>
          </a:p>
          <a:p>
            <a:pPr>
              <a:buNone/>
            </a:pPr>
            <a:endParaRPr lang="en-GB" sz="2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test.dat","r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fgets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(line,100,fptr) != NULL){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("Line: %s\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n",line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into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Following functions in C are usually used for writing simple data into a file :</a:t>
            </a:r>
          </a:p>
          <a:p>
            <a:pPr lvl="1"/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fputc</a:t>
            </a:r>
            <a:r>
              <a:rPr lang="fr-FR" dirty="0"/>
              <a:t>(</a:t>
            </a:r>
            <a:r>
              <a:rPr lang="fr-FR" dirty="0" err="1"/>
              <a:t>int</a:t>
            </a:r>
            <a:r>
              <a:rPr lang="fr-FR" dirty="0"/>
              <a:t> c, FILE *</a:t>
            </a:r>
            <a:r>
              <a:rPr lang="fr-FR" dirty="0" err="1"/>
              <a:t>fptr</a:t>
            </a:r>
            <a:r>
              <a:rPr lang="fr-FR" dirty="0"/>
              <a:t>);</a:t>
            </a:r>
            <a:endParaRPr lang="en-GB" dirty="0"/>
          </a:p>
          <a:p>
            <a:pPr lvl="1"/>
            <a:r>
              <a:rPr lang="en-GB" dirty="0"/>
              <a:t>int </a:t>
            </a:r>
            <a:r>
              <a:rPr lang="en-GB" dirty="0" err="1"/>
              <a:t>fprintf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, char *format,...);</a:t>
            </a:r>
          </a:p>
          <a:p>
            <a:pPr lvl="1"/>
            <a:r>
              <a:rPr lang="en-GB" dirty="0"/>
              <a:t> int </a:t>
            </a:r>
            <a:r>
              <a:rPr lang="en-GB" dirty="0" err="1"/>
              <a:t>fputs</a:t>
            </a:r>
            <a:r>
              <a:rPr lang="en-GB" dirty="0"/>
              <a:t>(char *s, FILE *</a:t>
            </a:r>
            <a:r>
              <a:rPr lang="en-GB" dirty="0" err="1"/>
              <a:t>fptr</a:t>
            </a:r>
            <a:r>
              <a:rPr lang="en-GB" dirty="0"/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fputc</a:t>
            </a:r>
            <a:r>
              <a:rPr lang="fr-FR" dirty="0"/>
              <a:t>(</a:t>
            </a:r>
            <a:r>
              <a:rPr lang="fr-FR" dirty="0" err="1"/>
              <a:t>int</a:t>
            </a:r>
            <a:r>
              <a:rPr lang="fr-FR" dirty="0"/>
              <a:t> c, FILE *</a:t>
            </a:r>
            <a:r>
              <a:rPr lang="fr-FR" dirty="0" err="1"/>
              <a:t>fptr</a:t>
            </a:r>
            <a:r>
              <a:rPr lang="fr-FR" dirty="0"/>
              <a:t>);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</a:t>
            </a:r>
            <a:r>
              <a:rPr lang="en-GB" dirty="0" err="1"/>
              <a:t>fputc</a:t>
            </a:r>
            <a:r>
              <a:rPr lang="en-GB" dirty="0"/>
              <a:t>() function writes the character c to file </a:t>
            </a:r>
            <a:r>
              <a:rPr lang="en-GB" dirty="0" err="1"/>
              <a:t>fptr</a:t>
            </a:r>
            <a:r>
              <a:rPr lang="en-GB" dirty="0"/>
              <a:t> and returns the character written, or EOF if an error occurs. 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char s[]="Hello!";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("test3.txt","w");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&lt; 6;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fputc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(s[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],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 err="1"/>
              <a:t>int</a:t>
            </a:r>
            <a:r>
              <a:rPr lang="en-GB" sz="2000" dirty="0"/>
              <a:t> </a:t>
            </a:r>
            <a:r>
              <a:rPr lang="en-GB" sz="2000" dirty="0" err="1"/>
              <a:t>fprintf</a:t>
            </a:r>
            <a:r>
              <a:rPr lang="en-GB" sz="2000" dirty="0"/>
              <a:t>(FILE *</a:t>
            </a:r>
            <a:r>
              <a:rPr lang="en-GB" sz="2000" dirty="0" err="1"/>
              <a:t>fptr</a:t>
            </a:r>
            <a:r>
              <a:rPr lang="en-GB" sz="2000" dirty="0"/>
              <a:t>, char *format,...);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fprintf</a:t>
            </a:r>
            <a:r>
              <a:rPr lang="en-GB" dirty="0"/>
              <a:t>() formats and writes output to the </a:t>
            </a:r>
            <a:r>
              <a:rPr lang="en-GB" dirty="0" err="1"/>
              <a:t>fptr</a:t>
            </a:r>
            <a:r>
              <a:rPr lang="en-GB" dirty="0"/>
              <a:t> stream </a:t>
            </a:r>
            <a:r>
              <a:rPr lang="en-GB" dirty="0" err="1"/>
              <a:t>fptr</a:t>
            </a:r>
            <a:r>
              <a:rPr lang="en-GB" dirty="0"/>
              <a:t> under the control of format string. </a:t>
            </a:r>
          </a:p>
          <a:p>
            <a:r>
              <a:rPr lang="en-GB" dirty="0"/>
              <a:t>The function is identical to the </a:t>
            </a:r>
            <a:r>
              <a:rPr lang="en-GB" dirty="0" err="1"/>
              <a:t>printf</a:t>
            </a:r>
            <a:r>
              <a:rPr lang="en-GB" dirty="0"/>
              <a:t>() function except the first argument which is a file pointer that specifies the file to be written.</a:t>
            </a:r>
          </a:p>
          <a:p>
            <a:r>
              <a:rPr lang="en-GB" dirty="0"/>
              <a:t>The </a:t>
            </a:r>
            <a:r>
              <a:rPr lang="en-GB" dirty="0" err="1"/>
              <a:t>fprintf</a:t>
            </a:r>
            <a:r>
              <a:rPr lang="en-GB" dirty="0"/>
              <a:t>() returns the number of characters written, or negative if an error occur.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fprintf</a:t>
            </a:r>
            <a:r>
              <a:rPr lang="en-GB" dirty="0"/>
              <a:t>()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 FILE *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("test6.txt", "w");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, "Number is %d\n", 123);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28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sz="28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fputs</a:t>
            </a:r>
            <a:r>
              <a:rPr lang="en-GB" dirty="0"/>
              <a:t>(char *s, FILE *</a:t>
            </a:r>
            <a:r>
              <a:rPr lang="en-GB" dirty="0" err="1"/>
              <a:t>fptr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</a:t>
            </a:r>
            <a:r>
              <a:rPr lang="en-GB" dirty="0" err="1"/>
              <a:t>fputs</a:t>
            </a:r>
            <a:r>
              <a:rPr lang="en-GB" dirty="0"/>
              <a:t>() function writes a string (which need not contain a newline) to a file. </a:t>
            </a:r>
          </a:p>
          <a:p>
            <a:r>
              <a:rPr lang="en-GB" dirty="0"/>
              <a:t>It returns non-negative, or EOF if an error occurs.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("test7.txt", "w");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fputs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("Hello World!",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 File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When a C program is started, the operating system environment is responsible for opening three files and providing file pointers for them. These files are :</a:t>
            </a:r>
          </a:p>
          <a:p>
            <a:pPr lvl="1"/>
            <a:r>
              <a:rPr lang="en-GB" b="1" dirty="0" err="1"/>
              <a:t>stdin</a:t>
            </a:r>
            <a:r>
              <a:rPr lang="en-GB" dirty="0"/>
              <a:t> - Standard input. Normally it is connected to keyboard</a:t>
            </a:r>
          </a:p>
          <a:p>
            <a:pPr lvl="1"/>
            <a:r>
              <a:rPr lang="en-GB" b="1" dirty="0" err="1"/>
              <a:t>stdout</a:t>
            </a:r>
            <a:r>
              <a:rPr lang="en-GB" dirty="0"/>
              <a:t> - Standard output, In general, it is connected to display screen</a:t>
            </a:r>
          </a:p>
          <a:p>
            <a:pPr lvl="1"/>
            <a:r>
              <a:rPr lang="en-GB" b="1" dirty="0" err="1"/>
              <a:t>stderr</a:t>
            </a:r>
            <a:r>
              <a:rPr lang="en-GB" dirty="0"/>
              <a:t> - It is also an output stream and usually assigned to a program in the same way that </a:t>
            </a:r>
            <a:r>
              <a:rPr lang="en-GB" dirty="0" err="1"/>
              <a:t>stdin</a:t>
            </a:r>
            <a:r>
              <a:rPr lang="en-GB" dirty="0"/>
              <a:t> and </a:t>
            </a:r>
            <a:r>
              <a:rPr lang="en-GB" dirty="0" err="1"/>
              <a:t>stderr</a:t>
            </a:r>
            <a:r>
              <a:rPr lang="en-GB" dirty="0"/>
              <a:t> are. Output written on </a:t>
            </a:r>
            <a:r>
              <a:rPr lang="en-GB" dirty="0" err="1"/>
              <a:t>stderr</a:t>
            </a:r>
            <a:r>
              <a:rPr lang="en-GB" dirty="0"/>
              <a:t> normally appears on the screen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Special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following pairs of statements are identical: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stdout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, "Hello!");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("Hello!");</a:t>
            </a:r>
          </a:p>
          <a:p>
            <a:pPr lvl="1">
              <a:buNone/>
            </a:pPr>
            <a:endParaRPr lang="en-GB" dirty="0"/>
          </a:p>
          <a:p>
            <a:pPr lvl="1">
              <a:buNone/>
            </a:pPr>
            <a:r>
              <a:rPr lang="en-GB" dirty="0"/>
              <a:t>and</a:t>
            </a:r>
          </a:p>
          <a:p>
            <a:pPr lvl="1">
              <a:buNone/>
            </a:pP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fscanf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stdin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,"%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d",&amp;x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("%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d",&amp;x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stderr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happens if the errors are not shown in the screen instead if it's going into a file or into another program via a pipeline.</a:t>
            </a:r>
          </a:p>
          <a:p>
            <a:r>
              <a:rPr lang="en-GB" dirty="0"/>
              <a:t>To handle this situation, a second output stream, called </a:t>
            </a:r>
            <a:r>
              <a:rPr lang="en-GB" dirty="0" err="1"/>
              <a:t>stderr</a:t>
            </a:r>
            <a:r>
              <a:rPr lang="en-GB" dirty="0"/>
              <a:t>, is assigned to a program in the same way that </a:t>
            </a:r>
            <a:r>
              <a:rPr lang="en-GB" dirty="0" err="1"/>
              <a:t>stdin</a:t>
            </a:r>
            <a:r>
              <a:rPr lang="en-GB" dirty="0"/>
              <a:t> and </a:t>
            </a:r>
            <a:r>
              <a:rPr lang="en-GB" dirty="0" err="1"/>
              <a:t>stdout</a:t>
            </a:r>
            <a:r>
              <a:rPr lang="en-GB" dirty="0"/>
              <a:t> are. </a:t>
            </a:r>
          </a:p>
          <a:p>
            <a:r>
              <a:rPr lang="en-GB" dirty="0"/>
              <a:t>Output written on </a:t>
            </a:r>
            <a:r>
              <a:rPr lang="en-GB" dirty="0" err="1"/>
              <a:t>stderr</a:t>
            </a:r>
            <a:r>
              <a:rPr lang="en-GB" dirty="0"/>
              <a:t> normally appears on the screen even if the standard output is redirected.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stderr</a:t>
            </a:r>
            <a:r>
              <a:rPr lang="en-GB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("test8.txt", "w");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if 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== NULL){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stderr,"Error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opening test.txt");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else 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, "Hello!");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3BD0-AAC9-4F72-A2A3-3BE60A8B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int </a:t>
            </a:r>
            <a:r>
              <a:rPr lang="en-GB" dirty="0" err="1"/>
              <a:t>feof</a:t>
            </a:r>
            <a:r>
              <a:rPr lang="en-GB" dirty="0"/>
              <a:t>(FILE *</a:t>
            </a:r>
            <a:r>
              <a:rPr lang="en-GB" dirty="0" err="1"/>
              <a:t>fptr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6CD7-EF55-4CB3-8FEF-D2B0129F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/>
              <a:t>feof</a:t>
            </a:r>
            <a:r>
              <a:rPr lang="en-GB" dirty="0"/>
              <a:t>() returns true when End-of-File indicator associated with the file is set, else false is returned.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FILE *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char line [1000];</a:t>
            </a:r>
          </a:p>
          <a:p>
            <a:pPr>
              <a:buNone/>
            </a:pP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("test.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dat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","r");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while (!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feof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)){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fgets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(line,1000,fptr);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("Line %s\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n",line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GB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);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307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8CAD-1939-4F68-975A-436D020FE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 </a:t>
            </a:r>
            <a:r>
              <a:rPr lang="en-GB" dirty="0" err="1"/>
              <a:t>fseek</a:t>
            </a:r>
            <a:r>
              <a:rPr lang="en-GB" dirty="0"/>
              <a:t> ( FILE * </a:t>
            </a:r>
            <a:r>
              <a:rPr lang="en-GB" dirty="0" err="1"/>
              <a:t>fptr</a:t>
            </a:r>
            <a:r>
              <a:rPr lang="en-GB" dirty="0"/>
              <a:t>, long int offset, int origin );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50B1-B0B0-42B4-BF0D-93BEB360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Sets the current file position a new position.</a:t>
            </a:r>
          </a:p>
          <a:p>
            <a:r>
              <a:rPr lang="en-GB" dirty="0"/>
              <a:t>New position is defined by adding offset to a reference position specified by origin.</a:t>
            </a:r>
          </a:p>
          <a:p>
            <a:r>
              <a:rPr lang="en-GB" dirty="0"/>
              <a:t>Parameters</a:t>
            </a:r>
          </a:p>
          <a:p>
            <a:pPr lvl="1"/>
            <a:r>
              <a:rPr lang="en-GB" dirty="0" err="1"/>
              <a:t>fptr</a:t>
            </a:r>
            <a:endParaRPr lang="en-GB" dirty="0"/>
          </a:p>
          <a:p>
            <a:pPr lvl="2"/>
            <a:r>
              <a:rPr lang="en-GB" dirty="0"/>
              <a:t>Pointer to a FILE object return by </a:t>
            </a:r>
            <a:r>
              <a:rPr lang="en-GB" dirty="0" err="1"/>
              <a:t>fopen</a:t>
            </a:r>
            <a:r>
              <a:rPr lang="en-GB" dirty="0"/>
              <a:t>().</a:t>
            </a:r>
          </a:p>
          <a:p>
            <a:pPr lvl="1"/>
            <a:r>
              <a:rPr lang="en-GB" dirty="0"/>
              <a:t>offset</a:t>
            </a:r>
          </a:p>
          <a:p>
            <a:pPr lvl="2"/>
            <a:r>
              <a:rPr lang="en-GB" dirty="0"/>
              <a:t>Number of bytes to offset from origin.</a:t>
            </a:r>
          </a:p>
          <a:p>
            <a:pPr lvl="1"/>
            <a:r>
              <a:rPr lang="en-GB" dirty="0"/>
              <a:t>origin</a:t>
            </a:r>
          </a:p>
          <a:p>
            <a:pPr lvl="2"/>
            <a:r>
              <a:rPr lang="en-GB" dirty="0"/>
              <a:t>Position used as reference for the offset.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303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01B2-F331-4585-97B7-77D164DD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 </a:t>
            </a:r>
            <a:r>
              <a:rPr lang="en-GB" dirty="0" err="1"/>
              <a:t>fseek</a:t>
            </a:r>
            <a:r>
              <a:rPr lang="en-GB" dirty="0"/>
              <a:t> ( FILE * </a:t>
            </a:r>
            <a:r>
              <a:rPr lang="en-GB" dirty="0" err="1"/>
              <a:t>fptr</a:t>
            </a:r>
            <a:r>
              <a:rPr lang="en-GB" dirty="0"/>
              <a:t>, long int offset, int origin );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453454-999C-4326-81E0-A4F65D1DC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Origin :</a:t>
            </a:r>
          </a:p>
          <a:p>
            <a:endParaRPr lang="en-GB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03DA24BF-084E-4E3D-865C-9F19BD8BD2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6923324"/>
              </p:ext>
            </p:extLst>
          </p:nvPr>
        </p:nvGraphicFramePr>
        <p:xfrm>
          <a:off x="179388" y="1800344"/>
          <a:ext cx="8785224" cy="2011936"/>
        </p:xfrm>
        <a:graphic>
          <a:graphicData uri="http://schemas.openxmlformats.org/drawingml/2006/table">
            <a:tbl>
              <a:tblPr firstRow="1" firstCol="1" bandRow="1"/>
              <a:tblGrid>
                <a:gridCol w="2684817">
                  <a:extLst>
                    <a:ext uri="{9D8B030D-6E8A-4147-A177-3AD203B41FA5}">
                      <a16:colId xmlns:a16="http://schemas.microsoft.com/office/drawing/2014/main" val="3160869808"/>
                    </a:ext>
                  </a:extLst>
                </a:gridCol>
                <a:gridCol w="6100407">
                  <a:extLst>
                    <a:ext uri="{9D8B030D-6E8A-4147-A177-3AD203B41FA5}">
                      <a16:colId xmlns:a16="http://schemas.microsoft.com/office/drawing/2014/main" val="180854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  <a:endParaRPr lang="en-GB" sz="2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position</a:t>
                      </a:r>
                      <a:endParaRPr lang="en-GB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9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SEEK_SET</a:t>
                      </a:r>
                      <a:endParaRPr lang="en-GB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Beginning of file</a:t>
                      </a:r>
                      <a:endParaRPr lang="en-GB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737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SEEK_CUR</a:t>
                      </a:r>
                      <a:endParaRPr lang="en-GB" sz="2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position of the file pointer</a:t>
                      </a:r>
                      <a:endParaRPr lang="en-GB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85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SEEK_END</a:t>
                      </a:r>
                      <a:endParaRPr lang="en-GB" sz="2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3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End of file *</a:t>
                      </a:r>
                      <a:endParaRPr lang="en-GB" sz="2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714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789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fseek</a:t>
            </a:r>
            <a:r>
              <a:rPr lang="en-GB" dirty="0"/>
              <a:t>()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endParaRPr lang="en-GB" sz="2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void main(){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 FILE *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fopen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( "example.txt" , "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rb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+" );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fseek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, 9 , SEEK_SET );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fputs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( "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sam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" ,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fclose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GB" sz="2600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en-GB" sz="26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>
              <a:buNone/>
            </a:pPr>
            <a:r>
              <a:rPr lang="en-GB" sz="26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778348116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ow2">
      <a:majorFont>
        <a:latin typeface="Rockwel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ow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University Standard</Template>
  <TotalTime>0</TotalTime>
  <Words>1808</Words>
  <Application>Microsoft Office PowerPoint</Application>
  <PresentationFormat>On-screen Show (4:3)</PresentationFormat>
  <Paragraphs>221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Courier New</vt:lpstr>
      <vt:lpstr>Helvetica</vt:lpstr>
      <vt:lpstr>Rockwell</vt:lpstr>
      <vt:lpstr>University Standard</vt:lpstr>
      <vt:lpstr>PowerPoint Presentation</vt:lpstr>
      <vt:lpstr>Operations on Files</vt:lpstr>
      <vt:lpstr>File Handling Commands</vt:lpstr>
      <vt:lpstr>fopen(char *filename, char *mode)</vt:lpstr>
      <vt:lpstr>fopen() function error</vt:lpstr>
      <vt:lpstr>fopen() example</vt:lpstr>
      <vt:lpstr>Reading from a File</vt:lpstr>
      <vt:lpstr>int fgetc(FILE *fptr);</vt:lpstr>
      <vt:lpstr>int fscanf(FILE *fptr, char *format, ...);</vt:lpstr>
      <vt:lpstr>fscanf() Example</vt:lpstr>
      <vt:lpstr>char *fgets(char *s, int n, FILE *fptr);</vt:lpstr>
      <vt:lpstr>fgets() Example</vt:lpstr>
      <vt:lpstr>Writing into a File</vt:lpstr>
      <vt:lpstr>int fputc(int c, FILE *fptr);</vt:lpstr>
      <vt:lpstr>int fprintf(FILE *fptr, char *format,...);</vt:lpstr>
      <vt:lpstr>fprintf() Example</vt:lpstr>
      <vt:lpstr> int fputs(char *s, FILE *fptr)</vt:lpstr>
      <vt:lpstr>Special File Streams</vt:lpstr>
      <vt:lpstr>Special Streams</vt:lpstr>
      <vt:lpstr>stderr</vt:lpstr>
      <vt:lpstr>stderr Example</vt:lpstr>
      <vt:lpstr> int feof(FILE *fptr)</vt:lpstr>
      <vt:lpstr>int fseek ( FILE * fptr, long int offset, int origin );</vt:lpstr>
      <vt:lpstr>int fseek ( FILE * fptr, long int offset, int origin );</vt:lpstr>
      <vt:lpstr>fseek()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2018-09-28T12:08:05Z</dcterms:created>
  <dcterms:modified xsi:type="dcterms:W3CDTF">2022-10-19T10:08:06Z</dcterms:modified>
</cp:coreProperties>
</file>