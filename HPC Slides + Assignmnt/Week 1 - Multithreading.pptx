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284" r:id="rId3"/>
    <p:sldId id="285" r:id="rId4"/>
    <p:sldId id="318" r:id="rId5"/>
    <p:sldId id="314" r:id="rId6"/>
    <p:sldId id="315" r:id="rId7"/>
    <p:sldId id="316" r:id="rId8"/>
    <p:sldId id="317" r:id="rId9"/>
    <p:sldId id="324" r:id="rId10"/>
    <p:sldId id="269" r:id="rId11"/>
    <p:sldId id="325" r:id="rId12"/>
    <p:sldId id="326" r:id="rId13"/>
    <p:sldId id="270" r:id="rId14"/>
    <p:sldId id="272" r:id="rId15"/>
    <p:sldId id="271" r:id="rId16"/>
    <p:sldId id="273" r:id="rId17"/>
    <p:sldId id="319" r:id="rId18"/>
    <p:sldId id="320" r:id="rId19"/>
    <p:sldId id="321" r:id="rId20"/>
    <p:sldId id="322" r:id="rId21"/>
    <p:sldId id="323" r:id="rId22"/>
    <p:sldId id="327" r:id="rId23"/>
    <p:sldId id="286" r:id="rId24"/>
    <p:sldId id="257" r:id="rId25"/>
    <p:sldId id="287" r:id="rId26"/>
    <p:sldId id="288" r:id="rId27"/>
    <p:sldId id="289" r:id="rId28"/>
    <p:sldId id="290" r:id="rId29"/>
    <p:sldId id="291" r:id="rId30"/>
    <p:sldId id="275" r:id="rId31"/>
    <p:sldId id="329" r:id="rId32"/>
    <p:sldId id="276" r:id="rId33"/>
    <p:sldId id="277" r:id="rId34"/>
    <p:sldId id="278" r:id="rId35"/>
    <p:sldId id="279" r:id="rId36"/>
    <p:sldId id="280" r:id="rId37"/>
    <p:sldId id="281" r:id="rId38"/>
    <p:sldId id="282" r:id="rId39"/>
    <p:sldId id="292" r:id="rId40"/>
    <p:sldId id="283" r:id="rId41"/>
  </p:sldIdLst>
  <p:sldSz cx="12192000" cy="6858000"/>
  <p:notesSz cx="6797675" cy="9926638"/>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2C8CF475-34CE-4AF9-BFC0-AADEC6D930FD}">
          <p14:sldIdLst>
            <p14:sldId id="256"/>
            <p14:sldId id="284"/>
            <p14:sldId id="285"/>
            <p14:sldId id="318"/>
            <p14:sldId id="314"/>
            <p14:sldId id="315"/>
            <p14:sldId id="316"/>
            <p14:sldId id="317"/>
            <p14:sldId id="324"/>
            <p14:sldId id="269"/>
            <p14:sldId id="325"/>
            <p14:sldId id="326"/>
            <p14:sldId id="270"/>
            <p14:sldId id="272"/>
            <p14:sldId id="271"/>
            <p14:sldId id="273"/>
            <p14:sldId id="319"/>
            <p14:sldId id="320"/>
            <p14:sldId id="321"/>
            <p14:sldId id="322"/>
            <p14:sldId id="323"/>
            <p14:sldId id="327"/>
            <p14:sldId id="286"/>
            <p14:sldId id="257"/>
            <p14:sldId id="287"/>
            <p14:sldId id="288"/>
            <p14:sldId id="289"/>
            <p14:sldId id="290"/>
            <p14:sldId id="291"/>
            <p14:sldId id="275"/>
            <p14:sldId id="329"/>
            <p14:sldId id="276"/>
            <p14:sldId id="277"/>
            <p14:sldId id="278"/>
            <p14:sldId id="279"/>
            <p14:sldId id="280"/>
            <p14:sldId id="281"/>
            <p14:sldId id="282"/>
            <p14:sldId id="292"/>
            <p14:sldId id="28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098">
          <p15:clr>
            <a:srgbClr val="A4A3A4"/>
          </p15:clr>
        </p15:guide>
        <p15:guide id="3"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B18"/>
    <a:srgbClr val="FEE814"/>
    <a:srgbClr val="660066"/>
    <a:srgbClr val="CC0099"/>
    <a:srgbClr val="200029"/>
    <a:srgbClr val="1A00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283B7D-7AEE-4407-9608-4358BF2446CF}" v="3" dt="2022-10-31T11:00:19.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1379" autoAdjust="0"/>
  </p:normalViewPr>
  <p:slideViewPr>
    <p:cSldViewPr>
      <p:cViewPr varScale="1">
        <p:scale>
          <a:sx n="65" d="100"/>
          <a:sy n="65" d="100"/>
        </p:scale>
        <p:origin x="978" y="66"/>
      </p:cViewPr>
      <p:guideLst>
        <p:guide orient="horz" pos="2160"/>
        <p:guide pos="3840"/>
      </p:guideLst>
    </p:cSldViewPr>
  </p:slideViewPr>
  <p:outlineViewPr>
    <p:cViewPr>
      <p:scale>
        <a:sx n="33" d="100"/>
        <a:sy n="33" d="100"/>
      </p:scale>
      <p:origin x="0" y="1766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406" y="-90"/>
      </p:cViewPr>
      <p:guideLst>
        <p:guide orient="horz" pos="3126"/>
        <p:guide pos="2098"/>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46083" name="Rectangle 3"/>
          <p:cNvSpPr>
            <a:spLocks noGrp="1" noChangeArrowheads="1"/>
          </p:cNvSpPr>
          <p:nvPr>
            <p:ph type="dt" sz="quarter"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46084" name="Rectangle 4"/>
          <p:cNvSpPr>
            <a:spLocks noGrp="1" noChangeArrowheads="1"/>
          </p:cNvSpPr>
          <p:nvPr>
            <p:ph type="ftr" sz="quarter" idx="2"/>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46085" name="Rectangle 5"/>
          <p:cNvSpPr>
            <a:spLocks noGrp="1" noChangeArrowheads="1"/>
          </p:cNvSpPr>
          <p:nvPr>
            <p:ph type="sldNum" sz="quarter" idx="3"/>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DFF9B02-B511-41B7-B86E-BB5F03402011}" type="slidenum">
              <a:rPr lang="en-GB"/>
              <a:pPr>
                <a:defRPr/>
              </a:pPr>
              <a:t>‹#›</a:t>
            </a:fld>
            <a:endParaRPr lang="en-GB"/>
          </a:p>
        </p:txBody>
      </p:sp>
    </p:spTree>
    <p:extLst>
      <p:ext uri="{BB962C8B-B14F-4D97-AF65-F5344CB8AC3E}">
        <p14:creationId xmlns:p14="http://schemas.microsoft.com/office/powerpoint/2010/main" val="20000521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1" y="0"/>
            <a:ext cx="2946145"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51203" name="Rectangle 3"/>
          <p:cNvSpPr>
            <a:spLocks noGrp="1" noChangeArrowheads="1"/>
          </p:cNvSpPr>
          <p:nvPr>
            <p:ph type="dt" idx="1"/>
          </p:nvPr>
        </p:nvSpPr>
        <p:spPr bwMode="auto">
          <a:xfrm>
            <a:off x="3849911" y="0"/>
            <a:ext cx="2946144" cy="496888"/>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4340"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680254" y="4714876"/>
            <a:ext cx="5437168" cy="4467225"/>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51206" name="Rectangle 6"/>
          <p:cNvSpPr>
            <a:spLocks noGrp="1" noChangeArrowheads="1"/>
          </p:cNvSpPr>
          <p:nvPr>
            <p:ph type="ftr" sz="quarter" idx="4"/>
          </p:nvPr>
        </p:nvSpPr>
        <p:spPr bwMode="auto">
          <a:xfrm>
            <a:off x="1" y="9428164"/>
            <a:ext cx="2946145"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51207" name="Rectangle 7"/>
          <p:cNvSpPr>
            <a:spLocks noGrp="1" noChangeArrowheads="1"/>
          </p:cNvSpPr>
          <p:nvPr>
            <p:ph type="sldNum" sz="quarter" idx="5"/>
          </p:nvPr>
        </p:nvSpPr>
        <p:spPr bwMode="auto">
          <a:xfrm>
            <a:off x="3849911" y="9428164"/>
            <a:ext cx="2946144" cy="496887"/>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C91629A-89CF-4C2C-9865-CC6C32D5498C}" type="slidenum">
              <a:rPr lang="en-GB"/>
              <a:pPr>
                <a:defRPr/>
              </a:pPr>
              <a:t>‹#›</a:t>
            </a:fld>
            <a:endParaRPr lang="en-GB"/>
          </a:p>
        </p:txBody>
      </p:sp>
    </p:spTree>
    <p:extLst>
      <p:ext uri="{BB962C8B-B14F-4D97-AF65-F5344CB8AC3E}">
        <p14:creationId xmlns:p14="http://schemas.microsoft.com/office/powerpoint/2010/main" val="40788705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charset="0"/>
              </a:defRPr>
            </a:lvl1pPr>
            <a:lvl2pPr marL="742950" indent="-285750" eaLnBrk="0" hangingPunct="0">
              <a:spcBef>
                <a:spcPct val="30000"/>
              </a:spcBef>
              <a:defRPr sz="1200">
                <a:solidFill>
                  <a:schemeClr val="tx1"/>
                </a:solidFill>
                <a:latin typeface="Times New Roman" charset="0"/>
              </a:defRPr>
            </a:lvl2pPr>
            <a:lvl3pPr marL="1143000" indent="-228600" eaLnBrk="0" hangingPunct="0">
              <a:spcBef>
                <a:spcPct val="30000"/>
              </a:spcBef>
              <a:defRPr sz="1200">
                <a:solidFill>
                  <a:schemeClr val="tx1"/>
                </a:solidFill>
                <a:latin typeface="Times New Roman" charset="0"/>
              </a:defRPr>
            </a:lvl3pPr>
            <a:lvl4pPr marL="1600200" indent="-228600" eaLnBrk="0" hangingPunct="0">
              <a:spcBef>
                <a:spcPct val="30000"/>
              </a:spcBef>
              <a:defRPr sz="1200">
                <a:solidFill>
                  <a:schemeClr val="tx1"/>
                </a:solidFill>
                <a:latin typeface="Times New Roman" charset="0"/>
              </a:defRPr>
            </a:lvl4pPr>
            <a:lvl5pPr marL="2057400" indent="-228600" eaLnBrk="0" hangingPunct="0">
              <a:spcBef>
                <a:spcPct val="30000"/>
              </a:spcBef>
              <a:defRPr sz="1200">
                <a:solidFill>
                  <a:schemeClr val="tx1"/>
                </a:solidFill>
                <a:latin typeface="Times New Roman" charset="0"/>
              </a:defRPr>
            </a:lvl5pPr>
            <a:lvl6pPr marL="2514600" indent="-228600" eaLnBrk="0" fontAlgn="base" hangingPunct="0">
              <a:spcBef>
                <a:spcPct val="30000"/>
              </a:spcBef>
              <a:spcAft>
                <a:spcPct val="0"/>
              </a:spcAft>
              <a:defRPr sz="1200">
                <a:solidFill>
                  <a:schemeClr val="tx1"/>
                </a:solidFill>
                <a:latin typeface="Times New Roman" charset="0"/>
              </a:defRPr>
            </a:lvl6pPr>
            <a:lvl7pPr marL="2971800" indent="-228600" eaLnBrk="0" fontAlgn="base" hangingPunct="0">
              <a:spcBef>
                <a:spcPct val="30000"/>
              </a:spcBef>
              <a:spcAft>
                <a:spcPct val="0"/>
              </a:spcAft>
              <a:defRPr sz="1200">
                <a:solidFill>
                  <a:schemeClr val="tx1"/>
                </a:solidFill>
                <a:latin typeface="Times New Roman" charset="0"/>
              </a:defRPr>
            </a:lvl7pPr>
            <a:lvl8pPr marL="3429000" indent="-228600" eaLnBrk="0" fontAlgn="base" hangingPunct="0">
              <a:spcBef>
                <a:spcPct val="30000"/>
              </a:spcBef>
              <a:spcAft>
                <a:spcPct val="0"/>
              </a:spcAft>
              <a:defRPr sz="1200">
                <a:solidFill>
                  <a:schemeClr val="tx1"/>
                </a:solidFill>
                <a:latin typeface="Times New Roman" charset="0"/>
              </a:defRPr>
            </a:lvl8pPr>
            <a:lvl9pPr marL="3886200" indent="-228600" eaLnBrk="0" fontAlgn="base" hangingPunct="0">
              <a:spcBef>
                <a:spcPct val="30000"/>
              </a:spcBef>
              <a:spcAft>
                <a:spcPct val="0"/>
              </a:spcAft>
              <a:defRPr sz="1200">
                <a:solidFill>
                  <a:schemeClr val="tx1"/>
                </a:solidFill>
                <a:latin typeface="Times New Roman" charset="0"/>
              </a:defRPr>
            </a:lvl9pPr>
          </a:lstStyle>
          <a:p>
            <a:pPr>
              <a:spcBef>
                <a:spcPct val="0"/>
              </a:spcBef>
            </a:pPr>
            <a:fld id="{7E6E67AB-B099-44AE-9600-0FB31E25BC39}" type="slidenum">
              <a:rPr lang="en-US" altLang="en-US" smtClean="0"/>
              <a:pPr>
                <a:spcBef>
                  <a:spcPct val="0"/>
                </a:spcBef>
              </a:pPr>
              <a:t>3</a:t>
            </a:fld>
            <a:endParaRPr lang="en-US" alt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Running – either executing or ready to execute (made out of two states)</a:t>
            </a:r>
          </a:p>
          <a:p>
            <a:r>
              <a:rPr lang="en-US" altLang="en-US" dirty="0"/>
              <a:t>Interruptible – this is a blocked state, in which the process is waiting for an event, such as the end of an I/O operation, the availability of a resource or a signal from another process</a:t>
            </a:r>
          </a:p>
          <a:p>
            <a:r>
              <a:rPr lang="en-US" altLang="en-US" dirty="0"/>
              <a:t>Uninterruptible – this is another blocked state. The difference between this and the previous is that here a process is waiting directly on hardware conditions and therefore will not accept any signals. </a:t>
            </a:r>
          </a:p>
          <a:p>
            <a:r>
              <a:rPr lang="en-US" altLang="en-US" dirty="0"/>
              <a:t>Stopped – the process has been halted and can be resumed only by positive action from another process (i.e. a process that is being debugged can be stopped by another process- the debugger). </a:t>
            </a:r>
          </a:p>
          <a:p>
            <a:r>
              <a:rPr lang="en-US" altLang="en-US" dirty="0"/>
              <a:t>Zombie – process has been terminated but still must have its task structure in the task list (process table).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00C823-C4CA-44E0-BBF7-0478E4D1D300}" type="slidenum">
              <a:rPr lang="en-US" smtClean="0"/>
              <a:t>5</a:t>
            </a:fld>
            <a:endParaRPr lang="en-US"/>
          </a:p>
        </p:txBody>
      </p:sp>
    </p:spTree>
    <p:extLst>
      <p:ext uri="{BB962C8B-B14F-4D97-AF65-F5344CB8AC3E}">
        <p14:creationId xmlns:p14="http://schemas.microsoft.com/office/powerpoint/2010/main" val="4072579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00C823-C4CA-44E0-BBF7-0478E4D1D300}" type="slidenum">
              <a:rPr lang="en-US" smtClean="0"/>
              <a:t>6</a:t>
            </a:fld>
            <a:endParaRPr lang="en-US"/>
          </a:p>
        </p:txBody>
      </p:sp>
    </p:spTree>
    <p:extLst>
      <p:ext uri="{BB962C8B-B14F-4D97-AF65-F5344CB8AC3E}">
        <p14:creationId xmlns:p14="http://schemas.microsoft.com/office/powerpoint/2010/main" val="2330443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00C823-C4CA-44E0-BBF7-0478E4D1D300}" type="slidenum">
              <a:rPr lang="en-US" smtClean="0"/>
              <a:t>7</a:t>
            </a:fld>
            <a:endParaRPr lang="en-US"/>
          </a:p>
        </p:txBody>
      </p:sp>
    </p:spTree>
    <p:extLst>
      <p:ext uri="{BB962C8B-B14F-4D97-AF65-F5344CB8AC3E}">
        <p14:creationId xmlns:p14="http://schemas.microsoft.com/office/powerpoint/2010/main" val="4259331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C91629A-89CF-4C2C-9865-CC6C32D5498C}" type="slidenum">
              <a:rPr lang="en-GB" smtClean="0"/>
              <a:pPr>
                <a:defRPr/>
              </a:pPr>
              <a:t>17</a:t>
            </a:fld>
            <a:endParaRPr lang="en-GB"/>
          </a:p>
        </p:txBody>
      </p:sp>
    </p:spTree>
    <p:extLst>
      <p:ext uri="{BB962C8B-B14F-4D97-AF65-F5344CB8AC3E}">
        <p14:creationId xmlns:p14="http://schemas.microsoft.com/office/powerpoint/2010/main" val="2322281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527381" y="2512922"/>
            <a:ext cx="10363200" cy="1470025"/>
          </a:xfrm>
        </p:spPr>
        <p:txBody>
          <a:bodyPr/>
          <a:lstStyle>
            <a:lvl1pPr algn="l">
              <a:defRPr b="1" baseline="0">
                <a:solidFill>
                  <a:srgbClr val="FFC000"/>
                </a:solidFill>
              </a:defRPr>
            </a:lvl1pPr>
          </a:lstStyle>
          <a:p>
            <a:pPr lvl="0"/>
            <a:r>
              <a:rPr lang="en-US" noProof="0" dirty="0"/>
              <a:t>Click to edit Master title style</a:t>
            </a:r>
            <a:endParaRPr lang="en-GB" noProof="0" dirty="0"/>
          </a:p>
        </p:txBody>
      </p:sp>
      <p:sp>
        <p:nvSpPr>
          <p:cNvPr id="4099" name="Rectangle 3"/>
          <p:cNvSpPr>
            <a:spLocks noGrp="1" noChangeArrowheads="1"/>
          </p:cNvSpPr>
          <p:nvPr>
            <p:ph type="subTitle" idx="1"/>
          </p:nvPr>
        </p:nvSpPr>
        <p:spPr>
          <a:xfrm>
            <a:off x="527381" y="4268688"/>
            <a:ext cx="8534400" cy="1752600"/>
          </a:xfrm>
        </p:spPr>
        <p:txBody>
          <a:bodyPr/>
          <a:lstStyle>
            <a:lvl1pPr marL="0" indent="0" algn="l">
              <a:buFontTx/>
              <a:buNone/>
              <a:defRPr baseline="0">
                <a:solidFill>
                  <a:srgbClr val="FFC000"/>
                </a:solidFill>
                <a:latin typeface="Rockwell" pitchFamily="18" charset="0"/>
              </a:defRPr>
            </a:lvl1pPr>
          </a:lstStyle>
          <a:p>
            <a:pPr lvl="0"/>
            <a:r>
              <a:rPr lang="en-US" noProof="0" dirty="0"/>
              <a:t>Click to edit Master subtitle style</a:t>
            </a:r>
            <a:endParaRPr lang="en-GB" noProof="0" dirty="0"/>
          </a:p>
        </p:txBody>
      </p:sp>
    </p:spTree>
    <p:extLst>
      <p:ext uri="{BB962C8B-B14F-4D97-AF65-F5344CB8AC3E}">
        <p14:creationId xmlns:p14="http://schemas.microsoft.com/office/powerpoint/2010/main" val="23158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11690" y="188639"/>
            <a:ext cx="7063769" cy="576064"/>
          </a:xfrm>
        </p:spPr>
        <p:txBody>
          <a:bodyPr/>
          <a:lstStyle>
            <a:lvl1pPr>
              <a:defRPr sz="2800" baseline="0">
                <a:solidFill>
                  <a:srgbClr val="FFC000"/>
                </a:solidFill>
              </a:defRPr>
            </a:lvl1pPr>
          </a:lstStyle>
          <a:p>
            <a:r>
              <a:rPr lang="en-US" dirty="0"/>
              <a:t>Click to edit Master title style</a:t>
            </a:r>
            <a:endParaRPr lang="en-GB" dirty="0"/>
          </a:p>
        </p:txBody>
      </p:sp>
      <p:sp>
        <p:nvSpPr>
          <p:cNvPr id="3" name="Content Placeholder 2"/>
          <p:cNvSpPr>
            <a:spLocks noGrp="1"/>
          </p:cNvSpPr>
          <p:nvPr>
            <p:ph idx="1"/>
          </p:nvPr>
        </p:nvSpPr>
        <p:spPr>
          <a:xfrm>
            <a:off x="239350" y="1052737"/>
            <a:ext cx="11713301" cy="56166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86154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2"/>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78" indent="0">
              <a:buNone/>
              <a:defRPr sz="1800"/>
            </a:lvl2pPr>
            <a:lvl3pPr marL="914355" indent="0">
              <a:buNone/>
              <a:defRPr sz="1600"/>
            </a:lvl3pPr>
            <a:lvl4pPr marL="1371532" indent="0">
              <a:buNone/>
              <a:defRPr sz="1400"/>
            </a:lvl4pPr>
            <a:lvl5pPr marL="1828709" indent="0">
              <a:buNone/>
              <a:defRPr sz="1400"/>
            </a:lvl5pPr>
            <a:lvl6pPr marL="2285886" indent="0">
              <a:buNone/>
              <a:defRPr sz="1400"/>
            </a:lvl6pPr>
            <a:lvl7pPr marL="2743064" indent="0">
              <a:buNone/>
              <a:defRPr sz="1400"/>
            </a:lvl7pPr>
            <a:lvl8pPr marL="3200240" indent="0">
              <a:buNone/>
              <a:defRPr sz="1400"/>
            </a:lvl8pPr>
            <a:lvl9pPr marL="3657418" indent="0">
              <a:buNone/>
              <a:defRPr sz="1400"/>
            </a:lvl9pPr>
          </a:lstStyle>
          <a:p>
            <a:pPr lvl="0"/>
            <a:r>
              <a:rPr lang="en-US"/>
              <a:t>Click to edit Master text styles</a:t>
            </a:r>
          </a:p>
        </p:txBody>
      </p:sp>
    </p:spTree>
    <p:extLst>
      <p:ext uri="{BB962C8B-B14F-4D97-AF65-F5344CB8AC3E}">
        <p14:creationId xmlns:p14="http://schemas.microsoft.com/office/powerpoint/2010/main" val="234873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1817" y="1940981"/>
            <a:ext cx="11233151" cy="1143000"/>
          </a:xfrm>
        </p:spPr>
        <p:txBody>
          <a:bodyPr/>
          <a:lstStyle/>
          <a:p>
            <a:r>
              <a:rPr lang="en-US"/>
              <a:t>Click to edit Master title style</a:t>
            </a:r>
            <a:endParaRPr lang="en-GB"/>
          </a:p>
        </p:txBody>
      </p:sp>
      <p:sp>
        <p:nvSpPr>
          <p:cNvPr id="3" name="Content Placeholder 2"/>
          <p:cNvSpPr>
            <a:spLocks noGrp="1"/>
          </p:cNvSpPr>
          <p:nvPr>
            <p:ph sz="half" idx="1"/>
          </p:nvPr>
        </p:nvSpPr>
        <p:spPr>
          <a:xfrm>
            <a:off x="431800" y="2852248"/>
            <a:ext cx="5513917"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48934" y="2852248"/>
            <a:ext cx="5516033"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9127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513913"/>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2774390"/>
            <a:ext cx="5386917"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3414149"/>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78" y="2774390"/>
            <a:ext cx="5389033" cy="639763"/>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8" y="3414149"/>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758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1774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305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7" y="1594874"/>
            <a:ext cx="4011084" cy="1162051"/>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159488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17" y="2756932"/>
            <a:ext cx="4011084" cy="46910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44096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2"/>
            <a:ext cx="7315200" cy="566739"/>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1604803"/>
            <a:ext cx="7315200" cy="3122777"/>
          </a:xfrm>
        </p:spPr>
        <p:txBody>
          <a:bodyPr/>
          <a:lstStyle>
            <a:lvl1pPr marL="0" indent="0">
              <a:buNone/>
              <a:defRPr sz="3200"/>
            </a:lvl1pPr>
            <a:lvl2pPr marL="457178" indent="0">
              <a:buNone/>
              <a:defRPr sz="2800"/>
            </a:lvl2pPr>
            <a:lvl3pPr marL="914355" indent="0">
              <a:buNone/>
              <a:defRPr sz="2400"/>
            </a:lvl3pPr>
            <a:lvl4pPr marL="1371532" indent="0">
              <a:buNone/>
              <a:defRPr sz="2000"/>
            </a:lvl4pPr>
            <a:lvl5pPr marL="1828709" indent="0">
              <a:buNone/>
              <a:defRPr sz="2000"/>
            </a:lvl5pPr>
            <a:lvl6pPr marL="2285886" indent="0">
              <a:buNone/>
              <a:defRPr sz="2000"/>
            </a:lvl6pPr>
            <a:lvl7pPr marL="2743064" indent="0">
              <a:buNone/>
              <a:defRPr sz="2000"/>
            </a:lvl7pPr>
            <a:lvl8pPr marL="3200240" indent="0">
              <a:buNone/>
              <a:defRPr sz="2000"/>
            </a:lvl8pPr>
            <a:lvl9pPr marL="3657418"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46"/>
            <a:ext cx="7315200" cy="804863"/>
          </a:xfrm>
        </p:spPr>
        <p:txBody>
          <a:bodyPr/>
          <a:lstStyle>
            <a:lvl1pPr marL="0" indent="0">
              <a:buNone/>
              <a:defRPr sz="1400"/>
            </a:lvl1pPr>
            <a:lvl2pPr marL="457178" indent="0">
              <a:buNone/>
              <a:defRPr sz="1200"/>
            </a:lvl2pPr>
            <a:lvl3pPr marL="914355" indent="0">
              <a:buNone/>
              <a:defRPr sz="1000"/>
            </a:lvl3pPr>
            <a:lvl4pPr marL="1371532" indent="0">
              <a:buNone/>
              <a:defRPr sz="900"/>
            </a:lvl4pPr>
            <a:lvl5pPr marL="1828709" indent="0">
              <a:buNone/>
              <a:defRPr sz="900"/>
            </a:lvl5pPr>
            <a:lvl6pPr marL="2285886" indent="0">
              <a:buNone/>
              <a:defRPr sz="900"/>
            </a:lvl6pPr>
            <a:lvl7pPr marL="2743064" indent="0">
              <a:buNone/>
              <a:defRPr sz="900"/>
            </a:lvl7pPr>
            <a:lvl8pPr marL="3200240" indent="0">
              <a:buNone/>
              <a:defRPr sz="900"/>
            </a:lvl8pPr>
            <a:lvl9pPr marL="3657418" indent="0">
              <a:buNone/>
              <a:defRPr sz="900"/>
            </a:lvl9pPr>
          </a:lstStyle>
          <a:p>
            <a:pPr lvl="0"/>
            <a:r>
              <a:rPr lang="en-US"/>
              <a:t>Click to edit Master text styles</a:t>
            </a:r>
          </a:p>
        </p:txBody>
      </p:sp>
    </p:spTree>
    <p:extLst>
      <p:ext uri="{BB962C8B-B14F-4D97-AF65-F5344CB8AC3E}">
        <p14:creationId xmlns:p14="http://schemas.microsoft.com/office/powerpoint/2010/main" val="316653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11389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58267" y="990603"/>
            <a:ext cx="2806700" cy="54625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31800" y="990603"/>
            <a:ext cx="8223251" cy="5462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60258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60126"/>
            <a:ext cx="10515600" cy="637198"/>
          </a:xfrm>
        </p:spPr>
        <p:txBody>
          <a:bodyPr anchor="b">
            <a:noAutofit/>
          </a:bodyPr>
          <a:lstStyle>
            <a:lvl1pPr>
              <a:defRPr sz="2700" b="1" i="0" cap="none" normalizeH="0" baseline="0">
                <a:solidFill>
                  <a:srgbClr val="000000"/>
                </a:solidFill>
                <a:latin typeface="Arial Black" charset="0"/>
                <a:ea typeface="Arial Black" charset="0"/>
                <a:cs typeface="Arial Black" charset="0"/>
              </a:defRPr>
            </a:lvl1pPr>
          </a:lstStyle>
          <a:p>
            <a:r>
              <a:rPr lang="en-US"/>
              <a:t>CLICK TO EDIT MASTER TITLE STYLE</a:t>
            </a:r>
          </a:p>
        </p:txBody>
      </p:sp>
      <p:sp>
        <p:nvSpPr>
          <p:cNvPr id="3" name="Content Placeholder 2"/>
          <p:cNvSpPr>
            <a:spLocks noGrp="1"/>
          </p:cNvSpPr>
          <p:nvPr>
            <p:ph idx="1"/>
          </p:nvPr>
        </p:nvSpPr>
        <p:spPr>
          <a:xfrm>
            <a:off x="838200" y="1644163"/>
            <a:ext cx="10515600" cy="4532801"/>
          </a:xfrm>
        </p:spPr>
        <p:txBody>
          <a:bodyPr/>
          <a:lstStyle>
            <a:lvl1pPr>
              <a:spcBef>
                <a:spcPts val="750"/>
              </a:spcBef>
              <a:buClr>
                <a:srgbClr val="3359EC"/>
              </a:buClr>
              <a:defRPr b="0" i="0">
                <a:solidFill>
                  <a:srgbClr val="000000"/>
                </a:solidFill>
                <a:latin typeface="Arial" charset="0"/>
                <a:ea typeface="Arial" charset="0"/>
                <a:cs typeface="Arial" charset="0"/>
              </a:defRPr>
            </a:lvl1pPr>
            <a:lvl2pPr>
              <a:spcBef>
                <a:spcPts val="750"/>
              </a:spcBef>
              <a:buClr>
                <a:srgbClr val="3359EC"/>
              </a:buClr>
              <a:defRPr b="0" i="0">
                <a:solidFill>
                  <a:srgbClr val="000000"/>
                </a:solidFill>
                <a:latin typeface="Arial" charset="0"/>
                <a:ea typeface="Arial" charset="0"/>
                <a:cs typeface="Arial" charset="0"/>
              </a:defRPr>
            </a:lvl2pPr>
            <a:lvl3pPr>
              <a:spcBef>
                <a:spcPts val="750"/>
              </a:spcBef>
              <a:buClr>
                <a:srgbClr val="3359EC"/>
              </a:buClr>
              <a:defRPr b="0" i="0">
                <a:solidFill>
                  <a:srgbClr val="000000"/>
                </a:solidFill>
                <a:latin typeface="Arial" charset="0"/>
                <a:ea typeface="Arial" charset="0"/>
                <a:cs typeface="Arial" charset="0"/>
              </a:defRPr>
            </a:lvl3pPr>
            <a:lvl4pPr>
              <a:spcBef>
                <a:spcPts val="750"/>
              </a:spcBef>
              <a:buClr>
                <a:srgbClr val="3359EC"/>
              </a:buClr>
              <a:defRPr b="0" i="0">
                <a:solidFill>
                  <a:srgbClr val="000000"/>
                </a:solidFill>
                <a:latin typeface="Arial" charset="0"/>
                <a:ea typeface="Arial" charset="0"/>
                <a:cs typeface="Arial" charset="0"/>
              </a:defRPr>
            </a:lvl4pPr>
            <a:lvl5pPr>
              <a:spcBef>
                <a:spcPts val="750"/>
              </a:spcBef>
              <a:buClr>
                <a:srgbClr val="3359EC"/>
              </a:buClr>
              <a:defRPr b="0" i="0">
                <a:solidFill>
                  <a:srgbClr val="000000"/>
                </a:solidFill>
                <a:latin typeface="Arial" charset="0"/>
                <a:ea typeface="Arial" charset="0"/>
                <a:cs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3"/>
          </p:nvPr>
        </p:nvSpPr>
        <p:spPr>
          <a:xfrm>
            <a:off x="3742594" y="6356351"/>
            <a:ext cx="470681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levelaccess.com   </a:t>
            </a:r>
            <a:r>
              <a:rPr lang="en-US" b="1"/>
              <a:t> </a:t>
            </a:r>
            <a:r>
              <a:rPr lang="en-US" b="1">
                <a:solidFill>
                  <a:srgbClr val="5CD344"/>
                </a:solidFill>
              </a:rPr>
              <a:t>|</a:t>
            </a:r>
            <a:r>
              <a:rPr lang="en-US" b="1">
                <a:solidFill>
                  <a:srgbClr val="00D81A"/>
                </a:solidFill>
              </a:rPr>
              <a:t> </a:t>
            </a:r>
            <a:r>
              <a:rPr lang="en-US" b="1"/>
              <a:t>   </a:t>
            </a:r>
            <a:r>
              <a:rPr lang="en-US"/>
              <a:t>(</a:t>
            </a:r>
            <a:r>
              <a:rPr lang="de-DE"/>
              <a:t>800) 899-9659    </a:t>
            </a:r>
            <a:r>
              <a:rPr lang="en-US" b="1">
                <a:solidFill>
                  <a:srgbClr val="5CD344"/>
                </a:solidFill>
              </a:rPr>
              <a:t>|</a:t>
            </a:r>
            <a:r>
              <a:rPr lang="en-US"/>
              <a:t>    info@levelaccess.com</a:t>
            </a:r>
          </a:p>
        </p:txBody>
      </p:sp>
      <p:sp>
        <p:nvSpPr>
          <p:cNvPr id="8" name="Slide Number Placeholder 5"/>
          <p:cNvSpPr>
            <a:spLocks noGrp="1"/>
          </p:cNvSpPr>
          <p:nvPr>
            <p:ph type="sldNum" sz="quarter" idx="4"/>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030EA8A-DA75-3443-B9EE-A63E33F4F203}" type="slidenum">
              <a:rPr lang="en-US" smtClean="0"/>
              <a:pPr/>
              <a:t>‹#›</a:t>
            </a:fld>
            <a:endParaRPr lang="en-US"/>
          </a:p>
        </p:txBody>
      </p:sp>
      <p:sp>
        <p:nvSpPr>
          <p:cNvPr id="11" name="Subtitle 2"/>
          <p:cNvSpPr>
            <a:spLocks noGrp="1"/>
          </p:cNvSpPr>
          <p:nvPr>
            <p:ph type="subTitle" idx="10"/>
          </p:nvPr>
        </p:nvSpPr>
        <p:spPr>
          <a:xfrm>
            <a:off x="838200" y="1107373"/>
            <a:ext cx="10515600" cy="369276"/>
          </a:xfrm>
        </p:spPr>
        <p:txBody>
          <a:bodyPr anchor="ctr"/>
          <a:lstStyle>
            <a:lvl1pPr marL="0" indent="0" algn="l">
              <a:buNone/>
              <a:defRPr sz="1800" b="0" i="1">
                <a:solidFill>
                  <a:srgbClr val="000000"/>
                </a:solidFill>
                <a:latin typeface="Arial" charset="0"/>
                <a:ea typeface="Arial" charset="0"/>
                <a:cs typeface="Arial"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pic>
        <p:nvPicPr>
          <p:cNvPr id="12" name="Picture 11" descr="Level Access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05537" y="6302169"/>
            <a:ext cx="1048265" cy="419306"/>
          </a:xfrm>
          <a:prstGeom prst="rect">
            <a:avLst/>
          </a:prstGeom>
        </p:spPr>
      </p:pic>
      <p:sp>
        <p:nvSpPr>
          <p:cNvPr id="9" name="Rectangle 8"/>
          <p:cNvSpPr/>
          <p:nvPr userDrawn="1"/>
        </p:nvSpPr>
        <p:spPr>
          <a:xfrm>
            <a:off x="718038" y="1474177"/>
            <a:ext cx="10755927" cy="45719"/>
          </a:xfrm>
          <a:prstGeom prst="rect">
            <a:avLst/>
          </a:prstGeom>
          <a:solidFill>
            <a:srgbClr val="5DD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Regular" charset="0"/>
            </a:endParaRPr>
          </a:p>
        </p:txBody>
      </p:sp>
    </p:spTree>
    <p:extLst>
      <p:ext uri="{BB962C8B-B14F-4D97-AF65-F5344CB8AC3E}">
        <p14:creationId xmlns:p14="http://schemas.microsoft.com/office/powerpoint/2010/main" val="137637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31817" y="980728"/>
            <a:ext cx="998466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2051" name="Rectangle 3"/>
          <p:cNvSpPr>
            <a:spLocks noGrp="1" noChangeArrowheads="1"/>
          </p:cNvSpPr>
          <p:nvPr>
            <p:ph type="body" idx="1"/>
          </p:nvPr>
        </p:nvSpPr>
        <p:spPr bwMode="auto">
          <a:xfrm>
            <a:off x="431817" y="1628801"/>
            <a:ext cx="11233151"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 bg1="lt1" tx1="dk1" bg2="lt2" tx2="dk2" accent1="accent1" accent2="accent2" accent3="accent3" accent4="accent4" accent5="accent5" accent6="accent6" hlink="hlink" folHlink="folHlink"/>
  <p:sldLayoutIdLst>
    <p:sldLayoutId id="2147483983"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4" r:id="rId12"/>
  </p:sldLayoutIdLst>
  <p:txStyles>
    <p:titleStyle>
      <a:lvl1pPr algn="l" rtl="0" eaLnBrk="1" fontAlgn="base" hangingPunct="1">
        <a:spcBef>
          <a:spcPct val="0"/>
        </a:spcBef>
        <a:spcAft>
          <a:spcPct val="0"/>
        </a:spcAft>
        <a:defRPr sz="360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Rockwell" pitchFamily="18" charset="0"/>
        </a:defRPr>
      </a:lvl2pPr>
      <a:lvl3pPr algn="l" rtl="0" eaLnBrk="1" fontAlgn="base" hangingPunct="1">
        <a:spcBef>
          <a:spcPct val="0"/>
        </a:spcBef>
        <a:spcAft>
          <a:spcPct val="0"/>
        </a:spcAft>
        <a:defRPr sz="3600">
          <a:solidFill>
            <a:schemeClr val="tx2"/>
          </a:solidFill>
          <a:latin typeface="Rockwell" pitchFamily="18" charset="0"/>
        </a:defRPr>
      </a:lvl3pPr>
      <a:lvl4pPr algn="l" rtl="0" eaLnBrk="1" fontAlgn="base" hangingPunct="1">
        <a:spcBef>
          <a:spcPct val="0"/>
        </a:spcBef>
        <a:spcAft>
          <a:spcPct val="0"/>
        </a:spcAft>
        <a:defRPr sz="3600">
          <a:solidFill>
            <a:schemeClr val="tx2"/>
          </a:solidFill>
          <a:latin typeface="Rockwell" pitchFamily="18" charset="0"/>
        </a:defRPr>
      </a:lvl4pPr>
      <a:lvl5pPr algn="l" rtl="0" eaLnBrk="1" fontAlgn="base" hangingPunct="1">
        <a:spcBef>
          <a:spcPct val="0"/>
        </a:spcBef>
        <a:spcAft>
          <a:spcPct val="0"/>
        </a:spcAft>
        <a:defRPr sz="3600">
          <a:solidFill>
            <a:schemeClr val="tx2"/>
          </a:solidFill>
          <a:latin typeface="Rockwell" pitchFamily="18" charset="0"/>
        </a:defRPr>
      </a:lvl5pPr>
      <a:lvl6pPr marL="457178" algn="l" rtl="0" eaLnBrk="1" fontAlgn="base" hangingPunct="1">
        <a:spcBef>
          <a:spcPct val="0"/>
        </a:spcBef>
        <a:spcAft>
          <a:spcPct val="0"/>
        </a:spcAft>
        <a:defRPr sz="3600">
          <a:solidFill>
            <a:schemeClr val="tx2"/>
          </a:solidFill>
          <a:latin typeface="Rockwell" pitchFamily="18" charset="0"/>
        </a:defRPr>
      </a:lvl6pPr>
      <a:lvl7pPr marL="914355" algn="l" rtl="0" eaLnBrk="1" fontAlgn="base" hangingPunct="1">
        <a:spcBef>
          <a:spcPct val="0"/>
        </a:spcBef>
        <a:spcAft>
          <a:spcPct val="0"/>
        </a:spcAft>
        <a:defRPr sz="3600">
          <a:solidFill>
            <a:schemeClr val="tx2"/>
          </a:solidFill>
          <a:latin typeface="Rockwell" pitchFamily="18" charset="0"/>
        </a:defRPr>
      </a:lvl7pPr>
      <a:lvl8pPr marL="1371532" algn="l" rtl="0" eaLnBrk="1" fontAlgn="base" hangingPunct="1">
        <a:spcBef>
          <a:spcPct val="0"/>
        </a:spcBef>
        <a:spcAft>
          <a:spcPct val="0"/>
        </a:spcAft>
        <a:defRPr sz="3600">
          <a:solidFill>
            <a:schemeClr val="tx2"/>
          </a:solidFill>
          <a:latin typeface="Rockwell" pitchFamily="18" charset="0"/>
        </a:defRPr>
      </a:lvl8pPr>
      <a:lvl9pPr marL="1828709" algn="l" rtl="0" eaLnBrk="1" fontAlgn="base" hangingPunct="1">
        <a:spcBef>
          <a:spcPct val="0"/>
        </a:spcBef>
        <a:spcAft>
          <a:spcPct val="0"/>
        </a:spcAft>
        <a:defRPr sz="3600">
          <a:solidFill>
            <a:schemeClr val="tx2"/>
          </a:solidFill>
          <a:latin typeface="Rockwell" pitchFamily="18" charset="0"/>
        </a:defRPr>
      </a:lvl9pPr>
    </p:titleStyle>
    <p:body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kumimoji="1" lang="en-GB" sz="4400" dirty="0">
                <a:effectLst>
                  <a:outerShdw blurRad="38100" dist="38100" dir="2700000" algn="tl">
                    <a:srgbClr val="000000">
                      <a:alpha val="43137"/>
                    </a:srgbClr>
                  </a:outerShdw>
                </a:effectLst>
              </a:rPr>
              <a:t>6CS005 High Performance Computing</a:t>
            </a:r>
            <a:endParaRPr lang="en-GB" sz="44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normAutofit/>
          </a:bodyPr>
          <a:lstStyle/>
          <a:p>
            <a:r>
              <a:rPr lang="en-GB" dirty="0"/>
              <a:t>Week 1 Multithreading Revision</a:t>
            </a:r>
            <a:endParaRPr lang="en-US" dirty="0"/>
          </a:p>
        </p:txBody>
      </p:sp>
    </p:spTree>
    <p:extLst>
      <p:ext uri="{BB962C8B-B14F-4D97-AF65-F5344CB8AC3E}">
        <p14:creationId xmlns:p14="http://schemas.microsoft.com/office/powerpoint/2010/main" val="3682989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Multitasking?</a:t>
            </a:r>
          </a:p>
        </p:txBody>
      </p:sp>
      <p:sp>
        <p:nvSpPr>
          <p:cNvPr id="3" name="Content Placeholder 2"/>
          <p:cNvSpPr>
            <a:spLocks noGrp="1"/>
          </p:cNvSpPr>
          <p:nvPr>
            <p:ph idx="1"/>
          </p:nvPr>
        </p:nvSpPr>
        <p:spPr/>
        <p:txBody>
          <a:bodyPr/>
          <a:lstStyle/>
          <a:p>
            <a:r>
              <a:rPr lang="en-GB" dirty="0"/>
              <a:t>Multitasking is running multiple programs at the same time a single operating system.</a:t>
            </a:r>
          </a:p>
          <a:p>
            <a:r>
              <a:rPr lang="en-GB" dirty="0"/>
              <a:t>On a single-core CPU computer, only one task/program is running at any one time on the CPU.</a:t>
            </a:r>
          </a:p>
          <a:p>
            <a:r>
              <a:rPr lang="en-GB" dirty="0"/>
              <a:t>At predetermined intervals, the operating system pauses the current task, saves its state and loads another task into the CPU an runs it.</a:t>
            </a:r>
          </a:p>
          <a:p>
            <a:r>
              <a:rPr lang="en-GB" dirty="0"/>
              <a:t>This is called context-switching.</a:t>
            </a:r>
          </a:p>
        </p:txBody>
      </p:sp>
    </p:spTree>
    <p:extLst>
      <p:ext uri="{BB962C8B-B14F-4D97-AF65-F5344CB8AC3E}">
        <p14:creationId xmlns:p14="http://schemas.microsoft.com/office/powerpoint/2010/main" val="4057431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311690" y="188639"/>
            <a:ext cx="7063769" cy="576064"/>
          </a:xfrm>
        </p:spPr>
        <p:txBody>
          <a:bodyPr wrap="square" anchor="ctr">
            <a:normAutofit/>
          </a:bodyPr>
          <a:lstStyle/>
          <a:p>
            <a:pPr eaLnBrk="1" hangingPunct="1"/>
            <a:r>
              <a:rPr lang="en-US" altLang="en-US"/>
              <a:t>Process States</a:t>
            </a:r>
          </a:p>
        </p:txBody>
      </p:sp>
      <p:pic>
        <p:nvPicPr>
          <p:cNvPr id="69635" name="Picture 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248997" y="1052737"/>
            <a:ext cx="7694007" cy="56166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6019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Flynn’s Taxonomy on Parallelism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6325" y="1131888"/>
            <a:ext cx="10039350" cy="5457825"/>
          </a:xfrm>
        </p:spPr>
      </p:pic>
    </p:spTree>
    <p:extLst>
      <p:ext uri="{BB962C8B-B14F-4D97-AF65-F5344CB8AC3E}">
        <p14:creationId xmlns:p14="http://schemas.microsoft.com/office/powerpoint/2010/main" val="239383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Single Instruction, Single Data (SISD)</a:t>
            </a:r>
          </a:p>
        </p:txBody>
      </p:sp>
      <p:sp>
        <p:nvSpPr>
          <p:cNvPr id="3" name="Content Placeholder 2"/>
          <p:cNvSpPr>
            <a:spLocks noGrp="1"/>
          </p:cNvSpPr>
          <p:nvPr>
            <p:ph idx="1"/>
          </p:nvPr>
        </p:nvSpPr>
        <p:spPr/>
        <p:txBody>
          <a:bodyPr>
            <a:normAutofit/>
          </a:bodyPr>
          <a:lstStyle/>
          <a:p>
            <a:endParaRPr lang="en-US" dirty="0"/>
          </a:p>
          <a:p>
            <a:r>
              <a:rPr lang="en-US" dirty="0"/>
              <a:t>Provides no parallelism in hardware</a:t>
            </a:r>
          </a:p>
          <a:p>
            <a:endParaRPr lang="en-US" dirty="0"/>
          </a:p>
          <a:p>
            <a:r>
              <a:rPr lang="en-US" dirty="0"/>
              <a:t>1 data stream processed by the CPU in </a:t>
            </a:r>
            <a:br>
              <a:rPr lang="en-US" dirty="0"/>
            </a:br>
            <a:r>
              <a:rPr lang="en-US" dirty="0"/>
              <a:t>1 clock cycle</a:t>
            </a:r>
          </a:p>
          <a:p>
            <a:pPr marL="0" indent="0">
              <a:buNone/>
            </a:pPr>
            <a:endParaRPr lang="en-US" dirty="0"/>
          </a:p>
          <a:p>
            <a:r>
              <a:rPr lang="en-US" dirty="0"/>
              <a:t>Instructions executed in serial fashion</a:t>
            </a:r>
          </a:p>
          <a:p>
            <a:endParaRPr lang="en-US" dirty="0"/>
          </a:p>
        </p:txBody>
      </p:sp>
      <p:pic>
        <p:nvPicPr>
          <p:cNvPr id="1026" name="Picture 2" descr="SIS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0256" y="1556792"/>
            <a:ext cx="3261631"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022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Multiple Instruction, Single Data (MISD)</a:t>
            </a:r>
          </a:p>
        </p:txBody>
      </p:sp>
      <p:sp>
        <p:nvSpPr>
          <p:cNvPr id="3" name="Content Placeholder 2"/>
          <p:cNvSpPr>
            <a:spLocks noGrp="1"/>
          </p:cNvSpPr>
          <p:nvPr>
            <p:ph idx="1"/>
          </p:nvPr>
        </p:nvSpPr>
        <p:spPr/>
        <p:txBody>
          <a:bodyPr/>
          <a:lstStyle/>
          <a:p>
            <a:r>
              <a:rPr lang="en-US" dirty="0"/>
              <a:t>Process single data stream using multiple instruction streams simultaneously</a:t>
            </a:r>
          </a:p>
        </p:txBody>
      </p:sp>
      <p:pic>
        <p:nvPicPr>
          <p:cNvPr id="5" name="Picture 4">
            <a:extLst>
              <a:ext uri="{FF2B5EF4-FFF2-40B4-BE49-F238E27FC236}">
                <a16:creationId xmlns:a16="http://schemas.microsoft.com/office/drawing/2014/main" id="{CEABC1FE-AC3E-4D7E-9185-4695DCF8F031}"/>
              </a:ext>
            </a:extLst>
          </p:cNvPr>
          <p:cNvPicPr>
            <a:picLocks noChangeAspect="1"/>
          </p:cNvPicPr>
          <p:nvPr/>
        </p:nvPicPr>
        <p:blipFill>
          <a:blip r:embed="rId3"/>
          <a:stretch>
            <a:fillRect/>
          </a:stretch>
        </p:blipFill>
        <p:spPr>
          <a:xfrm>
            <a:off x="1710244" y="2381668"/>
            <a:ext cx="3305636" cy="2343477"/>
          </a:xfrm>
          <a:prstGeom prst="rect">
            <a:avLst/>
          </a:prstGeom>
        </p:spPr>
      </p:pic>
      <p:pic>
        <p:nvPicPr>
          <p:cNvPr id="7" name="Picture 6">
            <a:extLst>
              <a:ext uri="{FF2B5EF4-FFF2-40B4-BE49-F238E27FC236}">
                <a16:creationId xmlns:a16="http://schemas.microsoft.com/office/drawing/2014/main" id="{A8F42B4D-1D6E-5428-C01B-DDAAAE56C9CE}"/>
              </a:ext>
            </a:extLst>
          </p:cNvPr>
          <p:cNvPicPr>
            <a:picLocks noChangeAspect="1"/>
          </p:cNvPicPr>
          <p:nvPr/>
        </p:nvPicPr>
        <p:blipFill>
          <a:blip r:embed="rId4"/>
          <a:stretch>
            <a:fillRect/>
          </a:stretch>
        </p:blipFill>
        <p:spPr>
          <a:xfrm>
            <a:off x="5220895" y="2132856"/>
            <a:ext cx="6448002" cy="3047868"/>
          </a:xfrm>
          <a:prstGeom prst="rect">
            <a:avLst/>
          </a:prstGeom>
        </p:spPr>
      </p:pic>
    </p:spTree>
    <p:extLst>
      <p:ext uri="{BB962C8B-B14F-4D97-AF65-F5344CB8AC3E}">
        <p14:creationId xmlns:p14="http://schemas.microsoft.com/office/powerpoint/2010/main" val="1269931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Single Instruction, Multiple Data (SIMD)</a:t>
            </a:r>
          </a:p>
        </p:txBody>
      </p:sp>
      <p:sp>
        <p:nvSpPr>
          <p:cNvPr id="3" name="Content Placeholder 2"/>
          <p:cNvSpPr>
            <a:spLocks noGrp="1"/>
          </p:cNvSpPr>
          <p:nvPr>
            <p:ph idx="1"/>
          </p:nvPr>
        </p:nvSpPr>
        <p:spPr/>
        <p:txBody>
          <a:bodyPr>
            <a:normAutofit/>
          </a:bodyPr>
          <a:lstStyle/>
          <a:p>
            <a:r>
              <a:rPr lang="en-US" dirty="0"/>
              <a:t>Single instruction steam has ability to process multiple data streams in 1 clock cycle</a:t>
            </a:r>
          </a:p>
          <a:p>
            <a:r>
              <a:rPr lang="en-US" dirty="0"/>
              <a:t>Takes operation specified in one instruction and applies it to more than 1 set of data elements at 1 time</a:t>
            </a:r>
          </a:p>
          <a:p>
            <a:endParaRPr lang="en-US" dirty="0"/>
          </a:p>
          <a:p>
            <a:endParaRPr lang="en-US" dirty="0"/>
          </a:p>
          <a:p>
            <a:pPr marL="0" indent="0">
              <a:buNone/>
            </a:pPr>
            <a:endParaRPr lang="en-US"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1" y="3657600"/>
            <a:ext cx="5111931" cy="285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2133600" y="3962401"/>
            <a:ext cx="2438400" cy="1612881"/>
          </a:xfrm>
          <a:prstGeom prst="rect">
            <a:avLst/>
          </a:prstGeom>
        </p:spPr>
        <p:txBody>
          <a:bodyPr vert="horz">
            <a:normAutofit fontScale="92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sz="3200" dirty="0"/>
              <a:t>Suitable for graphics and image processing</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20698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Multiple Instruction, Multiple Data (MIMD)</a:t>
            </a:r>
          </a:p>
        </p:txBody>
      </p:sp>
      <p:sp>
        <p:nvSpPr>
          <p:cNvPr id="3" name="Content Placeholder 2"/>
          <p:cNvSpPr>
            <a:spLocks noGrp="1"/>
          </p:cNvSpPr>
          <p:nvPr>
            <p:ph idx="1"/>
          </p:nvPr>
        </p:nvSpPr>
        <p:spPr/>
        <p:txBody>
          <a:bodyPr>
            <a:normAutofit/>
          </a:bodyPr>
          <a:lstStyle/>
          <a:p>
            <a:r>
              <a:rPr lang="en-US" dirty="0"/>
              <a:t>Different processors can execute different instructions on different pieces of data</a:t>
            </a:r>
          </a:p>
          <a:p>
            <a:r>
              <a:rPr lang="en-US" dirty="0"/>
              <a:t>Each processor can run independent task</a:t>
            </a:r>
          </a:p>
          <a:p>
            <a:pPr marL="0" indent="0">
              <a:buNone/>
            </a:pPr>
            <a:endParaRPr lang="en-US" dirty="0"/>
          </a:p>
        </p:txBody>
      </p:sp>
      <p:pic>
        <p:nvPicPr>
          <p:cNvPr id="286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124200"/>
            <a:ext cx="5943600" cy="332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548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4F90A-B7E8-4E96-B811-F2F2748F75F4}"/>
              </a:ext>
            </a:extLst>
          </p:cNvPr>
          <p:cNvSpPr>
            <a:spLocks noGrp="1"/>
          </p:cNvSpPr>
          <p:nvPr>
            <p:ph type="title"/>
          </p:nvPr>
        </p:nvSpPr>
        <p:spPr/>
        <p:txBody>
          <a:bodyPr/>
          <a:lstStyle/>
          <a:p>
            <a:r>
              <a:rPr lang="en-GB" dirty="0"/>
              <a:t>Concurrency and Parallelism</a:t>
            </a:r>
          </a:p>
        </p:txBody>
      </p:sp>
      <p:sp>
        <p:nvSpPr>
          <p:cNvPr id="3" name="Content Placeholder 2">
            <a:extLst>
              <a:ext uri="{FF2B5EF4-FFF2-40B4-BE49-F238E27FC236}">
                <a16:creationId xmlns:a16="http://schemas.microsoft.com/office/drawing/2014/main" id="{C40BB430-1403-4E73-A568-E1E4E713EAC3}"/>
              </a:ext>
            </a:extLst>
          </p:cNvPr>
          <p:cNvSpPr>
            <a:spLocks noGrp="1"/>
          </p:cNvSpPr>
          <p:nvPr>
            <p:ph idx="1"/>
          </p:nvPr>
        </p:nvSpPr>
        <p:spPr/>
        <p:txBody>
          <a:bodyPr/>
          <a:lstStyle/>
          <a:p>
            <a:r>
              <a:rPr lang="en-GB" sz="4400" dirty="0"/>
              <a:t>3 Main types of concurrent or parallel programming systems</a:t>
            </a:r>
          </a:p>
          <a:p>
            <a:pPr lvl="1"/>
            <a:r>
              <a:rPr lang="en-GB" sz="4000"/>
              <a:t>Concurrent Processing or Multitasking</a:t>
            </a:r>
          </a:p>
          <a:p>
            <a:pPr lvl="1"/>
            <a:r>
              <a:rPr lang="en-GB" sz="4000"/>
              <a:t>Multithreading</a:t>
            </a:r>
            <a:endParaRPr lang="en-GB" sz="4000" dirty="0"/>
          </a:p>
          <a:p>
            <a:pPr lvl="1"/>
            <a:r>
              <a:rPr lang="en-GB" sz="4000"/>
              <a:t>Distributed </a:t>
            </a:r>
            <a:r>
              <a:rPr lang="en-GB" sz="4000" dirty="0"/>
              <a:t>Computing</a:t>
            </a:r>
          </a:p>
          <a:p>
            <a:pPr marL="0" indent="0">
              <a:buNone/>
            </a:pPr>
            <a:endParaRPr lang="en-GB" sz="4400" dirty="0"/>
          </a:p>
        </p:txBody>
      </p:sp>
    </p:spTree>
    <p:extLst>
      <p:ext uri="{BB962C8B-B14F-4D97-AF65-F5344CB8AC3E}">
        <p14:creationId xmlns:p14="http://schemas.microsoft.com/office/powerpoint/2010/main" val="1245872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Multithreading?</a:t>
            </a:r>
          </a:p>
        </p:txBody>
      </p:sp>
      <p:sp>
        <p:nvSpPr>
          <p:cNvPr id="3" name="Content Placeholder 2"/>
          <p:cNvSpPr>
            <a:spLocks noGrp="1"/>
          </p:cNvSpPr>
          <p:nvPr>
            <p:ph idx="1"/>
          </p:nvPr>
        </p:nvSpPr>
        <p:spPr/>
        <p:txBody>
          <a:bodyPr/>
          <a:lstStyle/>
          <a:p>
            <a:r>
              <a:rPr lang="en-GB" sz="3600" dirty="0"/>
              <a:t>Multithreading is the parallel execution of multiple instances of your program's code, within the same process.</a:t>
            </a:r>
          </a:p>
          <a:p>
            <a:r>
              <a:rPr lang="en-GB" sz="3600" dirty="0"/>
              <a:t>Multithreading is similar to multitasking except that all the running programs(threads) share same the same memory, the same variables and everything else in the program.</a:t>
            </a:r>
          </a:p>
          <a:p>
            <a:r>
              <a:rPr lang="en-GB" sz="3600" dirty="0"/>
              <a:t>The individual threads can have either little or high interactions with each other.</a:t>
            </a:r>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DF5E0-D964-4E56-B439-C90D99B25736}"/>
              </a:ext>
            </a:extLst>
          </p:cNvPr>
          <p:cNvSpPr>
            <a:spLocks noGrp="1"/>
          </p:cNvSpPr>
          <p:nvPr>
            <p:ph type="title"/>
          </p:nvPr>
        </p:nvSpPr>
        <p:spPr/>
        <p:txBody>
          <a:bodyPr/>
          <a:lstStyle/>
          <a:p>
            <a:r>
              <a:rPr lang="en-GB" dirty="0"/>
              <a:t>Multitasking</a:t>
            </a:r>
          </a:p>
        </p:txBody>
      </p:sp>
      <p:sp>
        <p:nvSpPr>
          <p:cNvPr id="3" name="Content Placeholder 2">
            <a:extLst>
              <a:ext uri="{FF2B5EF4-FFF2-40B4-BE49-F238E27FC236}">
                <a16:creationId xmlns:a16="http://schemas.microsoft.com/office/drawing/2014/main" id="{8EE028BC-5E14-4A95-8176-9ADECD8A3FD6}"/>
              </a:ext>
            </a:extLst>
          </p:cNvPr>
          <p:cNvSpPr>
            <a:spLocks noGrp="1"/>
          </p:cNvSpPr>
          <p:nvPr>
            <p:ph idx="1"/>
          </p:nvPr>
        </p:nvSpPr>
        <p:spPr/>
        <p:txBody>
          <a:bodyPr/>
          <a:lstStyle/>
          <a:p>
            <a:r>
              <a:rPr lang="en-GB" dirty="0"/>
              <a:t>Multitasking is the concurrent execution of multiple, related, processes, collaborating to achieve an objective.</a:t>
            </a:r>
          </a:p>
          <a:p>
            <a:r>
              <a:rPr lang="en-GB" dirty="0"/>
              <a:t>The individual processes generally have minimal interactions with each other.</a:t>
            </a:r>
          </a:p>
          <a:p>
            <a:r>
              <a:rPr lang="en-GB" dirty="0"/>
              <a:t>Each process is control by the operating system individually and independently.</a:t>
            </a:r>
          </a:p>
          <a:p>
            <a:r>
              <a:rPr lang="en-GB" dirty="0"/>
              <a:t>Data is often shared through files, and network work messages.</a:t>
            </a:r>
          </a:p>
          <a:p>
            <a:r>
              <a:rPr lang="en-GB" dirty="0"/>
              <a:t>Traditionally, all Unix processes worked this way before multithreading was available.</a:t>
            </a:r>
          </a:p>
        </p:txBody>
      </p:sp>
    </p:spTree>
    <p:extLst>
      <p:ext uri="{BB962C8B-B14F-4D97-AF65-F5344CB8AC3E}">
        <p14:creationId xmlns:p14="http://schemas.microsoft.com/office/powerpoint/2010/main" val="2034314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17C2-A6B3-43EE-8A33-D5CC42C18F6F}"/>
              </a:ext>
            </a:extLst>
          </p:cNvPr>
          <p:cNvSpPr>
            <a:spLocks noGrp="1"/>
          </p:cNvSpPr>
          <p:nvPr>
            <p:ph type="title"/>
          </p:nvPr>
        </p:nvSpPr>
        <p:spPr/>
        <p:txBody>
          <a:bodyPr/>
          <a:lstStyle/>
          <a:p>
            <a:r>
              <a:rPr lang="en-GB" dirty="0"/>
              <a:t>Distributed Computing</a:t>
            </a:r>
          </a:p>
        </p:txBody>
      </p:sp>
      <p:sp>
        <p:nvSpPr>
          <p:cNvPr id="3" name="Content Placeholder 2">
            <a:extLst>
              <a:ext uri="{FF2B5EF4-FFF2-40B4-BE49-F238E27FC236}">
                <a16:creationId xmlns:a16="http://schemas.microsoft.com/office/drawing/2014/main" id="{D934C5AA-5318-4C1D-9756-E5B9C48846EF}"/>
              </a:ext>
            </a:extLst>
          </p:cNvPr>
          <p:cNvSpPr>
            <a:spLocks noGrp="1"/>
          </p:cNvSpPr>
          <p:nvPr>
            <p:ph idx="1"/>
          </p:nvPr>
        </p:nvSpPr>
        <p:spPr/>
        <p:txBody>
          <a:bodyPr/>
          <a:lstStyle/>
          <a:p>
            <a:r>
              <a:rPr lang="en-GB" dirty="0"/>
              <a:t>Very similar to multitasking, except that the processes can potentially be running on separate computers on a network.</a:t>
            </a:r>
          </a:p>
          <a:p>
            <a:r>
              <a:rPr lang="en-GB" dirty="0"/>
              <a:t>Relies on network messages to interact and exchange data between processes.</a:t>
            </a:r>
          </a:p>
          <a:p>
            <a:r>
              <a:rPr lang="en-GB" dirty="0"/>
              <a:t>Generally requires a standardised system or framework to operate: e.g. Actor, Message Passing Interface.</a:t>
            </a:r>
          </a:p>
        </p:txBody>
      </p:sp>
    </p:spTree>
    <p:extLst>
      <p:ext uri="{BB962C8B-B14F-4D97-AF65-F5344CB8AC3E}">
        <p14:creationId xmlns:p14="http://schemas.microsoft.com/office/powerpoint/2010/main" val="1106986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Multithreading</a:t>
            </a:r>
          </a:p>
        </p:txBody>
      </p:sp>
      <p:sp>
        <p:nvSpPr>
          <p:cNvPr id="3" name="Content Placeholder 2"/>
          <p:cNvSpPr>
            <a:spLocks noGrp="1"/>
          </p:cNvSpPr>
          <p:nvPr>
            <p:ph idx="1"/>
          </p:nvPr>
        </p:nvSpPr>
        <p:spPr/>
        <p:txBody>
          <a:bodyPr>
            <a:normAutofit/>
          </a:bodyPr>
          <a:lstStyle/>
          <a:p>
            <a:r>
              <a:rPr lang="en-GB" dirty="0"/>
              <a:t>Modern processor have more than one CPU core: up </a:t>
            </a:r>
            <a:r>
              <a:rPr lang="en-GB"/>
              <a:t>to 24 </a:t>
            </a:r>
            <a:r>
              <a:rPr lang="en-GB" dirty="0"/>
              <a:t>cores on the </a:t>
            </a:r>
            <a:r>
              <a:rPr lang="en-GB"/>
              <a:t>Intel i9-13900K</a:t>
            </a:r>
            <a:endParaRPr lang="en-GB" dirty="0"/>
          </a:p>
          <a:p>
            <a:r>
              <a:rPr lang="en-GB" dirty="0"/>
              <a:t>The </a:t>
            </a:r>
            <a:r>
              <a:rPr lang="en-GB" err="1"/>
              <a:t>Nvidia</a:t>
            </a:r>
            <a:r>
              <a:rPr lang="en-GB"/>
              <a:t> RTX 3080 has 8704 CUDA cores.</a:t>
            </a:r>
            <a:endParaRPr lang="en-GB" dirty="0"/>
          </a:p>
          <a:p>
            <a:r>
              <a:rPr lang="en-GB" dirty="0"/>
              <a:t>Single-threaded programs can only use 1 core at a time.</a:t>
            </a:r>
          </a:p>
          <a:p>
            <a:r>
              <a:rPr lang="en-GB" dirty="0"/>
              <a:t>Multi-threaded programs can spread the processing load across all the cores available.</a:t>
            </a:r>
          </a:p>
          <a:p>
            <a:r>
              <a:rPr lang="en-GB" dirty="0"/>
              <a:t>For example an image processing program can divide up an image into 16 equal parts and process each parts using a separate thread, and this will run up to 16 times faster than a single-thread program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not Multithreading Everywhere?</a:t>
            </a:r>
          </a:p>
        </p:txBody>
      </p:sp>
      <p:sp>
        <p:nvSpPr>
          <p:cNvPr id="3" name="Content Placeholder 2"/>
          <p:cNvSpPr>
            <a:spLocks noGrp="1"/>
          </p:cNvSpPr>
          <p:nvPr>
            <p:ph idx="1"/>
          </p:nvPr>
        </p:nvSpPr>
        <p:spPr/>
        <p:txBody>
          <a:bodyPr/>
          <a:lstStyle/>
          <a:p>
            <a:r>
              <a:rPr lang="en-GB" dirty="0"/>
              <a:t>It is not always possible to break a problem down into separate equal parts, for example,  processing a file that is received over the network, one character at a time.</a:t>
            </a:r>
          </a:p>
          <a:p>
            <a:r>
              <a:rPr lang="en-GB" dirty="0"/>
              <a:t>It is sometimes difficult to organise and manage the work divided between threads efficiently: </a:t>
            </a:r>
          </a:p>
          <a:p>
            <a:pPr lvl="1"/>
            <a:r>
              <a:rPr lang="en-GB" dirty="0"/>
              <a:t>Imagine a fast food kitchen with multiple cooks looking at the same items from a large order screen. Who cooks what when?</a:t>
            </a:r>
          </a:p>
          <a:p>
            <a:r>
              <a:rPr lang="en-GB" dirty="0"/>
              <a:t>When the timing of a process is critical, </a:t>
            </a:r>
            <a:r>
              <a:rPr lang="en-GB" dirty="0" err="1"/>
              <a:t>eg</a:t>
            </a:r>
            <a:r>
              <a:rPr lang="en-GB" err="1"/>
              <a:t>.</a:t>
            </a:r>
            <a:r>
              <a:rPr lang="en-GB"/>
              <a:t> aeroplane flight </a:t>
            </a:r>
            <a:r>
              <a:rPr lang="en-GB" dirty="0"/>
              <a:t>controller software, multithreading can introduce uncertainties.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to use threading in C?</a:t>
            </a:r>
          </a:p>
        </p:txBody>
      </p:sp>
      <p:sp>
        <p:nvSpPr>
          <p:cNvPr id="3" name="Content Placeholder 2"/>
          <p:cNvSpPr>
            <a:spLocks noGrp="1"/>
          </p:cNvSpPr>
          <p:nvPr>
            <p:ph idx="1"/>
          </p:nvPr>
        </p:nvSpPr>
        <p:spPr/>
        <p:txBody>
          <a:bodyPr/>
          <a:lstStyle/>
          <a:p>
            <a:r>
              <a:rPr lang="en-GB" dirty="0"/>
              <a:t>The POSIX Threads standard published in 1995, is the most widely used threading API, also known as "</a:t>
            </a:r>
            <a:r>
              <a:rPr lang="en-GB" dirty="0" err="1"/>
              <a:t>pthreads</a:t>
            </a:r>
            <a:r>
              <a:rPr lang="en-GB" dirty="0"/>
              <a:t>".</a:t>
            </a:r>
          </a:p>
          <a:p>
            <a:r>
              <a:rPr lang="en-GB" dirty="0"/>
              <a:t>To use </a:t>
            </a:r>
            <a:r>
              <a:rPr lang="en-GB" dirty="0" err="1"/>
              <a:t>pthreads</a:t>
            </a:r>
            <a:r>
              <a:rPr lang="en-GB" dirty="0"/>
              <a:t>, you have include the header file &lt;</a:t>
            </a:r>
            <a:r>
              <a:rPr lang="en-GB" dirty="0" err="1"/>
              <a:t>pthread.h</a:t>
            </a:r>
            <a:r>
              <a:rPr lang="en-GB" dirty="0"/>
              <a:t>&gt;</a:t>
            </a:r>
          </a:p>
          <a:p>
            <a:r>
              <a:rPr lang="en-GB" dirty="0"/>
              <a:t>To create and start a thread, you have to call the API </a:t>
            </a:r>
            <a:r>
              <a:rPr lang="en-GB" dirty="0" err="1"/>
              <a:t>pthread_create</a:t>
            </a:r>
            <a:r>
              <a:rPr lang="en-GB" dirty="0"/>
              <a:t>()</a:t>
            </a:r>
          </a:p>
          <a:p>
            <a:r>
              <a:rPr lang="en-GB" dirty="0"/>
              <a:t>To wait for  a thread to finish, you have to call the API </a:t>
            </a:r>
            <a:r>
              <a:rPr lang="en-GB" dirty="0" err="1"/>
              <a:t>pthread_join</a:t>
            </a:r>
            <a:r>
              <a:rPr lang="en-GB" dirty="0"/>
              <a:t>()</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Pthreads</a:t>
            </a:r>
            <a:r>
              <a:rPr lang="en-GB" dirty="0"/>
              <a:t> Example</a:t>
            </a:r>
          </a:p>
        </p:txBody>
      </p:sp>
      <p:sp>
        <p:nvSpPr>
          <p:cNvPr id="3" name="Content Placeholder 2"/>
          <p:cNvSpPr>
            <a:spLocks noGrp="1"/>
          </p:cNvSpPr>
          <p:nvPr>
            <p:ph idx="1"/>
          </p:nvPr>
        </p:nvSpPr>
        <p:spPr/>
        <p:txBody>
          <a:bodyPr>
            <a:normAutofit lnSpcReduction="10000"/>
          </a:bodyPr>
          <a:lstStyle/>
          <a:p>
            <a:pPr>
              <a:buNone/>
            </a:pPr>
            <a:r>
              <a:rPr lang="en-GB" sz="1800" b="1" dirty="0">
                <a:latin typeface="Courier New" pitchFamily="49" charset="0"/>
                <a:cs typeface="Courier New" pitchFamily="49" charset="0"/>
              </a:rPr>
              <a:t>#include &lt;</a:t>
            </a:r>
            <a:r>
              <a:rPr lang="en-GB" sz="1800" b="1" dirty="0" err="1">
                <a:latin typeface="Courier New" pitchFamily="49" charset="0"/>
                <a:cs typeface="Courier New" pitchFamily="49" charset="0"/>
              </a:rPr>
              <a:t>pthread.h</a:t>
            </a:r>
            <a:r>
              <a:rPr lang="en-GB" sz="1800" b="1" dirty="0">
                <a:latin typeface="Courier New" pitchFamily="49" charset="0"/>
                <a:cs typeface="Courier New" pitchFamily="49" charset="0"/>
              </a:rPr>
              <a:t>&gt;</a:t>
            </a:r>
          </a:p>
          <a:p>
            <a:pPr>
              <a:buNone/>
            </a:pPr>
            <a:r>
              <a:rPr lang="en-GB" sz="1800" b="1" dirty="0">
                <a:latin typeface="Courier New" pitchFamily="49" charset="0"/>
                <a:cs typeface="Courier New" pitchFamily="49" charset="0"/>
              </a:rPr>
              <a:t>#include &lt;</a:t>
            </a:r>
            <a:r>
              <a:rPr lang="en-GB" sz="1800" b="1" dirty="0" err="1">
                <a:latin typeface="Courier New" pitchFamily="49" charset="0"/>
                <a:cs typeface="Courier New" pitchFamily="49" charset="0"/>
              </a:rPr>
              <a:t>stdio.h</a:t>
            </a:r>
            <a:r>
              <a:rPr lang="en-GB" sz="1800" b="1" dirty="0">
                <a:latin typeface="Courier New" pitchFamily="49" charset="0"/>
                <a:cs typeface="Courier New" pitchFamily="49" charset="0"/>
              </a:rPr>
              <a:t>&gt;</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printf</a:t>
            </a:r>
            <a:r>
              <a:rPr lang="en-GB" sz="1800" b="1" dirty="0">
                <a:latin typeface="Courier New" pitchFamily="49" charset="0"/>
                <a:cs typeface="Courier New" pitchFamily="49" charset="0"/>
              </a:rPr>
              <a:t>("Thread One: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=%d\n",</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threadTwo</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printf</a:t>
            </a:r>
            <a:r>
              <a:rPr lang="en-GB" sz="1800" b="1" dirty="0">
                <a:latin typeface="Courier New" pitchFamily="49" charset="0"/>
                <a:cs typeface="Courier New" pitchFamily="49" charset="0"/>
              </a:rPr>
              <a:t>("Thread Two: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=%d\n",</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void main(){</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pthread_t</a:t>
            </a:r>
            <a:r>
              <a:rPr lang="en-GB" sz="1800" b="1" dirty="0">
                <a:latin typeface="Courier New" pitchFamily="49" charset="0"/>
                <a:cs typeface="Courier New" pitchFamily="49" charset="0"/>
              </a:rPr>
              <a:t> thrID1, thrID2;</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pthread_create</a:t>
            </a:r>
            <a:r>
              <a:rPr lang="en-GB" sz="1800" b="1" dirty="0">
                <a:latin typeface="Courier New" pitchFamily="49" charset="0"/>
                <a:cs typeface="Courier New" pitchFamily="49" charset="0"/>
              </a:rPr>
              <a:t>(&amp;thrID1, NULL,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pthread_create</a:t>
            </a:r>
            <a:r>
              <a:rPr lang="en-GB" sz="1800" b="1" dirty="0">
                <a:latin typeface="Courier New" pitchFamily="49" charset="0"/>
                <a:cs typeface="Courier New" pitchFamily="49" charset="0"/>
              </a:rPr>
              <a:t>(&amp;thrID2, NULL, </a:t>
            </a:r>
            <a:r>
              <a:rPr lang="en-GB" sz="1800" b="1" dirty="0" err="1">
                <a:latin typeface="Courier New" pitchFamily="49" charset="0"/>
                <a:cs typeface="Courier New" pitchFamily="49" charset="0"/>
              </a:rPr>
              <a:t>threadTwo</a:t>
            </a:r>
            <a:r>
              <a:rPr lang="en-GB" sz="1800" b="1" dirty="0">
                <a:latin typeface="Courier New" pitchFamily="49" charset="0"/>
                <a:cs typeface="Courier New" pitchFamily="49" charset="0"/>
              </a:rPr>
              <a:t>,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pthread_join</a:t>
            </a:r>
            <a:r>
              <a:rPr lang="en-GB" sz="1800" b="1" dirty="0">
                <a:latin typeface="Courier New" pitchFamily="49" charset="0"/>
                <a:cs typeface="Courier New" pitchFamily="49" charset="0"/>
              </a:rPr>
              <a:t>(thrID1,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pthread_join</a:t>
            </a:r>
            <a:r>
              <a:rPr lang="en-GB" sz="1800" b="1" dirty="0">
                <a:latin typeface="Courier New" pitchFamily="49" charset="0"/>
                <a:cs typeface="Courier New" pitchFamily="49" charset="0"/>
              </a:rPr>
              <a:t>(thrID2, NULL);</a:t>
            </a:r>
          </a:p>
          <a:p>
            <a:pPr>
              <a:buNone/>
            </a:pPr>
            <a:r>
              <a:rPr lang="en-GB" sz="1800" b="1" dirty="0">
                <a:latin typeface="Courier New" pitchFamily="49" charset="0"/>
                <a:cs typeface="Courier New" pitchFamily="49"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51E71-EC93-4A7A-AF36-FCE8D09095F8}"/>
              </a:ext>
            </a:extLst>
          </p:cNvPr>
          <p:cNvSpPr>
            <a:spLocks noGrp="1"/>
          </p:cNvSpPr>
          <p:nvPr>
            <p:ph type="title"/>
          </p:nvPr>
        </p:nvSpPr>
        <p:spPr/>
        <p:txBody>
          <a:bodyPr/>
          <a:lstStyle/>
          <a:p>
            <a:r>
              <a:rPr lang="en-GB" dirty="0"/>
              <a:t>Converting Single Thread to Multithreaded</a:t>
            </a:r>
          </a:p>
        </p:txBody>
      </p:sp>
      <p:sp>
        <p:nvSpPr>
          <p:cNvPr id="3" name="Content Placeholder 2">
            <a:extLst>
              <a:ext uri="{FF2B5EF4-FFF2-40B4-BE49-F238E27FC236}">
                <a16:creationId xmlns:a16="http://schemas.microsoft.com/office/drawing/2014/main" id="{74A55086-1DC8-4512-91CB-DD2D1C36BC70}"/>
              </a:ext>
            </a:extLst>
          </p:cNvPr>
          <p:cNvSpPr>
            <a:spLocks noGrp="1"/>
          </p:cNvSpPr>
          <p:nvPr>
            <p:ph idx="1"/>
          </p:nvPr>
        </p:nvSpPr>
        <p:spPr/>
        <p:txBody>
          <a:bodyPr>
            <a:normAutofit/>
          </a:bodyPr>
          <a:lstStyle/>
          <a:p>
            <a:pPr marL="0" indent="0">
              <a:buNone/>
            </a:pPr>
            <a:r>
              <a:rPr lang="en-GB" sz="1800" b="1" dirty="0">
                <a:latin typeface="Courier New" panose="02070309020205020404" pitchFamily="49" charset="0"/>
                <a:cs typeface="Courier New" panose="02070309020205020404" pitchFamily="49" charset="0"/>
              </a:rPr>
              <a:t>#include &lt;</a:t>
            </a:r>
            <a:r>
              <a:rPr lang="en-GB" sz="1800" b="1" dirty="0" err="1">
                <a:latin typeface="Courier New" panose="02070309020205020404" pitchFamily="49" charset="0"/>
                <a:cs typeface="Courier New" panose="02070309020205020404" pitchFamily="49" charset="0"/>
              </a:rPr>
              <a:t>stdio.h</a:t>
            </a:r>
            <a:r>
              <a:rPr lang="en-GB" sz="1800" b="1" dirty="0">
                <a:latin typeface="Courier New" panose="02070309020205020404" pitchFamily="49" charset="0"/>
                <a:cs typeface="Courier New" panose="02070309020205020404" pitchFamily="49" charset="0"/>
              </a:rPr>
              <a:t>&gt;</a:t>
            </a:r>
          </a:p>
          <a:p>
            <a:pPr marL="0" indent="0">
              <a:buNone/>
            </a:pPr>
            <a:r>
              <a:rPr lang="en-GB" sz="1800" b="1" dirty="0">
                <a:latin typeface="Courier New" panose="02070309020205020404" pitchFamily="49" charset="0"/>
                <a:cs typeface="Courier New" panose="02070309020205020404" pitchFamily="49" charset="0"/>
              </a:rPr>
              <a:t>void main()</a:t>
            </a:r>
          </a:p>
          <a:p>
            <a:pPr marL="0" indent="0">
              <a:buNone/>
            </a:pPr>
            <a:r>
              <a:rPr lang="en-GB" sz="1800" b="1" dirty="0">
                <a:latin typeface="Courier New" panose="02070309020205020404" pitchFamily="49" charset="0"/>
                <a:cs typeface="Courier New" panose="02070309020205020404" pitchFamily="49" charset="0"/>
              </a:rPr>
              <a:t>{</a:t>
            </a:r>
          </a:p>
          <a:p>
            <a:pPr marL="0" indent="0">
              <a:buNone/>
            </a:pPr>
            <a:r>
              <a:rPr lang="en-GB" sz="1800" b="1" dirty="0">
                <a:latin typeface="Courier New" panose="02070309020205020404" pitchFamily="49" charset="0"/>
                <a:cs typeface="Courier New" panose="02070309020205020404" pitchFamily="49" charset="0"/>
              </a:rPr>
              <a:t>  int </a:t>
            </a:r>
            <a:r>
              <a:rPr lang="en-GB" sz="1800" b="1" dirty="0" err="1">
                <a:latin typeface="Courier New" panose="02070309020205020404" pitchFamily="49" charset="0"/>
                <a:cs typeface="Courier New" panose="02070309020205020404" pitchFamily="49" charset="0"/>
              </a:rPr>
              <a:t>i</a:t>
            </a:r>
            <a:r>
              <a:rPr lang="en-GB" sz="1800" b="1" dirty="0">
                <a:latin typeface="Courier New" panose="02070309020205020404" pitchFamily="49" charset="0"/>
                <a:cs typeface="Courier New" panose="02070309020205020404" pitchFamily="49" charset="0"/>
              </a:rPr>
              <a:t>, c;</a:t>
            </a:r>
          </a:p>
          <a:p>
            <a:pPr marL="0" indent="0">
              <a:buNone/>
            </a:pPr>
            <a:r>
              <a:rPr lang="en-GB" sz="1800" b="1" dirty="0">
                <a:latin typeface="Courier New" panose="02070309020205020404" pitchFamily="49" charset="0"/>
                <a:cs typeface="Courier New" panose="02070309020205020404" pitchFamily="49" charset="0"/>
              </a:rPr>
              <a:t>  int </a:t>
            </a:r>
            <a:r>
              <a:rPr lang="en-GB" sz="1800" b="1" dirty="0" err="1">
                <a:latin typeface="Courier New" panose="02070309020205020404" pitchFamily="49" charset="0"/>
                <a:cs typeface="Courier New" panose="02070309020205020404" pitchFamily="49" charset="0"/>
              </a:rPr>
              <a:t>nstart</a:t>
            </a:r>
            <a:r>
              <a:rPr lang="en-GB" sz="1800" b="1" dirty="0">
                <a:latin typeface="Courier New" panose="02070309020205020404" pitchFamily="49" charset="0"/>
                <a:cs typeface="Courier New" panose="02070309020205020404" pitchFamily="49" charset="0"/>
              </a:rPr>
              <a:t>=1, </a:t>
            </a:r>
            <a:r>
              <a:rPr lang="en-GB" sz="1800" b="1" dirty="0" err="1">
                <a:latin typeface="Courier New" panose="02070309020205020404" pitchFamily="49" charset="0"/>
                <a:cs typeface="Courier New" panose="02070309020205020404" pitchFamily="49" charset="0"/>
              </a:rPr>
              <a:t>nfinish</a:t>
            </a:r>
            <a:r>
              <a:rPr lang="en-GB" sz="1800" b="1" dirty="0">
                <a:latin typeface="Courier New" panose="02070309020205020404" pitchFamily="49" charset="0"/>
                <a:cs typeface="Courier New" panose="02070309020205020404" pitchFamily="49" charset="0"/>
              </a:rPr>
              <a:t>=20000; </a:t>
            </a:r>
          </a:p>
          <a:p>
            <a:pPr marL="0" indent="0">
              <a:buNone/>
            </a:pPr>
            <a:r>
              <a:rPr lang="en-GB" sz="1800" b="1" dirty="0">
                <a:latin typeface="Courier New" panose="02070309020205020404" pitchFamily="49" charset="0"/>
                <a:cs typeface="Courier New" panose="02070309020205020404" pitchFamily="49" charset="0"/>
              </a:rPr>
              <a:t>  </a:t>
            </a:r>
            <a:r>
              <a:rPr lang="en-GB" sz="1800" b="1" dirty="0" err="1">
                <a:latin typeface="Courier New" panose="02070309020205020404" pitchFamily="49" charset="0"/>
                <a:cs typeface="Courier New" panose="02070309020205020404" pitchFamily="49" charset="0"/>
              </a:rPr>
              <a:t>printf</a:t>
            </a:r>
            <a:r>
              <a:rPr lang="en-GB" sz="1800" b="1" dirty="0">
                <a:latin typeface="Courier New" panose="02070309020205020404" pitchFamily="49" charset="0"/>
                <a:cs typeface="Courier New" panose="02070309020205020404" pitchFamily="49" charset="0"/>
              </a:rPr>
              <a:t>("Prime numbers between %d and %d are :\n", </a:t>
            </a:r>
            <a:r>
              <a:rPr lang="en-GB" sz="1800" b="1" dirty="0" err="1">
                <a:latin typeface="Courier New" panose="02070309020205020404" pitchFamily="49" charset="0"/>
                <a:cs typeface="Courier New" panose="02070309020205020404" pitchFamily="49" charset="0"/>
              </a:rPr>
              <a:t>nstart</a:t>
            </a:r>
            <a:r>
              <a:rPr lang="en-GB" sz="1800" b="1" dirty="0">
                <a:latin typeface="Courier New" panose="02070309020205020404" pitchFamily="49" charset="0"/>
                <a:cs typeface="Courier New" panose="02070309020205020404" pitchFamily="49" charset="0"/>
              </a:rPr>
              <a:t>, </a:t>
            </a:r>
            <a:r>
              <a:rPr lang="en-GB" sz="1800" b="1" dirty="0" err="1">
                <a:latin typeface="Courier New" panose="02070309020205020404" pitchFamily="49" charset="0"/>
                <a:cs typeface="Courier New" panose="02070309020205020404" pitchFamily="49" charset="0"/>
              </a:rPr>
              <a:t>nfinish</a:t>
            </a:r>
            <a:r>
              <a:rPr lang="en-GB" sz="1800" b="1" dirty="0">
                <a:latin typeface="Courier New" panose="02070309020205020404" pitchFamily="49" charset="0"/>
                <a:cs typeface="Courier New" panose="02070309020205020404" pitchFamily="49" charset="0"/>
              </a:rPr>
              <a:t>);</a:t>
            </a:r>
          </a:p>
          <a:p>
            <a:pPr marL="0" indent="0">
              <a:buNone/>
            </a:pPr>
            <a:r>
              <a:rPr lang="nn-NO" sz="1800" b="1" dirty="0">
                <a:latin typeface="Courier New" panose="02070309020205020404" pitchFamily="49" charset="0"/>
                <a:cs typeface="Courier New" panose="02070309020205020404" pitchFamily="49" charset="0"/>
              </a:rPr>
              <a:t>  for(i=nstart; i&lt;=nfinish; i++){</a:t>
            </a:r>
            <a:r>
              <a:rPr lang="en-GB" sz="1800" b="1" dirty="0">
                <a:latin typeface="Courier New" panose="02070309020205020404" pitchFamily="49" charset="0"/>
                <a:cs typeface="Courier New" panose="02070309020205020404" pitchFamily="49" charset="0"/>
              </a:rPr>
              <a:t> </a:t>
            </a:r>
          </a:p>
          <a:p>
            <a:pPr marL="0" indent="0">
              <a:buNone/>
            </a:pPr>
            <a:r>
              <a:rPr lang="en-GB" sz="1800" b="1" dirty="0">
                <a:latin typeface="Courier New" panose="02070309020205020404" pitchFamily="49" charset="0"/>
                <a:cs typeface="Courier New" panose="02070309020205020404" pitchFamily="49" charset="0"/>
              </a:rPr>
              <a:t>    for(c = 2; c &lt;= i-1; </a:t>
            </a:r>
            <a:r>
              <a:rPr lang="en-GB" sz="1800" b="1" dirty="0" err="1">
                <a:latin typeface="Courier New" panose="02070309020205020404" pitchFamily="49" charset="0"/>
                <a:cs typeface="Courier New" panose="02070309020205020404" pitchFamily="49" charset="0"/>
              </a:rPr>
              <a:t>c++</a:t>
            </a:r>
            <a:r>
              <a:rPr lang="en-GB" sz="1800" b="1" dirty="0">
                <a:latin typeface="Courier New" panose="02070309020205020404" pitchFamily="49" charset="0"/>
                <a:cs typeface="Courier New" panose="02070309020205020404" pitchFamily="49" charset="0"/>
              </a:rPr>
              <a:t>){</a:t>
            </a:r>
          </a:p>
          <a:p>
            <a:pPr marL="0" indent="0">
              <a:buNone/>
            </a:pPr>
            <a:r>
              <a:rPr lang="en-GB" sz="1800" b="1" dirty="0">
                <a:latin typeface="Courier New" panose="02070309020205020404" pitchFamily="49" charset="0"/>
                <a:cs typeface="Courier New" panose="02070309020205020404" pitchFamily="49" charset="0"/>
              </a:rPr>
              <a:t>      if ( </a:t>
            </a:r>
            <a:r>
              <a:rPr lang="en-GB" sz="1800" b="1" dirty="0" err="1">
                <a:latin typeface="Courier New" panose="02070309020205020404" pitchFamily="49" charset="0"/>
                <a:cs typeface="Courier New" panose="02070309020205020404" pitchFamily="49" charset="0"/>
              </a:rPr>
              <a:t>i%c</a:t>
            </a:r>
            <a:r>
              <a:rPr lang="en-GB" sz="1800" b="1" dirty="0">
                <a:latin typeface="Courier New" panose="02070309020205020404" pitchFamily="49" charset="0"/>
                <a:cs typeface="Courier New" panose="02070309020205020404" pitchFamily="49" charset="0"/>
              </a:rPr>
              <a:t> == 0 )</a:t>
            </a:r>
          </a:p>
          <a:p>
            <a:pPr marL="0" indent="0">
              <a:buNone/>
            </a:pPr>
            <a:r>
              <a:rPr lang="en-GB" sz="1800" b="1" dirty="0">
                <a:latin typeface="Courier New" panose="02070309020205020404" pitchFamily="49" charset="0"/>
                <a:cs typeface="Courier New" panose="02070309020205020404" pitchFamily="49" charset="0"/>
              </a:rPr>
              <a:t>        break;</a:t>
            </a:r>
          </a:p>
          <a:p>
            <a:pPr marL="0" indent="0">
              <a:buNone/>
            </a:pPr>
            <a:r>
              <a:rPr lang="en-GB" sz="1800" b="1" dirty="0">
                <a:latin typeface="Courier New" panose="02070309020205020404" pitchFamily="49" charset="0"/>
                <a:cs typeface="Courier New" panose="02070309020205020404" pitchFamily="49" charset="0"/>
              </a:rPr>
              <a:t>    }</a:t>
            </a:r>
          </a:p>
          <a:p>
            <a:pPr marL="0" indent="0">
              <a:buNone/>
            </a:pPr>
            <a:r>
              <a:rPr lang="en-GB" sz="1800" b="1" dirty="0">
                <a:latin typeface="Courier New" panose="02070309020205020404" pitchFamily="49" charset="0"/>
                <a:cs typeface="Courier New" panose="02070309020205020404" pitchFamily="49" charset="0"/>
              </a:rPr>
              <a:t>    if ( c == i ) </a:t>
            </a:r>
          </a:p>
          <a:p>
            <a:pPr marL="0" indent="0">
              <a:buNone/>
            </a:pPr>
            <a:r>
              <a:rPr lang="pt-BR" sz="1800" b="1" dirty="0">
                <a:latin typeface="Courier New" panose="02070309020205020404" pitchFamily="49" charset="0"/>
                <a:cs typeface="Courier New" panose="02070309020205020404" pitchFamily="49" charset="0"/>
              </a:rPr>
              <a:t>        printf("%d\n", i);</a:t>
            </a:r>
          </a:p>
          <a:p>
            <a:pPr marL="0" indent="0">
              <a:buNone/>
            </a:pPr>
            <a:r>
              <a:rPr lang="en-GB" sz="1800" b="1" dirty="0">
                <a:latin typeface="Courier New" panose="02070309020205020404" pitchFamily="49" charset="0"/>
                <a:cs typeface="Courier New" panose="02070309020205020404" pitchFamily="49" charset="0"/>
              </a:rPr>
              <a:t>  }</a:t>
            </a:r>
          </a:p>
          <a:p>
            <a:pPr marL="0" indent="0">
              <a:buNone/>
            </a:pPr>
            <a:r>
              <a:rPr lang="en-GB" sz="18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50429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5AF8-09AD-40B5-A5FF-3D2257873359}"/>
              </a:ext>
            </a:extLst>
          </p:cNvPr>
          <p:cNvSpPr>
            <a:spLocks noGrp="1"/>
          </p:cNvSpPr>
          <p:nvPr>
            <p:ph type="title"/>
          </p:nvPr>
        </p:nvSpPr>
        <p:spPr/>
        <p:txBody>
          <a:bodyPr/>
          <a:lstStyle/>
          <a:p>
            <a:r>
              <a:rPr lang="en-GB" dirty="0"/>
              <a:t>Multithreaded Version - 2 threads</a:t>
            </a:r>
          </a:p>
        </p:txBody>
      </p:sp>
      <p:sp>
        <p:nvSpPr>
          <p:cNvPr id="3" name="Content Placeholder 2">
            <a:extLst>
              <a:ext uri="{FF2B5EF4-FFF2-40B4-BE49-F238E27FC236}">
                <a16:creationId xmlns:a16="http://schemas.microsoft.com/office/drawing/2014/main" id="{64DE2543-A785-44E8-AE30-4C0D0E9C500D}"/>
              </a:ext>
            </a:extLst>
          </p:cNvPr>
          <p:cNvSpPr>
            <a:spLocks noGrp="1"/>
          </p:cNvSpPr>
          <p:nvPr>
            <p:ph idx="1"/>
          </p:nvPr>
        </p:nvSpPr>
        <p:spPr/>
        <p:txBody>
          <a:bodyPr>
            <a:normAutofit fontScale="40000" lnSpcReduction="20000"/>
          </a:bodyPr>
          <a:lstStyle/>
          <a:p>
            <a:pPr marL="0" indent="0">
              <a:buNone/>
            </a:pPr>
            <a:r>
              <a:rPr lang="en-GB" dirty="0"/>
              <a:t>#include &lt;</a:t>
            </a:r>
            <a:r>
              <a:rPr lang="en-GB" dirty="0" err="1"/>
              <a:t>stdio.h</a:t>
            </a:r>
            <a:r>
              <a:rPr lang="en-GB" dirty="0"/>
              <a:t>&gt;</a:t>
            </a:r>
          </a:p>
          <a:p>
            <a:pPr marL="0" indent="0">
              <a:buNone/>
            </a:pPr>
            <a:r>
              <a:rPr lang="en-GB" dirty="0"/>
              <a:t>#include &lt;</a:t>
            </a:r>
            <a:r>
              <a:rPr lang="en-GB" dirty="0" err="1"/>
              <a:t>pthread.h</a:t>
            </a:r>
            <a:r>
              <a:rPr lang="en-GB" dirty="0"/>
              <a:t>&gt;</a:t>
            </a:r>
          </a:p>
          <a:p>
            <a:pPr marL="0" indent="0">
              <a:buNone/>
            </a:pPr>
            <a:endParaRPr lang="en-GB" dirty="0"/>
          </a:p>
          <a:p>
            <a:pPr marL="0" indent="0">
              <a:buNone/>
            </a:pPr>
            <a:r>
              <a:rPr lang="en-GB" dirty="0"/>
              <a:t>void *</a:t>
            </a:r>
            <a:r>
              <a:rPr lang="en-GB" dirty="0" err="1"/>
              <a:t>threadOne</a:t>
            </a:r>
            <a:r>
              <a:rPr lang="en-GB" dirty="0"/>
              <a:t>(void *p){</a:t>
            </a:r>
          </a:p>
          <a:p>
            <a:pPr marL="0" indent="0">
              <a:buNone/>
            </a:pPr>
            <a:r>
              <a:rPr lang="en-GB" dirty="0"/>
              <a:t>  int </a:t>
            </a:r>
            <a:r>
              <a:rPr lang="en-GB" dirty="0" err="1"/>
              <a:t>i</a:t>
            </a:r>
            <a:r>
              <a:rPr lang="en-GB" dirty="0"/>
              <a:t>, c;</a:t>
            </a:r>
          </a:p>
          <a:p>
            <a:pPr marL="0" indent="0">
              <a:buNone/>
            </a:pPr>
            <a:r>
              <a:rPr lang="en-GB" dirty="0"/>
              <a:t>  int </a:t>
            </a:r>
            <a:r>
              <a:rPr lang="en-GB" dirty="0" err="1"/>
              <a:t>nstart</a:t>
            </a:r>
            <a:r>
              <a:rPr lang="en-GB" dirty="0"/>
              <a:t>=1, </a:t>
            </a:r>
            <a:r>
              <a:rPr lang="en-GB" dirty="0" err="1"/>
              <a:t>nfinish</a:t>
            </a:r>
            <a:r>
              <a:rPr lang="en-GB" dirty="0"/>
              <a:t>=10000; </a:t>
            </a:r>
          </a:p>
          <a:p>
            <a:pPr marL="0" indent="0">
              <a:buNone/>
            </a:pPr>
            <a:r>
              <a:rPr lang="en-GB" dirty="0"/>
              <a:t>for(i=</a:t>
            </a:r>
            <a:r>
              <a:rPr lang="en-GB" dirty="0" err="1"/>
              <a:t>nstart</a:t>
            </a:r>
            <a:r>
              <a:rPr lang="en-GB" dirty="0"/>
              <a:t>; i&lt;=</a:t>
            </a:r>
            <a:r>
              <a:rPr lang="en-GB" dirty="0" err="1"/>
              <a:t>nfinish</a:t>
            </a:r>
            <a:r>
              <a:rPr lang="en-GB" dirty="0"/>
              <a:t>; i++){ </a:t>
            </a:r>
          </a:p>
          <a:p>
            <a:pPr marL="0" indent="0">
              <a:buNone/>
            </a:pPr>
            <a:r>
              <a:rPr lang="en-GB" dirty="0"/>
              <a:t>    for(c=2; c &lt;= i-1; </a:t>
            </a:r>
            <a:r>
              <a:rPr lang="en-GB" dirty="0" err="1"/>
              <a:t>c++</a:t>
            </a:r>
            <a:r>
              <a:rPr lang="en-GB" dirty="0"/>
              <a:t>){</a:t>
            </a:r>
          </a:p>
          <a:p>
            <a:pPr marL="0" indent="0">
              <a:buNone/>
            </a:pPr>
            <a:r>
              <a:rPr lang="en-GB" dirty="0"/>
              <a:t>      if ( </a:t>
            </a:r>
            <a:r>
              <a:rPr lang="en-GB" dirty="0" err="1"/>
              <a:t>i%c</a:t>
            </a:r>
            <a:r>
              <a:rPr lang="en-GB" dirty="0"/>
              <a:t> == 0 )</a:t>
            </a:r>
          </a:p>
          <a:p>
            <a:pPr marL="0" indent="0">
              <a:buNone/>
            </a:pPr>
            <a:r>
              <a:rPr lang="en-GB" dirty="0"/>
              <a:t>        break;</a:t>
            </a:r>
          </a:p>
          <a:p>
            <a:pPr marL="0" indent="0">
              <a:buNone/>
            </a:pPr>
            <a:r>
              <a:rPr lang="en-GB" dirty="0"/>
              <a:t>    }</a:t>
            </a:r>
          </a:p>
          <a:p>
            <a:pPr marL="0" indent="0">
              <a:buNone/>
            </a:pPr>
            <a:r>
              <a:rPr lang="en-GB" dirty="0"/>
              <a:t>    if ( c == i )</a:t>
            </a:r>
          </a:p>
          <a:p>
            <a:pPr marL="0" indent="0">
              <a:buNone/>
            </a:pPr>
            <a:r>
              <a:rPr lang="en-GB" dirty="0"/>
              <a:t>        </a:t>
            </a:r>
            <a:r>
              <a:rPr lang="en-GB" dirty="0" err="1"/>
              <a:t>printf</a:t>
            </a:r>
            <a:r>
              <a:rPr lang="en-GB" dirty="0"/>
              <a:t>("</a:t>
            </a:r>
            <a:r>
              <a:rPr lang="en-GB" dirty="0" err="1"/>
              <a:t>threadOne</a:t>
            </a:r>
            <a:r>
              <a:rPr lang="en-GB" dirty="0"/>
              <a:t> : %d\n", </a:t>
            </a:r>
            <a:r>
              <a:rPr lang="en-GB" dirty="0" err="1"/>
              <a:t>i</a:t>
            </a:r>
            <a:r>
              <a:rPr lang="en-GB" dirty="0"/>
              <a:t>);</a:t>
            </a:r>
          </a:p>
          <a:p>
            <a:pPr marL="0" indent="0">
              <a:buNone/>
            </a:pPr>
            <a:r>
              <a:rPr lang="en-GB" dirty="0"/>
              <a:t>  }</a:t>
            </a:r>
          </a:p>
          <a:p>
            <a:pPr marL="0" indent="0">
              <a:buNone/>
            </a:pPr>
            <a:r>
              <a:rPr lang="en-GB" dirty="0"/>
              <a:t>  return 0;</a:t>
            </a:r>
          </a:p>
          <a:p>
            <a:pPr marL="0" indent="0">
              <a:buNone/>
            </a:pPr>
            <a:r>
              <a:rPr lang="en-GB" dirty="0"/>
              <a:t>}</a:t>
            </a:r>
          </a:p>
          <a:p>
            <a:pPr marL="0" indent="0">
              <a:buNone/>
            </a:pPr>
            <a:endParaRPr lang="en-GB" dirty="0"/>
          </a:p>
          <a:p>
            <a:pPr marL="0" indent="0">
              <a:buNone/>
            </a:pPr>
            <a:r>
              <a:rPr lang="en-GB" dirty="0"/>
              <a:t>void main(){</a:t>
            </a:r>
          </a:p>
          <a:p>
            <a:pPr marL="0" indent="0">
              <a:buNone/>
            </a:pPr>
            <a:r>
              <a:rPr lang="en-GB" dirty="0"/>
              <a:t>  </a:t>
            </a:r>
            <a:r>
              <a:rPr lang="en-GB" dirty="0" err="1"/>
              <a:t>pthread_t</a:t>
            </a:r>
            <a:r>
              <a:rPr lang="en-GB" dirty="0"/>
              <a:t> thrID1, thrID2;</a:t>
            </a:r>
            <a:br>
              <a:rPr lang="en-GB" dirty="0"/>
            </a:br>
            <a:endParaRPr lang="en-GB" dirty="0"/>
          </a:p>
          <a:p>
            <a:pPr marL="0" indent="0">
              <a:buNone/>
            </a:pPr>
            <a:r>
              <a:rPr lang="en-GB" dirty="0"/>
              <a:t>  </a:t>
            </a:r>
            <a:r>
              <a:rPr lang="en-GB" dirty="0" err="1"/>
              <a:t>printf</a:t>
            </a:r>
            <a:r>
              <a:rPr lang="en-GB" dirty="0"/>
              <a:t>("</a:t>
            </a:r>
            <a:r>
              <a:rPr lang="en-GB" dirty="0" err="1"/>
              <a:t>threadOne</a:t>
            </a:r>
            <a:r>
              <a:rPr lang="en-GB" dirty="0"/>
              <a:t> : Prime numbers between %d and %d are :\n", </a:t>
            </a:r>
            <a:r>
              <a:rPr lang="en-GB" dirty="0" err="1"/>
              <a:t>nstart</a:t>
            </a:r>
            <a:r>
              <a:rPr lang="en-GB" dirty="0"/>
              <a:t>, </a:t>
            </a:r>
            <a:r>
              <a:rPr lang="en-GB" dirty="0" err="1"/>
              <a:t>nfinish</a:t>
            </a:r>
            <a:r>
              <a:rPr lang="en-GB" dirty="0"/>
              <a:t>);</a:t>
            </a:r>
            <a:br>
              <a:rPr lang="en-GB" dirty="0"/>
            </a:br>
            <a:r>
              <a:rPr lang="en-GB" dirty="0"/>
              <a:t>  </a:t>
            </a:r>
            <a:r>
              <a:rPr lang="en-GB" dirty="0" err="1"/>
              <a:t>pthread_create</a:t>
            </a:r>
            <a:r>
              <a:rPr lang="en-GB" dirty="0"/>
              <a:t>(&amp;thrID1, NULL, </a:t>
            </a:r>
            <a:r>
              <a:rPr lang="en-GB" dirty="0" err="1"/>
              <a:t>threadOne</a:t>
            </a:r>
            <a:r>
              <a:rPr lang="en-GB" dirty="0"/>
              <a:t>, NULL);</a:t>
            </a:r>
          </a:p>
          <a:p>
            <a:pPr marL="0" indent="0">
              <a:buNone/>
            </a:pPr>
            <a:r>
              <a:rPr lang="en-GB" dirty="0"/>
              <a:t>  </a:t>
            </a:r>
            <a:r>
              <a:rPr lang="en-GB" dirty="0" err="1"/>
              <a:t>pthread_create</a:t>
            </a:r>
            <a:r>
              <a:rPr lang="en-GB" dirty="0"/>
              <a:t>(&amp;thrID2, NULL, </a:t>
            </a:r>
            <a:r>
              <a:rPr lang="en-GB" dirty="0" err="1"/>
              <a:t>threadTwo</a:t>
            </a:r>
            <a:r>
              <a:rPr lang="en-GB" dirty="0"/>
              <a:t>, NULL);</a:t>
            </a:r>
          </a:p>
          <a:p>
            <a:pPr marL="0" indent="0">
              <a:buNone/>
            </a:pPr>
            <a:r>
              <a:rPr lang="en-GB" dirty="0"/>
              <a:t>  </a:t>
            </a:r>
            <a:r>
              <a:rPr lang="en-GB" dirty="0" err="1"/>
              <a:t>pthread_join</a:t>
            </a:r>
            <a:r>
              <a:rPr lang="en-GB" dirty="0"/>
              <a:t>(thrID1, NULL);</a:t>
            </a:r>
          </a:p>
          <a:p>
            <a:pPr marL="0" indent="0">
              <a:buNone/>
            </a:pPr>
            <a:r>
              <a:rPr lang="en-GB" dirty="0"/>
              <a:t>  </a:t>
            </a:r>
            <a:r>
              <a:rPr lang="en-GB" dirty="0" err="1"/>
              <a:t>pthread_join</a:t>
            </a:r>
            <a:r>
              <a:rPr lang="en-GB" dirty="0"/>
              <a:t>(thrID2, NULL);</a:t>
            </a:r>
          </a:p>
          <a:p>
            <a:pPr marL="0" indent="0">
              <a:buNone/>
            </a:pPr>
            <a:r>
              <a:rPr lang="en-GB" dirty="0"/>
              <a:t>}</a:t>
            </a:r>
          </a:p>
          <a:p>
            <a:pPr marL="0" indent="0">
              <a:buNone/>
            </a:pPr>
            <a:endParaRPr lang="en-GB" dirty="0"/>
          </a:p>
        </p:txBody>
      </p:sp>
      <p:sp>
        <p:nvSpPr>
          <p:cNvPr id="6" name="Content Placeholder 2">
            <a:extLst>
              <a:ext uri="{FF2B5EF4-FFF2-40B4-BE49-F238E27FC236}">
                <a16:creationId xmlns:a16="http://schemas.microsoft.com/office/drawing/2014/main" id="{000C5A28-48EB-4474-B55E-3282EABA9A3F}"/>
              </a:ext>
            </a:extLst>
          </p:cNvPr>
          <p:cNvSpPr txBox="1">
            <a:spLocks/>
          </p:cNvSpPr>
          <p:nvPr/>
        </p:nvSpPr>
        <p:spPr bwMode="auto">
          <a:xfrm>
            <a:off x="7536160" y="1316546"/>
            <a:ext cx="2736304" cy="3336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40000" lnSpcReduction="20000"/>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buNone/>
            </a:pPr>
            <a:r>
              <a:rPr lang="en-GB" kern="0" dirty="0"/>
              <a:t>void *</a:t>
            </a:r>
            <a:r>
              <a:rPr lang="en-GB" kern="0" dirty="0" err="1"/>
              <a:t>threadTwo</a:t>
            </a:r>
            <a:r>
              <a:rPr lang="en-GB" kern="0" dirty="0"/>
              <a:t>(void *p){</a:t>
            </a:r>
          </a:p>
          <a:p>
            <a:pPr marL="0" indent="0">
              <a:buNone/>
            </a:pPr>
            <a:r>
              <a:rPr lang="en-GB" kern="0" dirty="0"/>
              <a:t>  int </a:t>
            </a:r>
            <a:r>
              <a:rPr lang="en-GB" kern="0" dirty="0" err="1"/>
              <a:t>i</a:t>
            </a:r>
            <a:r>
              <a:rPr lang="en-GB" kern="0" dirty="0"/>
              <a:t>, c;</a:t>
            </a:r>
          </a:p>
          <a:p>
            <a:pPr marL="0" indent="0">
              <a:buNone/>
            </a:pPr>
            <a:r>
              <a:rPr lang="en-GB" kern="0" dirty="0"/>
              <a:t>  int </a:t>
            </a:r>
            <a:r>
              <a:rPr lang="en-GB" kern="0" dirty="0" err="1"/>
              <a:t>nstart</a:t>
            </a:r>
            <a:r>
              <a:rPr lang="en-GB" kern="0" dirty="0"/>
              <a:t>=10001, </a:t>
            </a:r>
            <a:r>
              <a:rPr lang="en-GB" kern="0" dirty="0" err="1"/>
              <a:t>nfinish</a:t>
            </a:r>
            <a:r>
              <a:rPr lang="en-GB" kern="0" dirty="0"/>
              <a:t>=20000; </a:t>
            </a:r>
          </a:p>
          <a:p>
            <a:pPr marL="0" indent="0">
              <a:buNone/>
            </a:pPr>
            <a:r>
              <a:rPr lang="en-GB" kern="0" dirty="0"/>
              <a:t>  for(i=</a:t>
            </a:r>
            <a:r>
              <a:rPr lang="en-GB" kern="0" dirty="0" err="1"/>
              <a:t>nstart</a:t>
            </a:r>
            <a:r>
              <a:rPr lang="en-GB" kern="0" dirty="0"/>
              <a:t>; i&lt;=</a:t>
            </a:r>
            <a:r>
              <a:rPr lang="en-GB" kern="0" dirty="0" err="1"/>
              <a:t>nfinish</a:t>
            </a:r>
            <a:r>
              <a:rPr lang="en-GB" kern="0" dirty="0"/>
              <a:t>; i++){ </a:t>
            </a:r>
          </a:p>
          <a:p>
            <a:pPr marL="0" indent="0">
              <a:buNone/>
            </a:pPr>
            <a:r>
              <a:rPr lang="en-GB" kern="0" dirty="0"/>
              <a:t>    for(c=2; c&lt;=i-1; </a:t>
            </a:r>
            <a:r>
              <a:rPr lang="en-GB" kern="0" dirty="0" err="1"/>
              <a:t>c++</a:t>
            </a:r>
            <a:r>
              <a:rPr lang="en-GB" kern="0" dirty="0"/>
              <a:t>){</a:t>
            </a:r>
          </a:p>
          <a:p>
            <a:pPr marL="0" indent="0">
              <a:buNone/>
            </a:pPr>
            <a:r>
              <a:rPr lang="en-GB" kern="0" dirty="0"/>
              <a:t>      if ( </a:t>
            </a:r>
            <a:r>
              <a:rPr lang="en-GB" kern="0" dirty="0" err="1"/>
              <a:t>i%c</a:t>
            </a:r>
            <a:r>
              <a:rPr lang="en-GB" kern="0" dirty="0"/>
              <a:t>==0 )</a:t>
            </a:r>
          </a:p>
          <a:p>
            <a:pPr marL="0" indent="0">
              <a:buNone/>
            </a:pPr>
            <a:r>
              <a:rPr lang="en-GB" kern="0" dirty="0"/>
              <a:t>        break;</a:t>
            </a:r>
          </a:p>
          <a:p>
            <a:pPr marL="0" indent="0">
              <a:buNone/>
            </a:pPr>
            <a:r>
              <a:rPr lang="en-GB" kern="0" dirty="0"/>
              <a:t>    }</a:t>
            </a:r>
          </a:p>
          <a:p>
            <a:pPr marL="0" indent="0">
              <a:buNone/>
            </a:pPr>
            <a:r>
              <a:rPr lang="en-GB" kern="0" dirty="0"/>
              <a:t>    if ( c==i )</a:t>
            </a:r>
          </a:p>
          <a:p>
            <a:pPr marL="0" indent="0">
              <a:buNone/>
            </a:pPr>
            <a:r>
              <a:rPr lang="en-GB" kern="0" dirty="0"/>
              <a:t>        </a:t>
            </a:r>
            <a:r>
              <a:rPr lang="en-GB" kern="0" dirty="0" err="1"/>
              <a:t>printf</a:t>
            </a:r>
            <a:r>
              <a:rPr lang="en-GB" kern="0" dirty="0"/>
              <a:t>("</a:t>
            </a:r>
            <a:r>
              <a:rPr lang="en-GB" kern="0" dirty="0" err="1"/>
              <a:t>threadTwo</a:t>
            </a:r>
            <a:r>
              <a:rPr lang="en-GB" kern="0" dirty="0"/>
              <a:t> : %d\n", </a:t>
            </a:r>
            <a:r>
              <a:rPr lang="en-GB" kern="0" dirty="0" err="1"/>
              <a:t>i</a:t>
            </a:r>
            <a:r>
              <a:rPr lang="en-GB" kern="0" dirty="0"/>
              <a:t>);</a:t>
            </a:r>
          </a:p>
          <a:p>
            <a:pPr marL="0" indent="0">
              <a:buNone/>
            </a:pPr>
            <a:r>
              <a:rPr lang="en-GB" kern="0" dirty="0"/>
              <a:t>  }</a:t>
            </a:r>
          </a:p>
          <a:p>
            <a:pPr marL="0" indent="0">
              <a:buNone/>
            </a:pPr>
            <a:r>
              <a:rPr lang="en-GB" kern="0" dirty="0"/>
              <a:t>  return 0;</a:t>
            </a:r>
          </a:p>
          <a:p>
            <a:pPr marL="0" indent="0">
              <a:buNone/>
            </a:pPr>
            <a:r>
              <a:rPr lang="en-GB" kern="0" dirty="0"/>
              <a:t>}</a:t>
            </a:r>
          </a:p>
        </p:txBody>
      </p:sp>
    </p:spTree>
    <p:extLst>
      <p:ext uri="{BB962C8B-B14F-4D97-AF65-F5344CB8AC3E}">
        <p14:creationId xmlns:p14="http://schemas.microsoft.com/office/powerpoint/2010/main" val="1056657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A91F-0F3B-43E2-A474-69BE09BF5E83}"/>
              </a:ext>
            </a:extLst>
          </p:cNvPr>
          <p:cNvSpPr>
            <a:spLocks noGrp="1"/>
          </p:cNvSpPr>
          <p:nvPr>
            <p:ph type="title"/>
          </p:nvPr>
        </p:nvSpPr>
        <p:spPr/>
        <p:txBody>
          <a:bodyPr/>
          <a:lstStyle/>
          <a:p>
            <a:r>
              <a:rPr lang="en-GB" dirty="0"/>
              <a:t>Any-Threaded Version</a:t>
            </a:r>
          </a:p>
        </p:txBody>
      </p:sp>
      <p:sp>
        <p:nvSpPr>
          <p:cNvPr id="3" name="Content Placeholder 2">
            <a:extLst>
              <a:ext uri="{FF2B5EF4-FFF2-40B4-BE49-F238E27FC236}">
                <a16:creationId xmlns:a16="http://schemas.microsoft.com/office/drawing/2014/main" id="{B5800B6D-FE9B-4B50-8D89-29396ACAD9BE}"/>
              </a:ext>
            </a:extLst>
          </p:cNvPr>
          <p:cNvSpPr>
            <a:spLocks noGrp="1"/>
          </p:cNvSpPr>
          <p:nvPr>
            <p:ph idx="1"/>
          </p:nvPr>
        </p:nvSpPr>
        <p:spPr/>
        <p:txBody>
          <a:bodyPr>
            <a:normAutofit fontScale="40000" lnSpcReduction="20000"/>
          </a:bodyPr>
          <a:lstStyle/>
          <a:p>
            <a:pPr marL="0" indent="0">
              <a:buNone/>
            </a:pPr>
            <a:r>
              <a:rPr lang="en-GB" dirty="0"/>
              <a:t>#include &lt;</a:t>
            </a:r>
            <a:r>
              <a:rPr lang="en-GB" dirty="0" err="1"/>
              <a:t>stdio.h</a:t>
            </a:r>
            <a:r>
              <a:rPr lang="en-GB" dirty="0"/>
              <a:t>&gt;</a:t>
            </a:r>
          </a:p>
          <a:p>
            <a:pPr marL="0" indent="0">
              <a:buNone/>
            </a:pPr>
            <a:r>
              <a:rPr lang="en-GB" dirty="0"/>
              <a:t>#include &lt;</a:t>
            </a:r>
            <a:r>
              <a:rPr lang="en-GB" dirty="0" err="1"/>
              <a:t>pthread.h</a:t>
            </a:r>
            <a:r>
              <a:rPr lang="en-GB" dirty="0"/>
              <a:t>&gt;</a:t>
            </a:r>
          </a:p>
          <a:p>
            <a:pPr marL="0" indent="0">
              <a:buNone/>
            </a:pPr>
            <a:r>
              <a:rPr lang="en-GB" dirty="0"/>
              <a:t>#include &lt;</a:t>
            </a:r>
            <a:r>
              <a:rPr lang="en-GB" dirty="0" err="1"/>
              <a:t>stdlib.h</a:t>
            </a:r>
            <a:r>
              <a:rPr lang="en-GB" dirty="0"/>
              <a:t>&gt;</a:t>
            </a:r>
          </a:p>
          <a:p>
            <a:pPr marL="0" indent="0">
              <a:buNone/>
            </a:pPr>
            <a:endParaRPr lang="en-GB" dirty="0"/>
          </a:p>
          <a:p>
            <a:pPr marL="0" indent="0">
              <a:buNone/>
            </a:pPr>
            <a:r>
              <a:rPr lang="en-GB" dirty="0"/>
              <a:t>struct </a:t>
            </a:r>
            <a:r>
              <a:rPr lang="en-GB" dirty="0" err="1"/>
              <a:t>threadArgs</a:t>
            </a:r>
            <a:r>
              <a:rPr lang="en-GB" dirty="0"/>
              <a:t> {</a:t>
            </a:r>
          </a:p>
          <a:p>
            <a:pPr marL="0" indent="0">
              <a:buNone/>
            </a:pPr>
            <a:r>
              <a:rPr lang="en-GB" dirty="0"/>
              <a:t>  int start;</a:t>
            </a:r>
          </a:p>
          <a:p>
            <a:pPr marL="0" indent="0">
              <a:buNone/>
            </a:pPr>
            <a:r>
              <a:rPr lang="en-GB" dirty="0"/>
              <a:t>  int finish;</a:t>
            </a:r>
          </a:p>
          <a:p>
            <a:pPr marL="0" indent="0">
              <a:buNone/>
            </a:pPr>
            <a:r>
              <a:rPr lang="en-GB" dirty="0"/>
              <a:t>};</a:t>
            </a:r>
          </a:p>
          <a:p>
            <a:pPr marL="0" indent="0">
              <a:buNone/>
            </a:pPr>
            <a:endParaRPr lang="en-GB" dirty="0"/>
          </a:p>
          <a:p>
            <a:pPr marL="0" indent="0">
              <a:buNone/>
            </a:pPr>
            <a:r>
              <a:rPr lang="en-GB" dirty="0"/>
              <a:t>void *</a:t>
            </a:r>
            <a:r>
              <a:rPr lang="en-GB" dirty="0" err="1"/>
              <a:t>threadMain</a:t>
            </a:r>
            <a:r>
              <a:rPr lang="en-GB" dirty="0"/>
              <a:t>(void *p){</a:t>
            </a:r>
          </a:p>
          <a:p>
            <a:pPr marL="0" indent="0">
              <a:buNone/>
            </a:pPr>
            <a:r>
              <a:rPr lang="en-GB" dirty="0"/>
              <a:t>  struct </a:t>
            </a:r>
            <a:r>
              <a:rPr lang="en-GB" dirty="0" err="1"/>
              <a:t>threadArgs</a:t>
            </a:r>
            <a:r>
              <a:rPr lang="en-GB" dirty="0"/>
              <a:t> *</a:t>
            </a:r>
            <a:r>
              <a:rPr lang="en-GB" dirty="0" err="1"/>
              <a:t>pargs</a:t>
            </a:r>
            <a:r>
              <a:rPr lang="en-GB" dirty="0"/>
              <a:t> = p;</a:t>
            </a:r>
          </a:p>
          <a:p>
            <a:pPr marL="0" indent="0">
              <a:buNone/>
            </a:pPr>
            <a:r>
              <a:rPr lang="en-GB" dirty="0"/>
              <a:t>  int </a:t>
            </a:r>
            <a:r>
              <a:rPr lang="en-GB" dirty="0" err="1"/>
              <a:t>i</a:t>
            </a:r>
            <a:r>
              <a:rPr lang="en-GB" dirty="0"/>
              <a:t>, c;</a:t>
            </a:r>
          </a:p>
          <a:p>
            <a:pPr marL="0" indent="0">
              <a:buNone/>
            </a:pPr>
            <a:r>
              <a:rPr lang="en-GB" dirty="0"/>
              <a:t>  int </a:t>
            </a:r>
            <a:r>
              <a:rPr lang="en-GB" dirty="0" err="1"/>
              <a:t>nstart</a:t>
            </a:r>
            <a:r>
              <a:rPr lang="en-GB" dirty="0"/>
              <a:t>=</a:t>
            </a:r>
            <a:r>
              <a:rPr lang="en-GB" dirty="0" err="1"/>
              <a:t>pargs</a:t>
            </a:r>
            <a:r>
              <a:rPr lang="en-GB" dirty="0"/>
              <a:t>-&gt;start, </a:t>
            </a:r>
            <a:r>
              <a:rPr lang="en-GB" dirty="0" err="1"/>
              <a:t>nfinish</a:t>
            </a:r>
            <a:r>
              <a:rPr lang="en-GB" dirty="0"/>
              <a:t>=</a:t>
            </a:r>
            <a:r>
              <a:rPr lang="en-GB" dirty="0" err="1"/>
              <a:t>pargs</a:t>
            </a:r>
            <a:r>
              <a:rPr lang="en-GB" dirty="0"/>
              <a:t>-&gt;finish; </a:t>
            </a:r>
          </a:p>
          <a:p>
            <a:pPr marL="0" indent="0">
              <a:buNone/>
            </a:pPr>
            <a:r>
              <a:rPr lang="en-GB" dirty="0"/>
              <a:t>  </a:t>
            </a:r>
            <a:r>
              <a:rPr lang="en-GB" dirty="0" err="1"/>
              <a:t>pthread_t</a:t>
            </a:r>
            <a:r>
              <a:rPr lang="en-GB" dirty="0"/>
              <a:t> </a:t>
            </a:r>
            <a:r>
              <a:rPr lang="en-GB" dirty="0" err="1"/>
              <a:t>tid</a:t>
            </a:r>
            <a:r>
              <a:rPr lang="en-GB" dirty="0"/>
              <a:t> = </a:t>
            </a:r>
            <a:r>
              <a:rPr lang="en-GB" dirty="0" err="1"/>
              <a:t>pthread_self</a:t>
            </a:r>
            <a:r>
              <a:rPr lang="en-GB" dirty="0"/>
              <a:t>();</a:t>
            </a:r>
          </a:p>
          <a:p>
            <a:pPr marL="0" indent="0">
              <a:buNone/>
            </a:pPr>
            <a:endParaRPr lang="en-GB" dirty="0"/>
          </a:p>
          <a:p>
            <a:pPr marL="0" indent="0">
              <a:buNone/>
            </a:pPr>
            <a:r>
              <a:rPr lang="nn-NO" dirty="0"/>
              <a:t>for(i=nstart; i&lt;=nfinish; i++)</a:t>
            </a:r>
            <a:r>
              <a:rPr lang="en-GB" dirty="0"/>
              <a:t>{ </a:t>
            </a:r>
          </a:p>
          <a:p>
            <a:pPr marL="0" indent="0">
              <a:buNone/>
            </a:pPr>
            <a:r>
              <a:rPr lang="en-GB" dirty="0"/>
              <a:t>    for(c=2; c&lt;=i-1; </a:t>
            </a:r>
            <a:r>
              <a:rPr lang="en-GB" dirty="0" err="1"/>
              <a:t>c++</a:t>
            </a:r>
            <a:r>
              <a:rPr lang="en-GB" dirty="0"/>
              <a:t>) {</a:t>
            </a:r>
          </a:p>
          <a:p>
            <a:pPr marL="0" indent="0">
              <a:buNone/>
            </a:pPr>
            <a:r>
              <a:rPr lang="en-GB" dirty="0"/>
              <a:t>      if ( </a:t>
            </a:r>
            <a:r>
              <a:rPr lang="en-GB" dirty="0" err="1"/>
              <a:t>i%c</a:t>
            </a:r>
            <a:r>
              <a:rPr lang="en-GB" dirty="0"/>
              <a:t>==0 )</a:t>
            </a:r>
          </a:p>
          <a:p>
            <a:pPr marL="0" indent="0">
              <a:buNone/>
            </a:pPr>
            <a:r>
              <a:rPr lang="en-GB" dirty="0"/>
              <a:t>        break;</a:t>
            </a:r>
          </a:p>
          <a:p>
            <a:pPr marL="0" indent="0">
              <a:buNone/>
            </a:pPr>
            <a:r>
              <a:rPr lang="en-GB" dirty="0"/>
              <a:t>    }</a:t>
            </a:r>
          </a:p>
          <a:p>
            <a:pPr marL="0" indent="0">
              <a:buNone/>
            </a:pPr>
            <a:r>
              <a:rPr lang="en-GB" dirty="0"/>
              <a:t>    if ( c==</a:t>
            </a:r>
            <a:r>
              <a:rPr lang="en-GB" dirty="0" err="1"/>
              <a:t>i</a:t>
            </a:r>
            <a:r>
              <a:rPr lang="en-GB" dirty="0"/>
              <a:t> )</a:t>
            </a:r>
          </a:p>
          <a:p>
            <a:pPr marL="0" indent="0">
              <a:buNone/>
            </a:pPr>
            <a:r>
              <a:rPr lang="en-GB" dirty="0"/>
              <a:t>      </a:t>
            </a:r>
            <a:r>
              <a:rPr lang="en-GB" dirty="0" err="1"/>
              <a:t>printf</a:t>
            </a:r>
            <a:r>
              <a:rPr lang="en-GB" dirty="0"/>
              <a:t>("Thread %</a:t>
            </a:r>
            <a:r>
              <a:rPr lang="en-GB" dirty="0" err="1"/>
              <a:t>ld</a:t>
            </a:r>
            <a:r>
              <a:rPr lang="en-GB" dirty="0"/>
              <a:t> : %d\n",</a:t>
            </a:r>
            <a:r>
              <a:rPr lang="en-GB" dirty="0" err="1"/>
              <a:t>tid</a:t>
            </a:r>
            <a:r>
              <a:rPr lang="en-GB" dirty="0"/>
              <a:t>, </a:t>
            </a:r>
            <a:r>
              <a:rPr lang="en-GB" dirty="0" err="1"/>
              <a:t>i</a:t>
            </a:r>
            <a:r>
              <a:rPr lang="en-GB" dirty="0"/>
              <a:t>);</a:t>
            </a:r>
          </a:p>
          <a:p>
            <a:pPr marL="0" indent="0">
              <a:buNone/>
            </a:pPr>
            <a:r>
              <a:rPr lang="en-GB" dirty="0"/>
              <a:t>  }</a:t>
            </a:r>
          </a:p>
          <a:p>
            <a:pPr marL="0" indent="0">
              <a:buNone/>
            </a:pPr>
            <a:r>
              <a:rPr lang="en-GB" dirty="0"/>
              <a:t>  return 0;</a:t>
            </a:r>
          </a:p>
          <a:p>
            <a:pPr marL="0" indent="0">
              <a:buNone/>
            </a:pPr>
            <a:r>
              <a:rPr lang="en-GB" dirty="0"/>
              <a:t>}</a:t>
            </a:r>
          </a:p>
        </p:txBody>
      </p:sp>
      <p:sp>
        <p:nvSpPr>
          <p:cNvPr id="4" name="Content Placeholder 2">
            <a:extLst>
              <a:ext uri="{FF2B5EF4-FFF2-40B4-BE49-F238E27FC236}">
                <a16:creationId xmlns:a16="http://schemas.microsoft.com/office/drawing/2014/main" id="{934C03AF-69FB-4294-8A6B-B4A87A61AB39}"/>
              </a:ext>
            </a:extLst>
          </p:cNvPr>
          <p:cNvSpPr txBox="1">
            <a:spLocks/>
          </p:cNvSpPr>
          <p:nvPr/>
        </p:nvSpPr>
        <p:spPr bwMode="auto">
          <a:xfrm>
            <a:off x="5375920" y="1052736"/>
            <a:ext cx="5112072" cy="56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47500" lnSpcReduction="20000"/>
          </a:bodyPr>
          <a:lstStyle>
            <a:lvl1pPr marL="342884" indent="-342884" algn="l" rtl="0" eaLnBrk="1" fontAlgn="base" hangingPunct="1">
              <a:spcBef>
                <a:spcPct val="20000"/>
              </a:spcBef>
              <a:spcAft>
                <a:spcPct val="0"/>
              </a:spcAft>
              <a:buChar char="•"/>
              <a:defRPr sz="3200">
                <a:solidFill>
                  <a:schemeClr val="tx1"/>
                </a:solidFill>
                <a:latin typeface="+mn-lt"/>
                <a:ea typeface="+mn-ea"/>
                <a:cs typeface="+mn-cs"/>
              </a:defRPr>
            </a:lvl1pPr>
            <a:lvl2pPr marL="742913" indent="-285736" algn="l" rtl="0" eaLnBrk="1" fontAlgn="base" hangingPunct="1">
              <a:spcBef>
                <a:spcPct val="20000"/>
              </a:spcBef>
              <a:spcAft>
                <a:spcPct val="0"/>
              </a:spcAft>
              <a:buChar char="–"/>
              <a:defRPr sz="2800">
                <a:solidFill>
                  <a:schemeClr val="tx1"/>
                </a:solidFill>
                <a:latin typeface="+mn-lt"/>
              </a:defRPr>
            </a:lvl2pPr>
            <a:lvl3pPr marL="1142944" indent="-228588" algn="l" rtl="0" eaLnBrk="1" fontAlgn="base" hangingPunct="1">
              <a:spcBef>
                <a:spcPct val="20000"/>
              </a:spcBef>
              <a:spcAft>
                <a:spcPct val="0"/>
              </a:spcAft>
              <a:buChar char="•"/>
              <a:defRPr sz="2400">
                <a:solidFill>
                  <a:schemeClr val="tx1"/>
                </a:solidFill>
                <a:latin typeface="+mn-lt"/>
              </a:defRPr>
            </a:lvl3pPr>
            <a:lvl4pPr marL="1600120" indent="-228588" algn="l" rtl="0" eaLnBrk="1" fontAlgn="base" hangingPunct="1">
              <a:spcBef>
                <a:spcPct val="20000"/>
              </a:spcBef>
              <a:spcAft>
                <a:spcPct val="0"/>
              </a:spcAft>
              <a:buChar char="–"/>
              <a:defRPr sz="2000">
                <a:solidFill>
                  <a:schemeClr val="tx1"/>
                </a:solidFill>
                <a:latin typeface="+mn-lt"/>
              </a:defRPr>
            </a:lvl4pPr>
            <a:lvl5pPr marL="2057297" indent="-228588" algn="l" rtl="0" eaLnBrk="1" fontAlgn="base" hangingPunct="1">
              <a:spcBef>
                <a:spcPct val="20000"/>
              </a:spcBef>
              <a:spcAft>
                <a:spcPct val="0"/>
              </a:spcAft>
              <a:buChar char="»"/>
              <a:defRPr sz="2000">
                <a:solidFill>
                  <a:schemeClr val="tx1"/>
                </a:solidFill>
                <a:latin typeface="+mn-lt"/>
              </a:defRPr>
            </a:lvl5pPr>
            <a:lvl6pPr marL="2514474" indent="-228588" algn="l" rtl="0" eaLnBrk="1" fontAlgn="base" hangingPunct="1">
              <a:spcBef>
                <a:spcPct val="20000"/>
              </a:spcBef>
              <a:spcAft>
                <a:spcPct val="0"/>
              </a:spcAft>
              <a:buChar char="»"/>
              <a:defRPr sz="2000">
                <a:solidFill>
                  <a:schemeClr val="tx1"/>
                </a:solidFill>
                <a:latin typeface="+mn-lt"/>
              </a:defRPr>
            </a:lvl6pPr>
            <a:lvl7pPr marL="2971652" indent="-228588" algn="l" rtl="0" eaLnBrk="1" fontAlgn="base" hangingPunct="1">
              <a:spcBef>
                <a:spcPct val="20000"/>
              </a:spcBef>
              <a:spcAft>
                <a:spcPct val="0"/>
              </a:spcAft>
              <a:buChar char="»"/>
              <a:defRPr sz="2000">
                <a:solidFill>
                  <a:schemeClr val="tx1"/>
                </a:solidFill>
                <a:latin typeface="+mn-lt"/>
              </a:defRPr>
            </a:lvl7pPr>
            <a:lvl8pPr marL="3428829" indent="-228588" algn="l" rtl="0" eaLnBrk="1" fontAlgn="base" hangingPunct="1">
              <a:spcBef>
                <a:spcPct val="20000"/>
              </a:spcBef>
              <a:spcAft>
                <a:spcPct val="0"/>
              </a:spcAft>
              <a:buChar char="»"/>
              <a:defRPr sz="2000">
                <a:solidFill>
                  <a:schemeClr val="tx1"/>
                </a:solidFill>
                <a:latin typeface="+mn-lt"/>
              </a:defRPr>
            </a:lvl8pPr>
            <a:lvl9pPr marL="3886006" indent="-228588" algn="l" rtl="0" eaLnBrk="1" fontAlgn="base" hangingPunct="1">
              <a:spcBef>
                <a:spcPct val="20000"/>
              </a:spcBef>
              <a:spcAft>
                <a:spcPct val="0"/>
              </a:spcAft>
              <a:buChar char="»"/>
              <a:defRPr sz="2000">
                <a:solidFill>
                  <a:schemeClr val="tx1"/>
                </a:solidFill>
                <a:latin typeface="+mn-lt"/>
              </a:defRPr>
            </a:lvl9pPr>
          </a:lstStyle>
          <a:p>
            <a:pPr marL="0" indent="0">
              <a:buNone/>
            </a:pPr>
            <a:endParaRPr lang="en-GB" kern="0" dirty="0"/>
          </a:p>
          <a:p>
            <a:pPr marL="0" indent="0">
              <a:buNone/>
            </a:pPr>
            <a:r>
              <a:rPr lang="en-GB" kern="0" dirty="0"/>
              <a:t>void main(int </a:t>
            </a:r>
            <a:r>
              <a:rPr lang="en-GB" kern="0" dirty="0" err="1"/>
              <a:t>argc</a:t>
            </a:r>
            <a:r>
              <a:rPr lang="en-GB" kern="0" dirty="0"/>
              <a:t>, char **</a:t>
            </a:r>
            <a:r>
              <a:rPr lang="en-GB" kern="0" dirty="0" err="1"/>
              <a:t>argv</a:t>
            </a:r>
            <a:r>
              <a:rPr lang="en-GB" kern="0" dirty="0"/>
              <a:t>){</a:t>
            </a:r>
          </a:p>
          <a:p>
            <a:pPr marL="0" indent="0">
              <a:buNone/>
            </a:pPr>
            <a:r>
              <a:rPr lang="en-GB" kern="0" dirty="0"/>
              <a:t>  int </a:t>
            </a:r>
            <a:r>
              <a:rPr lang="en-GB" kern="0" dirty="0" err="1"/>
              <a:t>numThreads</a:t>
            </a:r>
            <a:r>
              <a:rPr lang="en-GB" kern="0" dirty="0"/>
              <a:t> = 0;</a:t>
            </a:r>
          </a:p>
          <a:p>
            <a:pPr marL="0" indent="0">
              <a:buNone/>
            </a:pPr>
            <a:r>
              <a:rPr lang="en-GB" kern="0" dirty="0"/>
              <a:t>  int </a:t>
            </a:r>
            <a:r>
              <a:rPr lang="en-GB" kern="0" dirty="0" err="1"/>
              <a:t>i</a:t>
            </a:r>
            <a:r>
              <a:rPr lang="en-GB" kern="0" dirty="0"/>
              <a:t>;</a:t>
            </a:r>
          </a:p>
          <a:p>
            <a:pPr marL="0" indent="0">
              <a:buNone/>
            </a:pPr>
            <a:r>
              <a:rPr lang="en-GB" kern="0" dirty="0"/>
              <a:t>  </a:t>
            </a:r>
            <a:r>
              <a:rPr lang="en-GB" kern="0" dirty="0" err="1"/>
              <a:t>pthread_t</a:t>
            </a:r>
            <a:r>
              <a:rPr lang="en-GB" kern="0" dirty="0"/>
              <a:t> </a:t>
            </a:r>
            <a:r>
              <a:rPr lang="en-GB" kern="0" dirty="0" err="1"/>
              <a:t>thrID</a:t>
            </a:r>
            <a:r>
              <a:rPr lang="en-GB" kern="0" dirty="0"/>
              <a:t>[100];</a:t>
            </a:r>
          </a:p>
          <a:p>
            <a:pPr marL="0" indent="0">
              <a:buNone/>
            </a:pPr>
            <a:r>
              <a:rPr lang="en-GB" kern="0" dirty="0"/>
              <a:t>  struct </a:t>
            </a:r>
            <a:r>
              <a:rPr lang="en-GB" kern="0" dirty="0" err="1"/>
              <a:t>threadArgs</a:t>
            </a:r>
            <a:r>
              <a:rPr lang="en-GB" kern="0" dirty="0"/>
              <a:t> </a:t>
            </a:r>
            <a:r>
              <a:rPr lang="en-GB" kern="0" dirty="0" err="1"/>
              <a:t>targs</a:t>
            </a:r>
            <a:r>
              <a:rPr lang="en-GB" kern="0" dirty="0"/>
              <a:t>[100];</a:t>
            </a:r>
          </a:p>
          <a:p>
            <a:pPr marL="0" indent="0">
              <a:buNone/>
            </a:pPr>
            <a:endParaRPr lang="en-GB" kern="0" dirty="0"/>
          </a:p>
          <a:p>
            <a:pPr marL="0" indent="0">
              <a:buNone/>
            </a:pPr>
            <a:r>
              <a:rPr lang="en-GB" kern="0" dirty="0"/>
              <a:t>  if ( </a:t>
            </a:r>
            <a:r>
              <a:rPr lang="en-GB" kern="0" dirty="0" err="1"/>
              <a:t>argc</a:t>
            </a:r>
            <a:r>
              <a:rPr lang="en-GB" kern="0" dirty="0"/>
              <a:t> &gt; 1 ) {</a:t>
            </a:r>
          </a:p>
          <a:p>
            <a:pPr marL="0" indent="0">
              <a:buNone/>
            </a:pPr>
            <a:r>
              <a:rPr lang="en-GB" kern="0" dirty="0"/>
              <a:t>    </a:t>
            </a:r>
            <a:r>
              <a:rPr lang="en-GB" kern="0" dirty="0" err="1"/>
              <a:t>numThreads</a:t>
            </a:r>
            <a:r>
              <a:rPr lang="en-GB" kern="0" dirty="0"/>
              <a:t> = </a:t>
            </a:r>
            <a:r>
              <a:rPr lang="en-GB" kern="0" dirty="0" err="1"/>
              <a:t>atoi</a:t>
            </a:r>
            <a:r>
              <a:rPr lang="en-GB" kern="0" dirty="0"/>
              <a:t>(</a:t>
            </a:r>
            <a:r>
              <a:rPr lang="en-GB" kern="0" dirty="0" err="1"/>
              <a:t>argv</a:t>
            </a:r>
            <a:r>
              <a:rPr lang="en-GB" kern="0" dirty="0"/>
              <a:t>[1]); </a:t>
            </a:r>
          </a:p>
          <a:p>
            <a:pPr marL="0" indent="0">
              <a:buNone/>
            </a:pPr>
            <a:r>
              <a:rPr lang="en-GB" kern="0" dirty="0"/>
              <a:t>  }</a:t>
            </a:r>
          </a:p>
          <a:p>
            <a:pPr marL="0" indent="0">
              <a:buNone/>
            </a:pPr>
            <a:r>
              <a:rPr lang="en-GB" kern="0" dirty="0"/>
              <a:t>  if (</a:t>
            </a:r>
            <a:r>
              <a:rPr lang="en-GB" kern="0" dirty="0" err="1"/>
              <a:t>numThreads</a:t>
            </a:r>
            <a:r>
              <a:rPr lang="en-GB" kern="0" dirty="0"/>
              <a:t> &gt; 0 &amp;&amp; </a:t>
            </a:r>
            <a:r>
              <a:rPr lang="en-GB" kern="0" dirty="0" err="1"/>
              <a:t>numThreads</a:t>
            </a:r>
            <a:r>
              <a:rPr lang="en-GB" kern="0" dirty="0"/>
              <a:t> &lt;= 100){</a:t>
            </a:r>
          </a:p>
          <a:p>
            <a:pPr marL="0" indent="0">
              <a:buNone/>
            </a:pPr>
            <a:r>
              <a:rPr lang="en-GB" kern="0" dirty="0"/>
              <a:t>    int </a:t>
            </a:r>
            <a:r>
              <a:rPr lang="en-GB" kern="0" dirty="0" err="1"/>
              <a:t>chunksize</a:t>
            </a:r>
            <a:r>
              <a:rPr lang="en-GB" kern="0" dirty="0"/>
              <a:t> = 10000/</a:t>
            </a:r>
            <a:r>
              <a:rPr lang="en-GB" kern="0" dirty="0" err="1"/>
              <a:t>numThreads</a:t>
            </a:r>
            <a:r>
              <a:rPr lang="en-GB" kern="0" dirty="0"/>
              <a:t> ;</a:t>
            </a:r>
          </a:p>
          <a:p>
            <a:pPr marL="0" indent="0">
              <a:buNone/>
            </a:pPr>
            <a:r>
              <a:rPr lang="en-GB" kern="0" dirty="0"/>
              <a:t>    for (</a:t>
            </a:r>
            <a:r>
              <a:rPr lang="en-GB" kern="0" dirty="0" err="1"/>
              <a:t>i</a:t>
            </a:r>
            <a:r>
              <a:rPr lang="en-GB" kern="0" dirty="0"/>
              <a:t>=0; </a:t>
            </a:r>
            <a:r>
              <a:rPr lang="en-GB" kern="0" dirty="0" err="1"/>
              <a:t>i</a:t>
            </a:r>
            <a:r>
              <a:rPr lang="en-GB" kern="0" dirty="0"/>
              <a:t> &lt; </a:t>
            </a:r>
            <a:r>
              <a:rPr lang="en-GB" kern="0" dirty="0" err="1"/>
              <a:t>numThreads</a:t>
            </a:r>
            <a:r>
              <a:rPr lang="en-GB" kern="0" dirty="0"/>
              <a:t>; </a:t>
            </a:r>
            <a:r>
              <a:rPr lang="en-GB" kern="0" dirty="0" err="1"/>
              <a:t>i</a:t>
            </a:r>
            <a:r>
              <a:rPr lang="en-GB" kern="0" dirty="0"/>
              <a:t>++){</a:t>
            </a:r>
          </a:p>
          <a:p>
            <a:pPr marL="0" indent="0">
              <a:buNone/>
            </a:pPr>
            <a:r>
              <a:rPr lang="nn-NO" kern="0" dirty="0"/>
              <a:t>      targs[i].start = i * chunksize;</a:t>
            </a:r>
          </a:p>
          <a:p>
            <a:pPr marL="0" indent="0">
              <a:buNone/>
            </a:pPr>
            <a:r>
              <a:rPr lang="pl-PL" kern="0" dirty="0"/>
              <a:t>      targs[i].finish = (i * chunksize) + chunksize;</a:t>
            </a:r>
          </a:p>
          <a:p>
            <a:pPr marL="0" indent="0">
              <a:buNone/>
            </a:pPr>
            <a:r>
              <a:rPr lang="en-GB" kern="0" dirty="0"/>
              <a:t>      </a:t>
            </a:r>
            <a:r>
              <a:rPr lang="en-GB" kern="0" dirty="0" err="1"/>
              <a:t>pthread_create</a:t>
            </a:r>
            <a:r>
              <a:rPr lang="en-GB" kern="0" dirty="0"/>
              <a:t>(&amp;</a:t>
            </a:r>
            <a:r>
              <a:rPr lang="en-GB" kern="0" dirty="0" err="1"/>
              <a:t>thrID</a:t>
            </a:r>
            <a:r>
              <a:rPr lang="en-GB" kern="0" dirty="0"/>
              <a:t>[</a:t>
            </a:r>
            <a:r>
              <a:rPr lang="en-GB" kern="0" dirty="0" err="1"/>
              <a:t>i</a:t>
            </a:r>
            <a:r>
              <a:rPr lang="en-GB" kern="0" dirty="0"/>
              <a:t>], NULL, </a:t>
            </a:r>
            <a:r>
              <a:rPr lang="en-GB" kern="0" dirty="0" err="1"/>
              <a:t>threadMain</a:t>
            </a:r>
            <a:r>
              <a:rPr lang="en-GB" kern="0" dirty="0"/>
              <a:t>, &amp;</a:t>
            </a:r>
            <a:r>
              <a:rPr lang="en-GB" kern="0" dirty="0" err="1"/>
              <a:t>targs</a:t>
            </a:r>
            <a:r>
              <a:rPr lang="en-GB" kern="0" dirty="0"/>
              <a:t>[</a:t>
            </a:r>
            <a:r>
              <a:rPr lang="en-GB" kern="0" dirty="0" err="1"/>
              <a:t>i</a:t>
            </a:r>
            <a:r>
              <a:rPr lang="en-GB" kern="0" dirty="0"/>
              <a:t>]);</a:t>
            </a:r>
          </a:p>
          <a:p>
            <a:pPr marL="0" indent="0">
              <a:buNone/>
            </a:pPr>
            <a:r>
              <a:rPr lang="en-GB" kern="0" dirty="0"/>
              <a:t>    }</a:t>
            </a:r>
          </a:p>
          <a:p>
            <a:pPr marL="0" indent="0">
              <a:buNone/>
            </a:pPr>
            <a:r>
              <a:rPr lang="en-GB" kern="0" dirty="0"/>
              <a:t>    for (</a:t>
            </a:r>
            <a:r>
              <a:rPr lang="en-GB" kern="0" dirty="0" err="1"/>
              <a:t>i</a:t>
            </a:r>
            <a:r>
              <a:rPr lang="en-GB" kern="0" dirty="0"/>
              <a:t>=0; </a:t>
            </a:r>
            <a:r>
              <a:rPr lang="en-GB" kern="0" dirty="0" err="1"/>
              <a:t>i</a:t>
            </a:r>
            <a:r>
              <a:rPr lang="en-GB" kern="0" dirty="0"/>
              <a:t> &lt; </a:t>
            </a:r>
            <a:r>
              <a:rPr lang="en-GB" kern="0" dirty="0" err="1"/>
              <a:t>numThreads</a:t>
            </a:r>
            <a:r>
              <a:rPr lang="en-GB" kern="0" dirty="0"/>
              <a:t>; </a:t>
            </a:r>
            <a:r>
              <a:rPr lang="en-GB" kern="0" dirty="0" err="1"/>
              <a:t>i</a:t>
            </a:r>
            <a:r>
              <a:rPr lang="en-GB" kern="0" dirty="0"/>
              <a:t>++){</a:t>
            </a:r>
          </a:p>
          <a:p>
            <a:pPr marL="0" indent="0">
              <a:buNone/>
            </a:pPr>
            <a:r>
              <a:rPr lang="en-GB" kern="0" dirty="0"/>
              <a:t>      </a:t>
            </a:r>
            <a:r>
              <a:rPr lang="en-GB" kern="0" dirty="0" err="1"/>
              <a:t>pthread_join</a:t>
            </a:r>
            <a:r>
              <a:rPr lang="en-GB" kern="0" dirty="0"/>
              <a:t>(</a:t>
            </a:r>
            <a:r>
              <a:rPr lang="en-GB" kern="0" dirty="0" err="1"/>
              <a:t>thrID</a:t>
            </a:r>
            <a:r>
              <a:rPr lang="en-GB" kern="0" dirty="0"/>
              <a:t>[</a:t>
            </a:r>
            <a:r>
              <a:rPr lang="en-GB" kern="0" dirty="0" err="1"/>
              <a:t>i</a:t>
            </a:r>
            <a:r>
              <a:rPr lang="en-GB" kern="0" dirty="0"/>
              <a:t>], NULL);</a:t>
            </a:r>
          </a:p>
          <a:p>
            <a:pPr marL="0" indent="0">
              <a:buNone/>
            </a:pPr>
            <a:r>
              <a:rPr lang="en-GB" kern="0" dirty="0"/>
              <a:t>    }</a:t>
            </a:r>
          </a:p>
          <a:p>
            <a:pPr marL="0" indent="0">
              <a:buNone/>
            </a:pPr>
            <a:r>
              <a:rPr lang="en-GB" kern="0" dirty="0"/>
              <a:t>  }</a:t>
            </a:r>
          </a:p>
          <a:p>
            <a:pPr marL="0" indent="0">
              <a:buNone/>
            </a:pPr>
            <a:r>
              <a:rPr lang="en-GB" kern="0" dirty="0"/>
              <a:t>}</a:t>
            </a:r>
          </a:p>
        </p:txBody>
      </p:sp>
    </p:spTree>
    <p:extLst>
      <p:ext uri="{BB962C8B-B14F-4D97-AF65-F5344CB8AC3E}">
        <p14:creationId xmlns:p14="http://schemas.microsoft.com/office/powerpoint/2010/main" val="94887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1CE84-81A9-4A03-92A6-56D1CCFE653D}"/>
              </a:ext>
            </a:extLst>
          </p:cNvPr>
          <p:cNvSpPr>
            <a:spLocks noGrp="1"/>
          </p:cNvSpPr>
          <p:nvPr>
            <p:ph type="title"/>
          </p:nvPr>
        </p:nvSpPr>
        <p:spPr/>
        <p:txBody>
          <a:bodyPr/>
          <a:lstStyle/>
          <a:p>
            <a:r>
              <a:rPr lang="en-GB" dirty="0" err="1"/>
              <a:t>pthread_create</a:t>
            </a:r>
            <a:r>
              <a:rPr lang="en-GB" dirty="0"/>
              <a:t>()</a:t>
            </a:r>
          </a:p>
        </p:txBody>
      </p:sp>
      <p:sp>
        <p:nvSpPr>
          <p:cNvPr id="3" name="Content Placeholder 2">
            <a:extLst>
              <a:ext uri="{FF2B5EF4-FFF2-40B4-BE49-F238E27FC236}">
                <a16:creationId xmlns:a16="http://schemas.microsoft.com/office/drawing/2014/main" id="{762FEFC8-EE89-428D-90D7-45C63817AFA1}"/>
              </a:ext>
            </a:extLst>
          </p:cNvPr>
          <p:cNvSpPr>
            <a:spLocks noGrp="1"/>
          </p:cNvSpPr>
          <p:nvPr>
            <p:ph idx="1"/>
          </p:nvPr>
        </p:nvSpPr>
        <p:spPr/>
        <p:txBody>
          <a:bodyPr>
            <a:normAutofit fontScale="92500" lnSpcReduction="20000"/>
          </a:bodyPr>
          <a:lstStyle/>
          <a:p>
            <a:r>
              <a:rPr lang="en-GB" dirty="0"/>
              <a:t>int </a:t>
            </a:r>
            <a:r>
              <a:rPr lang="en-GB" dirty="0" err="1"/>
              <a:t>pthread_create</a:t>
            </a:r>
            <a:r>
              <a:rPr lang="en-GB" dirty="0"/>
              <a:t>( </a:t>
            </a:r>
            <a:br>
              <a:rPr lang="en-GB" dirty="0"/>
            </a:br>
            <a:r>
              <a:rPr lang="en-GB" dirty="0"/>
              <a:t>  </a:t>
            </a:r>
            <a:r>
              <a:rPr lang="en-GB" dirty="0" err="1"/>
              <a:t>pthread_t</a:t>
            </a:r>
            <a:r>
              <a:rPr lang="en-GB" dirty="0"/>
              <a:t> *</a:t>
            </a:r>
            <a:r>
              <a:rPr lang="en-GB" dirty="0" err="1"/>
              <a:t>threadID</a:t>
            </a:r>
            <a:r>
              <a:rPr lang="en-GB" dirty="0"/>
              <a:t>,</a:t>
            </a:r>
            <a:br>
              <a:rPr lang="en-GB" dirty="0"/>
            </a:br>
            <a:r>
              <a:rPr lang="en-GB" dirty="0"/>
              <a:t>  </a:t>
            </a:r>
            <a:r>
              <a:rPr lang="en-GB" dirty="0" err="1"/>
              <a:t>pthread_attr_t</a:t>
            </a:r>
            <a:r>
              <a:rPr lang="en-GB" dirty="0"/>
              <a:t> *</a:t>
            </a:r>
            <a:r>
              <a:rPr lang="en-GB" dirty="0" err="1"/>
              <a:t>attr</a:t>
            </a:r>
            <a:r>
              <a:rPr lang="en-GB" dirty="0"/>
              <a:t>, </a:t>
            </a:r>
            <a:br>
              <a:rPr lang="en-GB" dirty="0"/>
            </a:br>
            <a:r>
              <a:rPr lang="en-GB" dirty="0"/>
              <a:t>  void *(*</a:t>
            </a:r>
            <a:r>
              <a:rPr lang="en-GB" dirty="0" err="1"/>
              <a:t>thread_function</a:t>
            </a:r>
            <a:r>
              <a:rPr lang="en-GB" dirty="0"/>
              <a:t>) (void *), </a:t>
            </a:r>
            <a:br>
              <a:rPr lang="en-GB" dirty="0"/>
            </a:br>
            <a:r>
              <a:rPr lang="en-GB" dirty="0"/>
              <a:t>  void *</a:t>
            </a:r>
            <a:r>
              <a:rPr lang="en-GB" dirty="0" err="1"/>
              <a:t>targ</a:t>
            </a:r>
            <a:r>
              <a:rPr lang="en-GB" dirty="0"/>
              <a:t>);</a:t>
            </a:r>
          </a:p>
          <a:p>
            <a:r>
              <a:rPr lang="en-GB" dirty="0"/>
              <a:t>Creates a thread and executes </a:t>
            </a:r>
            <a:r>
              <a:rPr lang="en-GB" b="1" dirty="0" err="1"/>
              <a:t>thread_function</a:t>
            </a:r>
            <a:endParaRPr lang="en-GB" b="1" dirty="0"/>
          </a:p>
          <a:p>
            <a:r>
              <a:rPr lang="en-GB" sz="3000" b="1" dirty="0" err="1"/>
              <a:t>threadID</a:t>
            </a:r>
            <a:r>
              <a:rPr lang="en-GB" sz="3000" dirty="0"/>
              <a:t> - pointer to a thread ID variable to identify the thread after it has been created.</a:t>
            </a:r>
          </a:p>
          <a:p>
            <a:r>
              <a:rPr lang="en-GB" sz="3000" b="1" dirty="0" err="1"/>
              <a:t>attr</a:t>
            </a:r>
            <a:r>
              <a:rPr lang="en-GB" sz="3000" dirty="0"/>
              <a:t> - thread attributes (OS dependent) - normally NULL;</a:t>
            </a:r>
          </a:p>
          <a:p>
            <a:r>
              <a:rPr lang="en-GB" sz="3000" b="1" dirty="0" err="1"/>
              <a:t>thread_function</a:t>
            </a:r>
            <a:r>
              <a:rPr lang="en-GB" sz="3000" b="1" dirty="0"/>
              <a:t> </a:t>
            </a:r>
            <a:r>
              <a:rPr lang="en-GB" sz="3000" dirty="0"/>
              <a:t>- the main thread function.</a:t>
            </a:r>
          </a:p>
          <a:p>
            <a:r>
              <a:rPr lang="en-GB" sz="3000" b="1" dirty="0" err="1"/>
              <a:t>targ</a:t>
            </a:r>
            <a:r>
              <a:rPr lang="en-GB" sz="3000" dirty="0"/>
              <a:t> - pointer to the parameter. Can be NULL;</a:t>
            </a:r>
          </a:p>
          <a:p>
            <a:r>
              <a:rPr lang="en-GB" sz="3000" dirty="0"/>
              <a:t>On success, </a:t>
            </a:r>
            <a:r>
              <a:rPr lang="en-GB" sz="3000" dirty="0" err="1"/>
              <a:t>pthread_create</a:t>
            </a:r>
            <a:r>
              <a:rPr lang="en-GB" sz="3000" dirty="0"/>
              <a:t>() returns 0; on error, it returns an error number</a:t>
            </a:r>
          </a:p>
          <a:p>
            <a:endParaRPr lang="en-GB" dirty="0"/>
          </a:p>
          <a:p>
            <a:endParaRPr lang="en-GB" dirty="0"/>
          </a:p>
        </p:txBody>
      </p:sp>
    </p:spTree>
    <p:extLst>
      <p:ext uri="{BB962C8B-B14F-4D97-AF65-F5344CB8AC3E}">
        <p14:creationId xmlns:p14="http://schemas.microsoft.com/office/powerpoint/2010/main" val="3392144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C81FB-CA54-4519-8F01-182ABD3E500B}"/>
              </a:ext>
            </a:extLst>
          </p:cNvPr>
          <p:cNvSpPr>
            <a:spLocks noGrp="1"/>
          </p:cNvSpPr>
          <p:nvPr>
            <p:ph type="title"/>
          </p:nvPr>
        </p:nvSpPr>
        <p:spPr/>
        <p:txBody>
          <a:bodyPr/>
          <a:lstStyle/>
          <a:p>
            <a:r>
              <a:rPr lang="en-GB" dirty="0" err="1"/>
              <a:t>pthread_join</a:t>
            </a:r>
            <a:r>
              <a:rPr lang="en-GB" dirty="0"/>
              <a:t>()</a:t>
            </a:r>
          </a:p>
        </p:txBody>
      </p:sp>
      <p:sp>
        <p:nvSpPr>
          <p:cNvPr id="3" name="Content Placeholder 2">
            <a:extLst>
              <a:ext uri="{FF2B5EF4-FFF2-40B4-BE49-F238E27FC236}">
                <a16:creationId xmlns:a16="http://schemas.microsoft.com/office/drawing/2014/main" id="{0B5F74C6-1817-425E-B815-5D4C6B9C8AF6}"/>
              </a:ext>
            </a:extLst>
          </p:cNvPr>
          <p:cNvSpPr>
            <a:spLocks noGrp="1"/>
          </p:cNvSpPr>
          <p:nvPr>
            <p:ph idx="1"/>
          </p:nvPr>
        </p:nvSpPr>
        <p:spPr/>
        <p:txBody>
          <a:bodyPr/>
          <a:lstStyle/>
          <a:p>
            <a:r>
              <a:rPr lang="en-GB" dirty="0"/>
              <a:t>int </a:t>
            </a:r>
            <a:r>
              <a:rPr lang="en-GB" dirty="0" err="1"/>
              <a:t>pthread_join</a:t>
            </a:r>
            <a:r>
              <a:rPr lang="en-GB" dirty="0"/>
              <a:t>(</a:t>
            </a:r>
            <a:r>
              <a:rPr lang="en-GB" dirty="0" err="1"/>
              <a:t>pthread_t</a:t>
            </a:r>
            <a:r>
              <a:rPr lang="en-GB" dirty="0"/>
              <a:t> </a:t>
            </a:r>
            <a:r>
              <a:rPr lang="en-GB" dirty="0" err="1"/>
              <a:t>threadID</a:t>
            </a:r>
            <a:r>
              <a:rPr lang="en-GB" dirty="0"/>
              <a:t>, </a:t>
            </a:r>
            <a:br>
              <a:rPr lang="en-GB" dirty="0"/>
            </a:br>
            <a:r>
              <a:rPr lang="en-GB" dirty="0"/>
              <a:t>  void **</a:t>
            </a:r>
            <a:r>
              <a:rPr lang="en-GB" dirty="0" err="1"/>
              <a:t>retval</a:t>
            </a:r>
            <a:r>
              <a:rPr lang="en-GB" dirty="0"/>
              <a:t>);</a:t>
            </a:r>
          </a:p>
          <a:p>
            <a:r>
              <a:rPr lang="en-GB" sz="2800" dirty="0"/>
              <a:t>Waits for the thread with </a:t>
            </a:r>
            <a:r>
              <a:rPr lang="en-GB" sz="2800" dirty="0" err="1"/>
              <a:t>threadID</a:t>
            </a:r>
            <a:r>
              <a:rPr lang="en-GB" sz="2800" dirty="0"/>
              <a:t> to finish.</a:t>
            </a:r>
          </a:p>
          <a:p>
            <a:r>
              <a:rPr lang="en-GB" sz="2800" b="1" dirty="0" err="1"/>
              <a:t>threadID</a:t>
            </a:r>
            <a:r>
              <a:rPr lang="en-GB" sz="2800" dirty="0"/>
              <a:t> - the id of the thread specified by </a:t>
            </a:r>
            <a:r>
              <a:rPr lang="en-GB" sz="2800" dirty="0" err="1"/>
              <a:t>pthread_create</a:t>
            </a:r>
            <a:r>
              <a:rPr lang="en-GB" sz="2800" dirty="0"/>
              <a:t>()</a:t>
            </a:r>
          </a:p>
          <a:p>
            <a:r>
              <a:rPr lang="en-GB" sz="2800" b="1" dirty="0" err="1"/>
              <a:t>retval</a:t>
            </a:r>
            <a:r>
              <a:rPr lang="en-GB" sz="2800" dirty="0"/>
              <a:t> - a thread can return a value via the function </a:t>
            </a:r>
            <a:r>
              <a:rPr lang="en-GB" sz="2800" dirty="0" err="1"/>
              <a:t>pthread_exit</a:t>
            </a:r>
            <a:r>
              <a:rPr lang="en-GB" sz="2800" dirty="0"/>
              <a:t>(). </a:t>
            </a:r>
            <a:r>
              <a:rPr lang="en-GB" sz="2800" dirty="0" err="1"/>
              <a:t>retval</a:t>
            </a:r>
            <a:r>
              <a:rPr lang="en-GB" sz="2800" dirty="0"/>
              <a:t> is a pointer to the return value.</a:t>
            </a:r>
          </a:p>
          <a:p>
            <a:r>
              <a:rPr lang="en-GB" sz="2800" dirty="0"/>
              <a:t>On success, </a:t>
            </a:r>
            <a:r>
              <a:rPr lang="en-GB" sz="2800" dirty="0" err="1"/>
              <a:t>pthread_join</a:t>
            </a:r>
            <a:r>
              <a:rPr lang="en-GB" sz="2800" dirty="0"/>
              <a:t>() returns 0; on error, it returns an error number.</a:t>
            </a:r>
          </a:p>
          <a:p>
            <a:endParaRPr lang="en-GB" dirty="0"/>
          </a:p>
        </p:txBody>
      </p:sp>
    </p:spTree>
    <p:extLst>
      <p:ext uri="{BB962C8B-B14F-4D97-AF65-F5344CB8AC3E}">
        <p14:creationId xmlns:p14="http://schemas.microsoft.com/office/powerpoint/2010/main" val="1934946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7E3F-99FC-4EF4-A5DC-7EB568CF96FE}"/>
              </a:ext>
            </a:extLst>
          </p:cNvPr>
          <p:cNvSpPr>
            <a:spLocks noGrp="1"/>
          </p:cNvSpPr>
          <p:nvPr>
            <p:ph type="title"/>
          </p:nvPr>
        </p:nvSpPr>
        <p:spPr/>
        <p:txBody>
          <a:bodyPr/>
          <a:lstStyle/>
          <a:p>
            <a:r>
              <a:rPr lang="en-GB" dirty="0"/>
              <a:t>Ending and returning results from a thread</a:t>
            </a:r>
          </a:p>
        </p:txBody>
      </p:sp>
      <p:sp>
        <p:nvSpPr>
          <p:cNvPr id="3" name="Content Placeholder 2">
            <a:extLst>
              <a:ext uri="{FF2B5EF4-FFF2-40B4-BE49-F238E27FC236}">
                <a16:creationId xmlns:a16="http://schemas.microsoft.com/office/drawing/2014/main" id="{9093314C-C750-461F-A3BE-11650923ABC4}"/>
              </a:ext>
            </a:extLst>
          </p:cNvPr>
          <p:cNvSpPr>
            <a:spLocks noGrp="1"/>
          </p:cNvSpPr>
          <p:nvPr>
            <p:ph idx="1"/>
          </p:nvPr>
        </p:nvSpPr>
        <p:spPr/>
        <p:txBody>
          <a:bodyPr/>
          <a:lstStyle/>
          <a:p>
            <a:r>
              <a:rPr lang="en-GB" sz="3600" dirty="0"/>
              <a:t>void </a:t>
            </a:r>
            <a:r>
              <a:rPr lang="en-GB" sz="3600" dirty="0" err="1"/>
              <a:t>pthread_exit</a:t>
            </a:r>
            <a:r>
              <a:rPr lang="en-GB" sz="3600" dirty="0"/>
              <a:t>(void *</a:t>
            </a:r>
            <a:r>
              <a:rPr lang="en-GB" sz="3600" dirty="0" err="1"/>
              <a:t>retval</a:t>
            </a:r>
            <a:r>
              <a:rPr lang="en-GB" sz="3600" dirty="0"/>
              <a:t>)</a:t>
            </a:r>
          </a:p>
          <a:p>
            <a:pPr lvl="1"/>
            <a:r>
              <a:rPr lang="en-GB" sz="3200" dirty="0"/>
              <a:t>This function terminates the calling thread and returns a value via the location pointed to by </a:t>
            </a:r>
            <a:r>
              <a:rPr lang="en-GB" sz="3200" dirty="0" err="1"/>
              <a:t>retval</a:t>
            </a:r>
            <a:r>
              <a:rPr lang="en-GB" sz="3200" dirty="0"/>
              <a:t>.</a:t>
            </a:r>
          </a:p>
          <a:p>
            <a:pPr lvl="1"/>
            <a:r>
              <a:rPr lang="en-GB" sz="3200" dirty="0" err="1"/>
              <a:t>retval</a:t>
            </a:r>
            <a:r>
              <a:rPr lang="en-GB" sz="3200" dirty="0"/>
              <a:t> must point to a valid memory location when the calling thread terminates.</a:t>
            </a:r>
          </a:p>
          <a:p>
            <a:pPr lvl="1"/>
            <a:r>
              <a:rPr lang="en-GB" sz="3200" dirty="0" err="1"/>
              <a:t>retval</a:t>
            </a:r>
            <a:r>
              <a:rPr lang="en-GB" sz="3200" dirty="0"/>
              <a:t> must not point to a local thread variable.</a:t>
            </a:r>
          </a:p>
        </p:txBody>
      </p:sp>
    </p:spTree>
    <p:extLst>
      <p:ext uri="{BB962C8B-B14F-4D97-AF65-F5344CB8AC3E}">
        <p14:creationId xmlns:p14="http://schemas.microsoft.com/office/powerpoint/2010/main" val="1645420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pthread_exit</a:t>
            </a:r>
            <a:r>
              <a:rPr lang="en-GB" dirty="0"/>
              <a:t>()</a:t>
            </a:r>
          </a:p>
        </p:txBody>
      </p:sp>
      <p:sp>
        <p:nvSpPr>
          <p:cNvPr id="3" name="Content Placeholder 2"/>
          <p:cNvSpPr>
            <a:spLocks noGrp="1"/>
          </p:cNvSpPr>
          <p:nvPr>
            <p:ph idx="1"/>
          </p:nvPr>
        </p:nvSpPr>
        <p:spPr/>
        <p:txBody>
          <a:bodyPr numCol="1">
            <a:normAutofit lnSpcReduction="10000"/>
          </a:bodyPr>
          <a:lstStyle/>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pthread.h</a:t>
            </a:r>
            <a:r>
              <a:rPr lang="en-GB" sz="2000" b="1" dirty="0">
                <a:latin typeface="Courier New" pitchFamily="49" charset="0"/>
                <a:cs typeface="Courier New" pitchFamily="49" charset="0"/>
              </a:rPr>
              <a:t>&gt;</a:t>
            </a:r>
          </a:p>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stdio.h</a:t>
            </a:r>
            <a:r>
              <a:rPr lang="en-GB" sz="2000" b="1" dirty="0">
                <a:latin typeface="Courier New" pitchFamily="49" charset="0"/>
                <a:cs typeface="Courier New" pitchFamily="49" charset="0"/>
              </a:rPr>
              <a:t>&gt;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char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 "Hello there!";</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(void *p){</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pthread_exit</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main(){</a:t>
            </a:r>
          </a:p>
          <a:p>
            <a:pPr>
              <a:buNone/>
            </a:pPr>
            <a:r>
              <a:rPr lang="en-GB" sz="2000" b="1" dirty="0">
                <a:latin typeface="Courier New" pitchFamily="49" charset="0"/>
                <a:cs typeface="Courier New" pitchFamily="49" charset="0"/>
              </a:rPr>
              <a:t>  void *pretval1;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pthread_t</a:t>
            </a:r>
            <a:r>
              <a:rPr lang="en-GB" sz="2000" b="1" dirty="0">
                <a:latin typeface="Courier New" pitchFamily="49" charset="0"/>
                <a:cs typeface="Courier New" pitchFamily="49" charset="0"/>
              </a:rPr>
              <a:t> thrID1;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pthread_create</a:t>
            </a:r>
            <a:r>
              <a:rPr lang="en-GB" sz="2000" b="1" dirty="0">
                <a:latin typeface="Courier New" pitchFamily="49" charset="0"/>
                <a:cs typeface="Courier New" pitchFamily="49" charset="0"/>
              </a:rPr>
              <a:t>(&amp;thrID1, NULL,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pthread_join</a:t>
            </a:r>
            <a:r>
              <a:rPr lang="en-GB" sz="2000" b="1" dirty="0">
                <a:latin typeface="Courier New" pitchFamily="49" charset="0"/>
                <a:cs typeface="Courier New" pitchFamily="49" charset="0"/>
              </a:rPr>
              <a:t>(thrID1, &amp;pretval1);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("*pretval1 = %s\n", (char *)pretval1);</a:t>
            </a:r>
          </a:p>
          <a:p>
            <a:pPr>
              <a:buNone/>
            </a:pPr>
            <a:r>
              <a:rPr lang="en-GB" sz="2000" b="1" dirty="0">
                <a:latin typeface="Courier New" pitchFamily="49" charset="0"/>
                <a:cs typeface="Courier New" pitchFamily="49" charset="0"/>
              </a:rPr>
              <a:t>}</a:t>
            </a:r>
          </a:p>
        </p:txBody>
      </p:sp>
    </p:spTree>
    <p:extLst>
      <p:ext uri="{BB962C8B-B14F-4D97-AF65-F5344CB8AC3E}">
        <p14:creationId xmlns:p14="http://schemas.microsoft.com/office/powerpoint/2010/main" val="2128721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Returning an int value</a:t>
            </a:r>
          </a:p>
        </p:txBody>
      </p:sp>
      <p:sp>
        <p:nvSpPr>
          <p:cNvPr id="3" name="Content Placeholder 2"/>
          <p:cNvSpPr>
            <a:spLocks noGrp="1"/>
          </p:cNvSpPr>
          <p:nvPr>
            <p:ph idx="1"/>
          </p:nvPr>
        </p:nvSpPr>
        <p:spPr/>
        <p:txBody>
          <a:bodyPr numCol="1">
            <a:normAutofit/>
          </a:bodyPr>
          <a:lstStyle/>
          <a:p>
            <a:pPr>
              <a:buNone/>
            </a:pPr>
            <a:r>
              <a:rPr lang="en-GB" sz="1800" b="1" dirty="0">
                <a:latin typeface="Courier New" pitchFamily="49" charset="0"/>
                <a:cs typeface="Courier New" pitchFamily="49" charset="0"/>
              </a:rPr>
              <a:t>int </a:t>
            </a:r>
            <a:r>
              <a:rPr lang="en-GB" sz="1800" b="1" dirty="0" err="1">
                <a:latin typeface="Courier New" pitchFamily="49" charset="0"/>
                <a:cs typeface="Courier New" pitchFamily="49" charset="0"/>
              </a:rPr>
              <a:t>gretval</a:t>
            </a:r>
            <a:r>
              <a:rPr lang="en-GB" sz="1800" b="1" dirty="0">
                <a:latin typeface="Courier New" pitchFamily="49" charset="0"/>
                <a:cs typeface="Courier New" pitchFamily="49" charset="0"/>
              </a:rPr>
              <a:t>=0;</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gretval</a:t>
            </a:r>
            <a:r>
              <a:rPr lang="en-GB" sz="1800" b="1" dirty="0">
                <a:latin typeface="Courier New" pitchFamily="49" charset="0"/>
                <a:cs typeface="Courier New" pitchFamily="49" charset="0"/>
              </a:rPr>
              <a:t> = 42;</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pthread_exit</a:t>
            </a:r>
            <a:r>
              <a:rPr lang="en-GB" sz="1800" b="1" dirty="0">
                <a:latin typeface="Courier New" pitchFamily="49" charset="0"/>
                <a:cs typeface="Courier New" pitchFamily="49" charset="0"/>
              </a:rPr>
              <a:t>(&amp;</a:t>
            </a:r>
            <a:r>
              <a:rPr lang="en-GB" sz="1800" b="1" dirty="0" err="1">
                <a:latin typeface="Courier New" pitchFamily="49" charset="0"/>
                <a:cs typeface="Courier New" pitchFamily="49" charset="0"/>
              </a:rPr>
              <a:t>gretval</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main(){</a:t>
            </a:r>
          </a:p>
          <a:p>
            <a:pPr>
              <a:buNone/>
            </a:pPr>
            <a:r>
              <a:rPr lang="en-GB" sz="1800" b="1" dirty="0">
                <a:latin typeface="Courier New" pitchFamily="49" charset="0"/>
                <a:cs typeface="Courier New" pitchFamily="49" charset="0"/>
              </a:rPr>
              <a:t>  void *pretval1;</a:t>
            </a:r>
          </a:p>
          <a:p>
            <a:pPr>
              <a:buNone/>
            </a:pPr>
            <a:r>
              <a:rPr lang="en-GB" sz="1800" b="1" dirty="0">
                <a:latin typeface="Courier New" pitchFamily="49" charset="0"/>
                <a:cs typeface="Courier New" pitchFamily="49" charset="0"/>
              </a:rPr>
              <a:t>  int </a:t>
            </a:r>
            <a:r>
              <a:rPr lang="en-GB" sz="1800" b="1" dirty="0" err="1">
                <a:latin typeface="Courier New" pitchFamily="49" charset="0"/>
                <a:cs typeface="Courier New" pitchFamily="49" charset="0"/>
              </a:rPr>
              <a:t>retval</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pthread_t</a:t>
            </a:r>
            <a:r>
              <a:rPr lang="en-GB" sz="1800" b="1" dirty="0">
                <a:latin typeface="Courier New" pitchFamily="49" charset="0"/>
                <a:cs typeface="Courier New" pitchFamily="49" charset="0"/>
              </a:rPr>
              <a:t> thrID1;</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pthread_create</a:t>
            </a:r>
            <a:r>
              <a:rPr lang="en-GB" sz="1800" b="1" dirty="0">
                <a:latin typeface="Courier New" pitchFamily="49" charset="0"/>
                <a:cs typeface="Courier New" pitchFamily="49" charset="0"/>
              </a:rPr>
              <a:t>(&amp;thrID1, NULL,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pthread_join</a:t>
            </a:r>
            <a:r>
              <a:rPr lang="en-GB" sz="1800" b="1" dirty="0">
                <a:latin typeface="Courier New" pitchFamily="49" charset="0"/>
                <a:cs typeface="Courier New" pitchFamily="49" charset="0"/>
              </a:rPr>
              <a:t>(thrID1, &amp;pretval1);</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retval</a:t>
            </a:r>
            <a:r>
              <a:rPr lang="en-GB" sz="1800" b="1" dirty="0">
                <a:latin typeface="Courier New" pitchFamily="49" charset="0"/>
                <a:cs typeface="Courier New" pitchFamily="49" charset="0"/>
              </a:rPr>
              <a:t>=*(int *)pretval1;</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printf</a:t>
            </a:r>
            <a:r>
              <a:rPr lang="en-GB" sz="1800" b="1" dirty="0">
                <a:latin typeface="Courier New" pitchFamily="49" charset="0"/>
                <a:cs typeface="Courier New" pitchFamily="49" charset="0"/>
              </a:rPr>
              <a:t>("*pretval1 = %d\n", </a:t>
            </a:r>
            <a:r>
              <a:rPr lang="en-GB" sz="1800" b="1" dirty="0" err="1">
                <a:latin typeface="Courier New" pitchFamily="49" charset="0"/>
                <a:cs typeface="Courier New" pitchFamily="49" charset="0"/>
              </a:rPr>
              <a:t>retval</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Return dynamic memory</a:t>
            </a:r>
          </a:p>
        </p:txBody>
      </p:sp>
      <p:sp>
        <p:nvSpPr>
          <p:cNvPr id="3" name="Content Placeholder 2"/>
          <p:cNvSpPr>
            <a:spLocks noGrp="1"/>
          </p:cNvSpPr>
          <p:nvPr>
            <p:ph idx="1"/>
          </p:nvPr>
        </p:nvSpPr>
        <p:spPr/>
        <p:txBody>
          <a:bodyPr numCol="1">
            <a:normAutofit/>
          </a:bodyPr>
          <a:lstStyle/>
          <a:p>
            <a:pPr>
              <a:buNone/>
            </a:pPr>
            <a:r>
              <a:rPr lang="en-GB" sz="2000" b="1" dirty="0">
                <a:latin typeface="Courier New" pitchFamily="49" charset="0"/>
                <a:cs typeface="Courier New" pitchFamily="49" charset="0"/>
              </a:rPr>
              <a:t>void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(void *p){</a:t>
            </a:r>
          </a:p>
          <a:p>
            <a:pPr>
              <a:buNone/>
            </a:pPr>
            <a:r>
              <a:rPr lang="en-GB" sz="2000" b="1" dirty="0">
                <a:latin typeface="Courier New" pitchFamily="49" charset="0"/>
                <a:cs typeface="Courier New" pitchFamily="49" charset="0"/>
              </a:rPr>
              <a:t>  char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malloc(1000);</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strcpy</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"Hello world!");  </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pthread_exit</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main(){</a:t>
            </a:r>
          </a:p>
          <a:p>
            <a:pPr>
              <a:buNone/>
            </a:pPr>
            <a:r>
              <a:rPr lang="en-GB" sz="2000" b="1" dirty="0">
                <a:latin typeface="Courier New" pitchFamily="49" charset="0"/>
                <a:cs typeface="Courier New" pitchFamily="49" charset="0"/>
              </a:rPr>
              <a:t>  void *</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pthread_t</a:t>
            </a:r>
            <a:r>
              <a:rPr lang="en-GB" sz="2000" b="1" dirty="0">
                <a:latin typeface="Courier New" pitchFamily="49" charset="0"/>
                <a:cs typeface="Courier New" pitchFamily="49" charset="0"/>
              </a:rPr>
              <a:t> thrID1;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pthread_create</a:t>
            </a:r>
            <a:r>
              <a:rPr lang="en-GB" sz="2000" b="1" dirty="0">
                <a:latin typeface="Courier New" pitchFamily="49" charset="0"/>
                <a:cs typeface="Courier New" pitchFamily="49" charset="0"/>
              </a:rPr>
              <a:t>(&amp;thrID1, NULL,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pthread_join</a:t>
            </a:r>
            <a:r>
              <a:rPr lang="en-GB" sz="2000" b="1" dirty="0">
                <a:latin typeface="Courier New" pitchFamily="49" charset="0"/>
                <a:cs typeface="Courier New" pitchFamily="49" charset="0"/>
              </a:rPr>
              <a:t>(thrID1, &amp;</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 = %s\n", (char *)</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free(</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a:t>
            </a:r>
          </a:p>
        </p:txBody>
      </p:sp>
    </p:spTree>
    <p:extLst>
      <p:ext uri="{BB962C8B-B14F-4D97-AF65-F5344CB8AC3E}">
        <p14:creationId xmlns:p14="http://schemas.microsoft.com/office/powerpoint/2010/main" val="1382621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Return dynamic memory</a:t>
            </a:r>
          </a:p>
        </p:txBody>
      </p:sp>
      <p:sp>
        <p:nvSpPr>
          <p:cNvPr id="3" name="Content Placeholder 2"/>
          <p:cNvSpPr>
            <a:spLocks noGrp="1"/>
          </p:cNvSpPr>
          <p:nvPr>
            <p:ph idx="1"/>
          </p:nvPr>
        </p:nvSpPr>
        <p:spPr/>
        <p:txBody>
          <a:bodyPr numCol="1">
            <a:normAutofit lnSpcReduction="10000"/>
          </a:bodyPr>
          <a:lstStyle/>
          <a:p>
            <a:pPr>
              <a:buNone/>
            </a:pPr>
            <a:r>
              <a:rPr lang="en-GB" sz="2000" b="1" dirty="0">
                <a:latin typeface="Courier New" pitchFamily="49" charset="0"/>
                <a:cs typeface="Courier New" pitchFamily="49" charset="0"/>
              </a:rPr>
              <a:t>void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(void *p){</a:t>
            </a:r>
          </a:p>
          <a:p>
            <a:pPr>
              <a:buNone/>
            </a:pPr>
            <a:r>
              <a:rPr lang="en-GB" sz="2000" b="1" dirty="0">
                <a:latin typeface="Courier New" pitchFamily="49" charset="0"/>
                <a:cs typeface="Courier New" pitchFamily="49" charset="0"/>
              </a:rPr>
              <a:t>  int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malloc(</a:t>
            </a:r>
            <a:r>
              <a:rPr lang="en-GB" sz="2000" b="1" dirty="0" err="1">
                <a:latin typeface="Courier New" pitchFamily="49" charset="0"/>
                <a:cs typeface="Courier New" pitchFamily="49" charset="0"/>
              </a:rPr>
              <a:t>sizeof</a:t>
            </a:r>
            <a:r>
              <a:rPr lang="en-GB" sz="2000" b="1" dirty="0">
                <a:latin typeface="Courier New" pitchFamily="49" charset="0"/>
                <a:cs typeface="Courier New" pitchFamily="49" charset="0"/>
              </a:rPr>
              <a:t>(int));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 42;</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pthread_exit</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main(){</a:t>
            </a:r>
          </a:p>
          <a:p>
            <a:pPr>
              <a:buNone/>
            </a:pPr>
            <a:r>
              <a:rPr lang="en-GB" sz="2000" b="1" dirty="0">
                <a:latin typeface="Courier New" pitchFamily="49" charset="0"/>
                <a:cs typeface="Courier New" pitchFamily="49" charset="0"/>
              </a:rPr>
              <a:t>  void *</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int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pthread_t</a:t>
            </a:r>
            <a:r>
              <a:rPr lang="en-GB" sz="2000" b="1" dirty="0">
                <a:latin typeface="Courier New" pitchFamily="49" charset="0"/>
                <a:cs typeface="Courier New" pitchFamily="49" charset="0"/>
              </a:rPr>
              <a:t> thrID1;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pthread_create</a:t>
            </a:r>
            <a:r>
              <a:rPr lang="en-GB" sz="2000" b="1" dirty="0">
                <a:latin typeface="Courier New" pitchFamily="49" charset="0"/>
                <a:cs typeface="Courier New" pitchFamily="49" charset="0"/>
              </a:rPr>
              <a:t>(&amp;thrID1, NULL, </a:t>
            </a:r>
            <a:r>
              <a:rPr lang="en-GB" sz="2000" b="1" dirty="0" err="1">
                <a:latin typeface="Courier New" pitchFamily="49" charset="0"/>
                <a:cs typeface="Courier New" pitchFamily="49" charset="0"/>
              </a:rPr>
              <a:t>threadOne</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pthread_join</a:t>
            </a:r>
            <a:r>
              <a:rPr lang="en-GB" sz="2000" b="1" dirty="0">
                <a:latin typeface="Courier New" pitchFamily="49" charset="0"/>
                <a:cs typeface="Courier New" pitchFamily="49" charset="0"/>
              </a:rPr>
              <a:t>(thrID1, &amp;</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=*(int *)</a:t>
            </a:r>
            <a:r>
              <a:rPr lang="en-GB" sz="2000" b="1" dirty="0" err="1">
                <a:latin typeface="Courier New" pitchFamily="49" charset="0"/>
                <a:cs typeface="Courier New" pitchFamily="49" charset="0"/>
              </a:rPr>
              <a:t>pretval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 = %d\n", </a:t>
            </a:r>
            <a:r>
              <a:rPr lang="en-GB" sz="2000" b="1" dirty="0" err="1">
                <a:latin typeface="Courier New" pitchFamily="49" charset="0"/>
                <a:cs typeface="Courier New" pitchFamily="49" charset="0"/>
              </a:rPr>
              <a:t>retval</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a:t>
            </a:r>
          </a:p>
        </p:txBody>
      </p:sp>
    </p:spTree>
    <p:extLst>
      <p:ext uri="{BB962C8B-B14F-4D97-AF65-F5344CB8AC3E}">
        <p14:creationId xmlns:p14="http://schemas.microsoft.com/office/powerpoint/2010/main" val="1779755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A7E3F-99FC-4EF4-A5DC-7EB568CF96FE}"/>
              </a:ext>
            </a:extLst>
          </p:cNvPr>
          <p:cNvSpPr>
            <a:spLocks noGrp="1"/>
          </p:cNvSpPr>
          <p:nvPr>
            <p:ph type="title"/>
          </p:nvPr>
        </p:nvSpPr>
        <p:spPr/>
        <p:txBody>
          <a:bodyPr/>
          <a:lstStyle/>
          <a:p>
            <a:r>
              <a:rPr lang="en-GB" dirty="0"/>
              <a:t>Cancelling a running thread</a:t>
            </a:r>
          </a:p>
        </p:txBody>
      </p:sp>
      <p:sp>
        <p:nvSpPr>
          <p:cNvPr id="3" name="Content Placeholder 2">
            <a:extLst>
              <a:ext uri="{FF2B5EF4-FFF2-40B4-BE49-F238E27FC236}">
                <a16:creationId xmlns:a16="http://schemas.microsoft.com/office/drawing/2014/main" id="{9093314C-C750-461F-A3BE-11650923ABC4}"/>
              </a:ext>
            </a:extLst>
          </p:cNvPr>
          <p:cNvSpPr>
            <a:spLocks noGrp="1"/>
          </p:cNvSpPr>
          <p:nvPr>
            <p:ph idx="1"/>
          </p:nvPr>
        </p:nvSpPr>
        <p:spPr/>
        <p:txBody>
          <a:bodyPr/>
          <a:lstStyle/>
          <a:p>
            <a:r>
              <a:rPr lang="en-GB" sz="3600" dirty="0"/>
              <a:t>int </a:t>
            </a:r>
            <a:r>
              <a:rPr lang="en-GB" sz="3600" dirty="0" err="1"/>
              <a:t>pthread_cancel</a:t>
            </a:r>
            <a:r>
              <a:rPr lang="en-GB" sz="3600" dirty="0"/>
              <a:t>(</a:t>
            </a:r>
            <a:r>
              <a:rPr lang="en-GB" sz="3600" dirty="0" err="1"/>
              <a:t>pthread_t</a:t>
            </a:r>
            <a:r>
              <a:rPr lang="en-GB" sz="3600" dirty="0"/>
              <a:t> thread)</a:t>
            </a:r>
          </a:p>
          <a:p>
            <a:pPr lvl="1"/>
            <a:r>
              <a:rPr lang="en-GB" dirty="0"/>
              <a:t>This function sends a cancellation request to the specified thread.</a:t>
            </a:r>
          </a:p>
          <a:p>
            <a:pPr lvl="1"/>
            <a:r>
              <a:rPr lang="en-GB" dirty="0"/>
              <a:t>The thread can be </a:t>
            </a:r>
            <a:r>
              <a:rPr lang="en-GB" dirty="0" err="1"/>
              <a:t>canceled</a:t>
            </a:r>
            <a:r>
              <a:rPr lang="en-GB" dirty="0"/>
              <a:t> at any time, usually immediately, but this is not guaranteed</a:t>
            </a:r>
          </a:p>
        </p:txBody>
      </p:sp>
    </p:spTree>
    <p:extLst>
      <p:ext uri="{BB962C8B-B14F-4D97-AF65-F5344CB8AC3E}">
        <p14:creationId xmlns:p14="http://schemas.microsoft.com/office/powerpoint/2010/main" val="440855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Cancelling a running thread</a:t>
            </a:r>
          </a:p>
        </p:txBody>
      </p:sp>
      <p:sp>
        <p:nvSpPr>
          <p:cNvPr id="3" name="Content Placeholder 2"/>
          <p:cNvSpPr>
            <a:spLocks noGrp="1"/>
          </p:cNvSpPr>
          <p:nvPr>
            <p:ph idx="1"/>
          </p:nvPr>
        </p:nvSpPr>
        <p:spPr/>
        <p:txBody>
          <a:bodyPr numCol="1">
            <a:normAutofit fontScale="92500" lnSpcReduction="20000"/>
          </a:bodyPr>
          <a:lstStyle/>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pthread.h</a:t>
            </a:r>
            <a:r>
              <a:rPr lang="en-GB" sz="2000" b="1" dirty="0">
                <a:latin typeface="Courier New" pitchFamily="49" charset="0"/>
                <a:cs typeface="Courier New" pitchFamily="49" charset="0"/>
              </a:rPr>
              <a:t>&gt;</a:t>
            </a:r>
          </a:p>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stdio.h</a:t>
            </a:r>
            <a:r>
              <a:rPr lang="en-GB" sz="2000" b="1" dirty="0">
                <a:latin typeface="Courier New" pitchFamily="49" charset="0"/>
                <a:cs typeface="Courier New" pitchFamily="49" charset="0"/>
              </a:rPr>
              <a:t>&gt;</a:t>
            </a:r>
          </a:p>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unistd.h</a:t>
            </a:r>
            <a:r>
              <a:rPr lang="en-GB" sz="2000" b="1" dirty="0">
                <a:latin typeface="Courier New" pitchFamily="49" charset="0"/>
                <a:cs typeface="Courier New" pitchFamily="49" charset="0"/>
              </a:rPr>
              <a:t>&gt;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a:t>
            </a:r>
            <a:r>
              <a:rPr lang="en-GB" sz="2000" b="1" dirty="0" err="1">
                <a:latin typeface="Courier New" pitchFamily="49" charset="0"/>
                <a:cs typeface="Courier New" pitchFamily="49" charset="0"/>
              </a:rPr>
              <a:t>threadFunc</a:t>
            </a:r>
            <a:r>
              <a:rPr lang="en-GB" sz="2000" b="1" dirty="0">
                <a:latin typeface="Courier New" pitchFamily="49" charset="0"/>
                <a:cs typeface="Courier New" pitchFamily="49" charset="0"/>
              </a:rPr>
              <a:t>(void *p){</a:t>
            </a:r>
          </a:p>
          <a:p>
            <a:pPr>
              <a:buNone/>
            </a:pPr>
            <a:r>
              <a:rPr lang="en-GB" sz="2000" b="1" dirty="0">
                <a:latin typeface="Courier New" pitchFamily="49" charset="0"/>
                <a:cs typeface="Courier New" pitchFamily="49" charset="0"/>
              </a:rPr>
              <a:t>  long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for(</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 0;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&lt;10000000;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 %</a:t>
            </a:r>
            <a:r>
              <a:rPr lang="en-GB" sz="2000" b="1" dirty="0" err="1">
                <a:latin typeface="Courier New" pitchFamily="49" charset="0"/>
                <a:cs typeface="Courier New" pitchFamily="49" charset="0"/>
              </a:rPr>
              <a:t>ld</a:t>
            </a:r>
            <a:r>
              <a:rPr lang="en-GB" sz="2000" b="1" dirty="0">
                <a:latin typeface="Courier New" pitchFamily="49" charset="0"/>
                <a:cs typeface="Courier New" pitchFamily="49" charset="0"/>
              </a:rPr>
              <a:t>\n",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p>
          <a:p>
            <a:pPr>
              <a:buNone/>
            </a:pPr>
            <a:r>
              <a:rPr lang="en-GB" sz="2000" b="1" dirty="0">
                <a:latin typeface="Courier New" pitchFamily="49" charset="0"/>
                <a:cs typeface="Courier New" pitchFamily="49" charset="0"/>
              </a:rPr>
              <a: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main(){</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pthread_t</a:t>
            </a: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pthread_create</a:t>
            </a:r>
            <a:r>
              <a:rPr lang="en-GB" sz="2000" b="1" dirty="0">
                <a:latin typeface="Courier New" pitchFamily="49" charset="0"/>
                <a:cs typeface="Courier New" pitchFamily="49" charset="0"/>
              </a:rPr>
              <a:t>(&amp;</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 NULL, </a:t>
            </a:r>
            <a:r>
              <a:rPr lang="en-GB" sz="2000" b="1" dirty="0" err="1">
                <a:latin typeface="Courier New" pitchFamily="49" charset="0"/>
                <a:cs typeface="Courier New" pitchFamily="49" charset="0"/>
              </a:rPr>
              <a:t>threadFunc</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  sleep(1);</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pthread_cancel</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pthread_join</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a:t>
            </a:r>
          </a:p>
        </p:txBody>
      </p:sp>
    </p:spTree>
    <p:extLst>
      <p:ext uri="{BB962C8B-B14F-4D97-AF65-F5344CB8AC3E}">
        <p14:creationId xmlns:p14="http://schemas.microsoft.com/office/powerpoint/2010/main" val="3008182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Cancelling a run-away thread</a:t>
            </a:r>
          </a:p>
        </p:txBody>
      </p:sp>
      <p:sp>
        <p:nvSpPr>
          <p:cNvPr id="3" name="Content Placeholder 2"/>
          <p:cNvSpPr>
            <a:spLocks noGrp="1"/>
          </p:cNvSpPr>
          <p:nvPr>
            <p:ph idx="1"/>
          </p:nvPr>
        </p:nvSpPr>
        <p:spPr/>
        <p:txBody>
          <a:bodyPr numCol="1">
            <a:normAutofit fontScale="77500" lnSpcReduction="20000"/>
          </a:bodyPr>
          <a:lstStyle/>
          <a:p>
            <a:pPr>
              <a:buNone/>
            </a:pPr>
            <a:r>
              <a:rPr lang="en-GB" sz="2000" b="1" dirty="0">
                <a:latin typeface="Courier New" pitchFamily="49" charset="0"/>
                <a:cs typeface="Courier New" pitchFamily="49" charset="0"/>
              </a:rPr>
              <a:t>#include &lt;</a:t>
            </a:r>
            <a:r>
              <a:rPr lang="en-GB" sz="2000" b="1" dirty="0" err="1">
                <a:latin typeface="Courier New" pitchFamily="49" charset="0"/>
                <a:cs typeface="Courier New" pitchFamily="49" charset="0"/>
              </a:rPr>
              <a:t>pthread.h</a:t>
            </a:r>
            <a:r>
              <a:rPr lang="en-GB" sz="2000" b="1" dirty="0">
                <a:latin typeface="Courier New" pitchFamily="49" charset="0"/>
                <a:cs typeface="Courier New" pitchFamily="49" charset="0"/>
              </a:rPr>
              <a:t>&gt;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int counter = 0;</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a:t>
            </a:r>
            <a:r>
              <a:rPr lang="en-GB" sz="2000" b="1" dirty="0" err="1">
                <a:latin typeface="Courier New" pitchFamily="49" charset="0"/>
                <a:cs typeface="Courier New" pitchFamily="49" charset="0"/>
              </a:rPr>
              <a:t>threadFunc</a:t>
            </a:r>
            <a:r>
              <a:rPr lang="en-GB" sz="2000" b="1" dirty="0">
                <a:latin typeface="Courier New" pitchFamily="49" charset="0"/>
                <a:cs typeface="Courier New" pitchFamily="49" charset="0"/>
              </a:rPr>
              <a:t>(void *p){</a:t>
            </a:r>
          </a:p>
          <a:p>
            <a:pPr>
              <a:buNone/>
            </a:pPr>
            <a:r>
              <a:rPr lang="en-GB" sz="2000" b="1" dirty="0">
                <a:latin typeface="Courier New" pitchFamily="49" charset="0"/>
                <a:cs typeface="Courier New" pitchFamily="49" charset="0"/>
              </a:rPr>
              <a:t>  long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for(</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 0;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&lt;1000000;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 = %</a:t>
            </a:r>
            <a:r>
              <a:rPr lang="en-GB" sz="2000" b="1" dirty="0" err="1">
                <a:latin typeface="Courier New" pitchFamily="49" charset="0"/>
                <a:cs typeface="Courier New" pitchFamily="49" charset="0"/>
              </a:rPr>
              <a:t>ld</a:t>
            </a:r>
            <a:r>
              <a:rPr lang="en-GB" sz="2000" b="1" dirty="0">
                <a:latin typeface="Courier New" pitchFamily="49" charset="0"/>
                <a:cs typeface="Courier New" pitchFamily="49" charset="0"/>
              </a:rPr>
              <a:t>\n",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counter = </a:t>
            </a:r>
            <a:r>
              <a:rPr lang="en-GB" sz="2000" b="1" dirty="0" err="1">
                <a:latin typeface="Courier New" pitchFamily="49" charset="0"/>
                <a:cs typeface="Courier New" pitchFamily="49" charset="0"/>
              </a:rPr>
              <a:t>i</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p>
          <a:p>
            <a:pPr>
              <a:buNone/>
            </a:pPr>
            <a:r>
              <a:rPr lang="en-GB" sz="2000" b="1" dirty="0">
                <a:latin typeface="Courier New" pitchFamily="49" charset="0"/>
                <a:cs typeface="Courier New" pitchFamily="49" charset="0"/>
              </a:rPr>
              <a:t>}</a:t>
            </a:r>
          </a:p>
          <a:p>
            <a:pPr>
              <a:buNone/>
            </a:pPr>
            <a:endParaRPr lang="en-GB" sz="2000" b="1" dirty="0">
              <a:latin typeface="Courier New" pitchFamily="49" charset="0"/>
              <a:cs typeface="Courier New" pitchFamily="49" charset="0"/>
            </a:endParaRPr>
          </a:p>
          <a:p>
            <a:pPr>
              <a:buNone/>
            </a:pPr>
            <a:r>
              <a:rPr lang="en-GB" sz="2000" b="1" dirty="0">
                <a:latin typeface="Courier New" pitchFamily="49" charset="0"/>
                <a:cs typeface="Courier New" pitchFamily="49" charset="0"/>
              </a:rPr>
              <a:t>void main(){</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pthread_t</a:t>
            </a: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pthread_create</a:t>
            </a:r>
            <a:r>
              <a:rPr lang="en-GB" sz="2000" b="1" dirty="0">
                <a:latin typeface="Courier New" pitchFamily="49" charset="0"/>
                <a:cs typeface="Courier New" pitchFamily="49" charset="0"/>
              </a:rPr>
              <a:t>(&amp;</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 NULL, </a:t>
            </a:r>
            <a:r>
              <a:rPr lang="en-GB" sz="2000" b="1" dirty="0" err="1">
                <a:latin typeface="Courier New" pitchFamily="49" charset="0"/>
                <a:cs typeface="Courier New" pitchFamily="49" charset="0"/>
              </a:rPr>
              <a:t>threadFunc</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  sleep(1);</a:t>
            </a:r>
          </a:p>
          <a:p>
            <a:pPr>
              <a:buNone/>
            </a:pPr>
            <a:r>
              <a:rPr lang="en-GB" sz="2000" b="1" dirty="0">
                <a:latin typeface="Courier New" pitchFamily="49" charset="0"/>
                <a:cs typeface="Courier New" pitchFamily="49" charset="0"/>
              </a:rPr>
              <a:t>  if (counter &lt; 100000){</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pthread_cancel</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printf</a:t>
            </a:r>
            <a:r>
              <a:rPr lang="en-GB" sz="2000" b="1" dirty="0">
                <a:latin typeface="Courier New" pitchFamily="49" charset="0"/>
                <a:cs typeface="Courier New" pitchFamily="49" charset="0"/>
              </a:rPr>
              <a:t>("Thread cancelled\n");</a:t>
            </a:r>
          </a:p>
          <a:p>
            <a:pPr>
              <a:buNone/>
            </a:pPr>
            <a:r>
              <a:rPr lang="en-GB" sz="2000" b="1" dirty="0">
                <a:latin typeface="Courier New" pitchFamily="49" charset="0"/>
                <a:cs typeface="Courier New" pitchFamily="49" charset="0"/>
              </a:rPr>
              <a:t>  }</a:t>
            </a:r>
          </a:p>
          <a:p>
            <a:pPr>
              <a:buNone/>
            </a:pPr>
            <a:r>
              <a:rPr lang="en-GB" sz="2000" b="1" dirty="0">
                <a:latin typeface="Courier New" pitchFamily="49" charset="0"/>
                <a:cs typeface="Courier New" pitchFamily="49" charset="0"/>
              </a:rPr>
              <a:t>  </a:t>
            </a:r>
            <a:r>
              <a:rPr lang="en-GB" sz="2000" b="1" dirty="0" err="1">
                <a:latin typeface="Courier New" pitchFamily="49" charset="0"/>
                <a:cs typeface="Courier New" pitchFamily="49" charset="0"/>
              </a:rPr>
              <a:t>pthread_join</a:t>
            </a:r>
            <a:r>
              <a:rPr lang="en-GB" sz="2000" b="1" dirty="0">
                <a:latin typeface="Courier New" pitchFamily="49" charset="0"/>
                <a:cs typeface="Courier New" pitchFamily="49" charset="0"/>
              </a:rPr>
              <a:t>(</a:t>
            </a:r>
            <a:r>
              <a:rPr lang="en-GB" sz="2000" b="1" dirty="0" err="1">
                <a:latin typeface="Courier New" pitchFamily="49" charset="0"/>
                <a:cs typeface="Courier New" pitchFamily="49" charset="0"/>
              </a:rPr>
              <a:t>thrID</a:t>
            </a:r>
            <a:r>
              <a:rPr lang="en-GB" sz="2000" b="1" dirty="0">
                <a:latin typeface="Courier New" pitchFamily="49" charset="0"/>
                <a:cs typeface="Courier New" pitchFamily="49" charset="0"/>
              </a:rPr>
              <a:t>, NULL);</a:t>
            </a:r>
          </a:p>
          <a:p>
            <a:pPr>
              <a:buNone/>
            </a:pPr>
            <a:r>
              <a:rPr lang="en-GB" sz="2000" b="1" dirty="0">
                <a:latin typeface="Courier New" pitchFamily="49" charset="0"/>
                <a:cs typeface="Courier New" pitchFamily="49" charset="0"/>
              </a:rPr>
              <a:t>}</a:t>
            </a:r>
          </a:p>
        </p:txBody>
      </p:sp>
    </p:spTree>
    <p:extLst>
      <p:ext uri="{BB962C8B-B14F-4D97-AF65-F5344CB8AC3E}">
        <p14:creationId xmlns:p14="http://schemas.microsoft.com/office/powerpoint/2010/main" val="2310383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Sections</a:t>
            </a:r>
          </a:p>
        </p:txBody>
      </p:sp>
      <p:sp>
        <p:nvSpPr>
          <p:cNvPr id="3" name="Content Placeholder 2"/>
          <p:cNvSpPr>
            <a:spLocks noGrp="1"/>
          </p:cNvSpPr>
          <p:nvPr>
            <p:ph idx="1"/>
          </p:nvPr>
        </p:nvSpPr>
        <p:spPr/>
        <p:txBody>
          <a:bodyPr/>
          <a:lstStyle/>
          <a:p>
            <a:r>
              <a:rPr lang="en-GB" dirty="0"/>
              <a:t>When multiple threads share global resources, they may interfere with each other</a:t>
            </a:r>
          </a:p>
          <a:p>
            <a:r>
              <a:rPr lang="en-GB" dirty="0"/>
              <a:t>We need a protection mechanism to prevent this interference </a:t>
            </a:r>
          </a:p>
          <a:p>
            <a:r>
              <a:rPr lang="en-GB" b="1" dirty="0"/>
              <a:t>Critical section </a:t>
            </a:r>
            <a:r>
              <a:rPr lang="en-GB" dirty="0"/>
              <a:t>- section of code that need this protection</a:t>
            </a:r>
          </a:p>
          <a:p>
            <a:endParaRPr lang="en-GB" dirty="0"/>
          </a:p>
        </p:txBody>
      </p:sp>
      <p:pic>
        <p:nvPicPr>
          <p:cNvPr id="4" name="Picture 3">
            <a:extLst>
              <a:ext uri="{FF2B5EF4-FFF2-40B4-BE49-F238E27FC236}">
                <a16:creationId xmlns:a16="http://schemas.microsoft.com/office/drawing/2014/main" id="{6C1FF1A4-CFDB-42DF-B6D1-DC1DAD6E6275}"/>
              </a:ext>
            </a:extLst>
          </p:cNvPr>
          <p:cNvPicPr>
            <a:picLocks noChangeAspect="1"/>
          </p:cNvPicPr>
          <p:nvPr/>
        </p:nvPicPr>
        <p:blipFill>
          <a:blip r:embed="rId2"/>
          <a:stretch>
            <a:fillRect/>
          </a:stretch>
        </p:blipFill>
        <p:spPr>
          <a:xfrm>
            <a:off x="2049150" y="4509120"/>
            <a:ext cx="8093700" cy="1800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Thread interference</a:t>
            </a:r>
          </a:p>
        </p:txBody>
      </p:sp>
      <p:sp>
        <p:nvSpPr>
          <p:cNvPr id="3" name="Content Placeholder 2"/>
          <p:cNvSpPr>
            <a:spLocks noGrp="1"/>
          </p:cNvSpPr>
          <p:nvPr>
            <p:ph idx="1"/>
          </p:nvPr>
        </p:nvSpPr>
        <p:spPr/>
        <p:txBody>
          <a:bodyPr numCol="2">
            <a:normAutofit lnSpcReduction="10000"/>
          </a:bodyPr>
          <a:lstStyle/>
          <a:p>
            <a:pPr>
              <a:buNone/>
            </a:pPr>
            <a:r>
              <a:rPr lang="en-GB" sz="1800" b="1" dirty="0" err="1">
                <a:latin typeface="Courier New" pitchFamily="49" charset="0"/>
                <a:cs typeface="Courier New" pitchFamily="49" charset="0"/>
              </a:rPr>
              <a:t>int</a:t>
            </a:r>
            <a:r>
              <a:rPr lang="en-GB" sz="1800" b="1" dirty="0">
                <a:latin typeface="Courier New" pitchFamily="49" charset="0"/>
                <a:cs typeface="Courier New" pitchFamily="49" charset="0"/>
              </a:rPr>
              <a:t> counter=0;</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counter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doSomething</a:t>
            </a:r>
            <a:r>
              <a:rPr lang="en-GB" sz="1800" b="1" dirty="0">
                <a:latin typeface="Courier New" pitchFamily="49" charset="0"/>
                <a:cs typeface="Courier New" pitchFamily="49" charset="0"/>
              </a:rPr>
              <a:t>(counter);</a:t>
            </a:r>
          </a:p>
          <a:p>
            <a:pPr>
              <a:buNone/>
            </a:pPr>
            <a:r>
              <a:rPr lang="en-GB" sz="1800" b="1" dirty="0">
                <a:latin typeface="Courier New" pitchFamily="49" charset="0"/>
                <a:cs typeface="Courier New" pitchFamily="49" charset="0"/>
              </a:rPr>
              <a:t> }</a:t>
            </a:r>
          </a:p>
          <a:p>
            <a:pPr>
              <a:buNone/>
            </a:pPr>
            <a:r>
              <a:rPr lang="en-GB" sz="1800" b="1" dirty="0">
                <a:latin typeface="Courier New" pitchFamily="49" charset="0"/>
                <a:cs typeface="Courier New" pitchFamily="49" charset="0"/>
              </a:rPr>
              <a:t>}</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a:t>
            </a:r>
            <a:r>
              <a:rPr lang="en-GB" sz="1800" b="1" dirty="0" err="1">
                <a:latin typeface="Courier New" pitchFamily="49" charset="0"/>
                <a:cs typeface="Courier New" pitchFamily="49" charset="0"/>
              </a:rPr>
              <a:t>threadTwo</a:t>
            </a:r>
            <a:r>
              <a:rPr lang="en-GB" sz="1800" b="1" dirty="0">
                <a:latin typeface="Courier New" pitchFamily="49" charset="0"/>
                <a:cs typeface="Courier New" pitchFamily="49" charset="0"/>
              </a:rPr>
              <a:t>(void *p)</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for(int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&lt;1000; </a:t>
            </a:r>
            <a:r>
              <a:rPr lang="en-GB" sz="1800" b="1" dirty="0" err="1">
                <a:latin typeface="Courier New" pitchFamily="49" charset="0"/>
                <a:cs typeface="Courier New" pitchFamily="49" charset="0"/>
              </a:rPr>
              <a:t>i</a:t>
            </a: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counter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doSomething</a:t>
            </a:r>
            <a:r>
              <a:rPr lang="en-GB" sz="1800" b="1" dirty="0">
                <a:latin typeface="Courier New" pitchFamily="49" charset="0"/>
                <a:cs typeface="Courier New" pitchFamily="49" charset="0"/>
              </a:rPr>
              <a:t>(counter);</a:t>
            </a:r>
          </a:p>
          <a:p>
            <a:pPr>
              <a:buNone/>
            </a:pPr>
            <a:r>
              <a:rPr lang="en-GB" sz="1800" b="1" dirty="0">
                <a:latin typeface="Courier New" pitchFamily="49" charset="0"/>
                <a:cs typeface="Courier New" pitchFamily="49" charset="0"/>
              </a:rPr>
              <a:t> }</a:t>
            </a:r>
          </a:p>
          <a:p>
            <a:pPr>
              <a:buNone/>
            </a:pPr>
            <a:r>
              <a:rPr lang="en-GB" sz="1800" b="1" dirty="0">
                <a:latin typeface="Courier New" pitchFamily="49" charset="0"/>
                <a:cs typeface="Courier New" pitchFamily="49" charset="0"/>
              </a:rPr>
              <a:t>}</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void main()</a:t>
            </a:r>
          </a:p>
          <a:p>
            <a:pPr>
              <a:buNone/>
            </a:pPr>
            <a:r>
              <a:rPr lang="en-GB" sz="1800" b="1" dirty="0">
                <a:latin typeface="Courier New" pitchFamily="49" charset="0"/>
                <a:cs typeface="Courier New" pitchFamily="49" charset="0"/>
              </a:rPr>
              <a:t>{</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pthread_t</a:t>
            </a:r>
            <a:r>
              <a:rPr lang="en-GB" sz="1800" b="1" dirty="0">
                <a:latin typeface="Courier New" pitchFamily="49" charset="0"/>
                <a:cs typeface="Courier New" pitchFamily="49" charset="0"/>
              </a:rPr>
              <a:t> thrID1, thrID2;</a:t>
            </a:r>
          </a:p>
          <a:p>
            <a:pPr>
              <a:buNone/>
            </a:pPr>
            <a:endParaRPr lang="en-GB" sz="1800" b="1" dirty="0">
              <a:latin typeface="Courier New" pitchFamily="49" charset="0"/>
              <a:cs typeface="Courier New" pitchFamily="49" charset="0"/>
            </a:endParaRP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pthread_create</a:t>
            </a:r>
            <a:r>
              <a:rPr lang="en-GB" sz="1800" b="1" dirty="0">
                <a:latin typeface="Courier New" pitchFamily="49" charset="0"/>
                <a:cs typeface="Courier New" pitchFamily="49" charset="0"/>
              </a:rPr>
              <a:t>(&amp;thrID1,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threadOne</a:t>
            </a:r>
            <a:r>
              <a:rPr lang="en-GB" sz="1800" b="1" dirty="0">
                <a:latin typeface="Courier New" pitchFamily="49" charset="0"/>
                <a:cs typeface="Courier New" pitchFamily="49" charset="0"/>
              </a:rPr>
              <a:t>,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pthread_create</a:t>
            </a:r>
            <a:r>
              <a:rPr lang="en-GB" sz="1800" b="1" dirty="0">
                <a:latin typeface="Courier New" pitchFamily="49" charset="0"/>
                <a:cs typeface="Courier New" pitchFamily="49" charset="0"/>
              </a:rPr>
              <a:t>(&amp;thrID2,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threadTwo</a:t>
            </a:r>
            <a:r>
              <a:rPr lang="en-GB" sz="1800" b="1" dirty="0">
                <a:latin typeface="Courier New" pitchFamily="49" charset="0"/>
                <a:cs typeface="Courier New" pitchFamily="49" charset="0"/>
              </a:rPr>
              <a:t>,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pthread_join</a:t>
            </a:r>
            <a:r>
              <a:rPr lang="en-GB" sz="1800" b="1" dirty="0">
                <a:latin typeface="Courier New" pitchFamily="49" charset="0"/>
                <a:cs typeface="Courier New" pitchFamily="49" charset="0"/>
              </a:rPr>
              <a:t>(thrID1, NULL);</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pthread_join</a:t>
            </a:r>
            <a:r>
              <a:rPr lang="en-GB" sz="1800" b="1" dirty="0">
                <a:latin typeface="Courier New" pitchFamily="49" charset="0"/>
                <a:cs typeface="Courier New" pitchFamily="49" charset="0"/>
              </a:rPr>
              <a:t>(thrID2, NULL);</a:t>
            </a:r>
          </a:p>
          <a:p>
            <a:pPr>
              <a:buNone/>
            </a:pPr>
            <a:r>
              <a:rPr lang="en-GB" sz="1800" b="1" dirty="0">
                <a:latin typeface="Courier New" pitchFamily="49" charset="0"/>
                <a:cs typeface="Courier New" pitchFamily="49" charset="0"/>
              </a:rPr>
              <a:t> </a:t>
            </a:r>
          </a:p>
          <a:p>
            <a:pPr>
              <a:buNone/>
            </a:pPr>
            <a:r>
              <a:rPr lang="en-GB" sz="1800" b="1" dirty="0">
                <a:latin typeface="Courier New" pitchFamily="49" charset="0"/>
                <a:cs typeface="Courier New" pitchFamily="49" charset="0"/>
              </a:rPr>
              <a:t> </a:t>
            </a:r>
            <a:r>
              <a:rPr lang="en-GB" sz="1800" b="1" dirty="0" err="1">
                <a:latin typeface="Courier New" pitchFamily="49" charset="0"/>
                <a:cs typeface="Courier New" pitchFamily="49" charset="0"/>
              </a:rPr>
              <a:t>printf</a:t>
            </a:r>
            <a:r>
              <a:rPr lang="en-GB" sz="1800" b="1" dirty="0">
                <a:latin typeface="Courier New" pitchFamily="49" charset="0"/>
                <a:cs typeface="Courier New" pitchFamily="49" charset="0"/>
              </a:rPr>
              <a:t>("Final counter = %d\n",</a:t>
            </a:r>
          </a:p>
          <a:p>
            <a:pPr>
              <a:buNone/>
            </a:pPr>
            <a:r>
              <a:rPr lang="en-GB" sz="1800" b="1" dirty="0">
                <a:latin typeface="Courier New" pitchFamily="49" charset="0"/>
                <a:cs typeface="Courier New" pitchFamily="49" charset="0"/>
              </a:rPr>
              <a:t>        counter);</a:t>
            </a:r>
          </a:p>
          <a:p>
            <a:pPr>
              <a:buNone/>
            </a:pPr>
            <a:r>
              <a:rPr lang="en-GB" sz="1800" b="1" dirty="0">
                <a:latin typeface="Courier New" pitchFamily="49" charset="0"/>
                <a:cs typeface="Courier New" pitchFamily="49" charset="0"/>
              </a:rPr>
              <a:t>}</a:t>
            </a:r>
          </a:p>
          <a:p>
            <a:pPr>
              <a:buNone/>
            </a:pPr>
            <a:endParaRPr lang="en-GB" sz="1800" b="1" dirty="0">
              <a:latin typeface="Courier New" pitchFamily="49" charset="0"/>
              <a:cs typeface="Courier New" pitchFamily="49" charset="0"/>
            </a:endParaRPr>
          </a:p>
          <a:p>
            <a:pPr>
              <a:buNone/>
            </a:pPr>
            <a:endParaRPr lang="en-GB" sz="1800" b="1" dirty="0">
              <a:latin typeface="Courier New" pitchFamily="49" charset="0"/>
              <a:cs typeface="Courier New" pitchFamily="49" charset="0"/>
            </a:endParaRPr>
          </a:p>
          <a:p>
            <a:pPr>
              <a:buNone/>
            </a:pPr>
            <a:endParaRPr lang="en-GB" sz="1800" b="1" dirty="0">
              <a:latin typeface="Courier New" pitchFamily="49" charset="0"/>
              <a:cs typeface="Courier New"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Critical Section</a:t>
            </a:r>
          </a:p>
        </p:txBody>
      </p:sp>
      <p:sp>
        <p:nvSpPr>
          <p:cNvPr id="3" name="Content Placeholder 2"/>
          <p:cNvSpPr>
            <a:spLocks noGrp="1"/>
          </p:cNvSpPr>
          <p:nvPr>
            <p:ph idx="1"/>
          </p:nvPr>
        </p:nvSpPr>
        <p:spPr/>
        <p:txBody>
          <a:bodyPr/>
          <a:lstStyle/>
          <a:p>
            <a:r>
              <a:rPr lang="en-GB" dirty="0"/>
              <a:t>The critical section that needs to be protected in this code is this bit in both threads:</a:t>
            </a:r>
          </a:p>
          <a:p>
            <a:endParaRPr lang="en-GB" dirty="0"/>
          </a:p>
          <a:p>
            <a:pPr>
              <a:buNone/>
            </a:pPr>
            <a:r>
              <a:rPr lang="en-GB" b="1" dirty="0">
                <a:latin typeface="Courier New" pitchFamily="49" charset="0"/>
                <a:cs typeface="Courier New" pitchFamily="49" charset="0"/>
              </a:rPr>
              <a:t> for(int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&lt;1000;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a:t>
            </a:r>
          </a:p>
          <a:p>
            <a:pPr>
              <a:buNone/>
            </a:pPr>
            <a:r>
              <a:rPr lang="en-GB" b="1" dirty="0">
                <a:solidFill>
                  <a:srgbClr val="FF0000"/>
                </a:solidFill>
                <a:latin typeface="Courier New" pitchFamily="49" charset="0"/>
                <a:cs typeface="Courier New" pitchFamily="49" charset="0"/>
              </a:rPr>
              <a:t>  counter = </a:t>
            </a:r>
            <a:r>
              <a:rPr lang="en-GB" b="1" dirty="0" err="1">
                <a:solidFill>
                  <a:srgbClr val="FF0000"/>
                </a:solidFill>
                <a:latin typeface="Courier New" pitchFamily="49" charset="0"/>
                <a:cs typeface="Courier New" pitchFamily="49" charset="0"/>
              </a:rPr>
              <a:t>doSomething</a:t>
            </a:r>
            <a:r>
              <a:rPr lang="en-GB" b="1" dirty="0">
                <a:solidFill>
                  <a:srgbClr val="FF0000"/>
                </a:solidFill>
                <a:latin typeface="Courier New" pitchFamily="49" charset="0"/>
                <a:cs typeface="Courier New" pitchFamily="49" charset="0"/>
              </a:rPr>
              <a:t>(counter);</a:t>
            </a:r>
          </a:p>
          <a:p>
            <a:pPr>
              <a:buNone/>
            </a:pPr>
            <a:r>
              <a:rPr lang="en-GB" b="1" dirty="0">
                <a:latin typeface="Courier New" pitchFamily="49" charset="0"/>
                <a:cs typeface="Courier New" pitchFamily="49" charset="0"/>
              </a:rPr>
              <a:t> }</a:t>
            </a:r>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Protecting Critical Sections</a:t>
            </a:r>
          </a:p>
        </p:txBody>
      </p:sp>
      <p:sp>
        <p:nvSpPr>
          <p:cNvPr id="3" name="Content Placeholder 2"/>
          <p:cNvSpPr>
            <a:spLocks noGrp="1"/>
          </p:cNvSpPr>
          <p:nvPr>
            <p:ph idx="1"/>
          </p:nvPr>
        </p:nvSpPr>
        <p:spPr/>
        <p:txBody>
          <a:bodyPr/>
          <a:lstStyle/>
          <a:p>
            <a:r>
              <a:rPr lang="en-GB" dirty="0"/>
              <a:t>The critical section is protected by </a:t>
            </a:r>
            <a:r>
              <a:rPr lang="en-GB" dirty="0" err="1"/>
              <a:t>mutex</a:t>
            </a:r>
            <a:r>
              <a:rPr lang="en-GB" dirty="0"/>
              <a:t>:</a:t>
            </a:r>
          </a:p>
          <a:p>
            <a:endParaRPr lang="en-GB" dirty="0"/>
          </a:p>
          <a:p>
            <a:pPr>
              <a:buNone/>
            </a:pPr>
            <a:r>
              <a:rPr lang="en-GB" b="1" dirty="0">
                <a:latin typeface="Courier New" pitchFamily="49" charset="0"/>
                <a:cs typeface="Courier New" pitchFamily="49" charset="0"/>
              </a:rPr>
              <a:t> for(</a:t>
            </a:r>
            <a:r>
              <a:rPr lang="en-GB" b="1" dirty="0" err="1">
                <a:latin typeface="Courier New" pitchFamily="49" charset="0"/>
                <a:cs typeface="Courier New" pitchFamily="49" charset="0"/>
              </a:rPr>
              <a:t>int</a:t>
            </a:r>
            <a:r>
              <a:rPr lang="en-GB" b="1" dirty="0">
                <a:latin typeface="Courier New" pitchFamily="49" charset="0"/>
                <a:cs typeface="Courier New" pitchFamily="49" charset="0"/>
              </a:rPr>
              <a:t>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&lt;100; </a:t>
            </a:r>
            <a:r>
              <a:rPr lang="en-GB" b="1" dirty="0" err="1">
                <a:latin typeface="Courier New" pitchFamily="49" charset="0"/>
                <a:cs typeface="Courier New" pitchFamily="49" charset="0"/>
              </a:rPr>
              <a:t>i</a:t>
            </a:r>
            <a:r>
              <a:rPr lang="en-GB" b="1" dirty="0">
                <a:latin typeface="Courier New" pitchFamily="49" charset="0"/>
                <a:cs typeface="Courier New" pitchFamily="49" charset="0"/>
              </a:rPr>
              <a:t>++){</a:t>
            </a:r>
          </a:p>
          <a:p>
            <a:pPr>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pthread_mutex_lock</a:t>
            </a:r>
            <a:r>
              <a:rPr lang="en-GB" b="1" dirty="0">
                <a:latin typeface="Courier New" pitchFamily="49" charset="0"/>
                <a:cs typeface="Courier New" pitchFamily="49" charset="0"/>
              </a:rPr>
              <a:t>(&amp;</a:t>
            </a:r>
            <a:r>
              <a:rPr lang="en-GB" b="1" dirty="0" err="1">
                <a:latin typeface="Courier New" pitchFamily="49" charset="0"/>
                <a:cs typeface="Courier New" pitchFamily="49" charset="0"/>
              </a:rPr>
              <a:t>mutex</a:t>
            </a:r>
            <a:r>
              <a:rPr lang="en-GB" b="1" dirty="0">
                <a:latin typeface="Courier New" pitchFamily="49" charset="0"/>
                <a:cs typeface="Courier New" pitchFamily="49" charset="0"/>
              </a:rPr>
              <a:t>);</a:t>
            </a:r>
          </a:p>
          <a:p>
            <a:pPr>
              <a:buNone/>
            </a:pPr>
            <a:r>
              <a:rPr lang="en-GB" b="1" dirty="0">
                <a:solidFill>
                  <a:srgbClr val="FF0000"/>
                </a:solidFill>
                <a:latin typeface="Courier New" pitchFamily="49" charset="0"/>
                <a:cs typeface="Courier New" pitchFamily="49" charset="0"/>
              </a:rPr>
              <a:t>  counter = </a:t>
            </a:r>
            <a:r>
              <a:rPr lang="en-GB" b="1" dirty="0" err="1">
                <a:solidFill>
                  <a:srgbClr val="FF0000"/>
                </a:solidFill>
                <a:latin typeface="Courier New" pitchFamily="49" charset="0"/>
                <a:cs typeface="Courier New" pitchFamily="49" charset="0"/>
              </a:rPr>
              <a:t>doSomething</a:t>
            </a:r>
            <a:r>
              <a:rPr lang="en-GB" b="1" dirty="0">
                <a:solidFill>
                  <a:srgbClr val="FF0000"/>
                </a:solidFill>
                <a:latin typeface="Courier New" pitchFamily="49" charset="0"/>
                <a:cs typeface="Courier New" pitchFamily="49" charset="0"/>
              </a:rPr>
              <a:t>(counter);</a:t>
            </a:r>
          </a:p>
          <a:p>
            <a:pPr>
              <a:buNone/>
            </a:pPr>
            <a:r>
              <a:rPr lang="en-GB" b="1" dirty="0">
                <a:latin typeface="Courier New" pitchFamily="49" charset="0"/>
                <a:cs typeface="Courier New" pitchFamily="49" charset="0"/>
              </a:rPr>
              <a:t>  </a:t>
            </a:r>
            <a:r>
              <a:rPr lang="en-GB" b="1" dirty="0" err="1">
                <a:latin typeface="Courier New" pitchFamily="49" charset="0"/>
                <a:cs typeface="Courier New" pitchFamily="49" charset="0"/>
              </a:rPr>
              <a:t>pthread_mutex_unlock</a:t>
            </a:r>
            <a:r>
              <a:rPr lang="en-GB" b="1" dirty="0">
                <a:latin typeface="Courier New" pitchFamily="49" charset="0"/>
                <a:cs typeface="Courier New" pitchFamily="49" charset="0"/>
              </a:rPr>
              <a:t>(&amp;</a:t>
            </a:r>
            <a:r>
              <a:rPr lang="en-GB" b="1" dirty="0" err="1">
                <a:latin typeface="Courier New" pitchFamily="49" charset="0"/>
                <a:cs typeface="Courier New" pitchFamily="49" charset="0"/>
              </a:rPr>
              <a:t>mutex</a:t>
            </a:r>
            <a:r>
              <a:rPr lang="en-GB" b="1" dirty="0">
                <a:latin typeface="Courier New" pitchFamily="49" charset="0"/>
                <a:cs typeface="Courier New" pitchFamily="49" charset="0"/>
              </a:rPr>
              <a:t>);</a:t>
            </a:r>
          </a:p>
          <a:p>
            <a:pPr>
              <a:buNone/>
            </a:pPr>
            <a:r>
              <a:rPr lang="en-GB" b="1" dirty="0">
                <a:latin typeface="Courier New" pitchFamily="49" charset="0"/>
                <a:cs typeface="Courier New" pitchFamily="49" charset="0"/>
              </a:rPr>
              <a:t> }</a:t>
            </a:r>
          </a:p>
          <a:p>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Pthread</a:t>
            </a:r>
            <a:r>
              <a:rPr lang="en-GB" dirty="0"/>
              <a:t> </a:t>
            </a:r>
            <a:r>
              <a:rPr lang="en-GB" dirty="0" err="1"/>
              <a:t>Mutex</a:t>
            </a:r>
            <a:r>
              <a:rPr lang="en-GB" dirty="0"/>
              <a:t> Functions</a:t>
            </a:r>
          </a:p>
        </p:txBody>
      </p:sp>
      <p:sp>
        <p:nvSpPr>
          <p:cNvPr id="3" name="Content Placeholder 2"/>
          <p:cNvSpPr>
            <a:spLocks noGrp="1"/>
          </p:cNvSpPr>
          <p:nvPr>
            <p:ph idx="1"/>
          </p:nvPr>
        </p:nvSpPr>
        <p:spPr/>
        <p:txBody>
          <a:bodyPr>
            <a:normAutofit fontScale="92500" lnSpcReduction="20000"/>
          </a:bodyPr>
          <a:lstStyle/>
          <a:p>
            <a:r>
              <a:rPr lang="en-GB" dirty="0" err="1"/>
              <a:t>pthread_mutex_init</a:t>
            </a:r>
            <a:r>
              <a:rPr lang="en-GB" dirty="0"/>
              <a:t> (</a:t>
            </a:r>
            <a:r>
              <a:rPr lang="en-GB" dirty="0" err="1"/>
              <a:t>mutex,attr</a:t>
            </a:r>
            <a:r>
              <a:rPr lang="en-GB" dirty="0"/>
              <a:t>)</a:t>
            </a:r>
          </a:p>
          <a:p>
            <a:pPr lvl="1"/>
            <a:r>
              <a:rPr lang="en-GB" dirty="0"/>
              <a:t>Initialises the </a:t>
            </a:r>
            <a:r>
              <a:rPr lang="en-GB" dirty="0" err="1"/>
              <a:t>mutex</a:t>
            </a:r>
            <a:r>
              <a:rPr lang="en-GB" dirty="0"/>
              <a:t>, "</a:t>
            </a:r>
            <a:r>
              <a:rPr lang="en-GB" dirty="0" err="1"/>
              <a:t>attr</a:t>
            </a:r>
            <a:r>
              <a:rPr lang="en-GB"/>
              <a:t>" is optional, and implementation dependent; </a:t>
            </a:r>
            <a:r>
              <a:rPr lang="en-GB" dirty="0"/>
              <a:t>should be set to NULL</a:t>
            </a:r>
          </a:p>
          <a:p>
            <a:r>
              <a:rPr lang="en-GB" dirty="0" err="1"/>
              <a:t>pthread_mutex_destroy</a:t>
            </a:r>
            <a:r>
              <a:rPr lang="en-GB" dirty="0"/>
              <a:t> (</a:t>
            </a:r>
            <a:r>
              <a:rPr lang="en-GB" dirty="0" err="1"/>
              <a:t>mutex</a:t>
            </a:r>
            <a:r>
              <a:rPr lang="en-GB" dirty="0"/>
              <a:t>) </a:t>
            </a:r>
          </a:p>
          <a:p>
            <a:pPr lvl="1"/>
            <a:r>
              <a:rPr lang="en-GB" dirty="0"/>
              <a:t>Frees the resources used by the </a:t>
            </a:r>
            <a:r>
              <a:rPr lang="en-GB" dirty="0" err="1"/>
              <a:t>mutex</a:t>
            </a:r>
            <a:endParaRPr lang="en-GB" dirty="0"/>
          </a:p>
          <a:p>
            <a:r>
              <a:rPr lang="en-GB" dirty="0" err="1"/>
              <a:t>pthread_mutex_lock</a:t>
            </a:r>
            <a:r>
              <a:rPr lang="en-GB" dirty="0"/>
              <a:t> (</a:t>
            </a:r>
            <a:r>
              <a:rPr lang="en-GB" dirty="0" err="1"/>
              <a:t>mutex</a:t>
            </a:r>
            <a:r>
              <a:rPr lang="en-GB" dirty="0"/>
              <a:t>)</a:t>
            </a:r>
          </a:p>
          <a:p>
            <a:pPr lvl="1"/>
            <a:r>
              <a:rPr lang="en-GB" dirty="0"/>
              <a:t>Locks the </a:t>
            </a:r>
            <a:r>
              <a:rPr lang="en-GB" dirty="0" err="1"/>
              <a:t>mutex</a:t>
            </a:r>
            <a:r>
              <a:rPr lang="en-GB" dirty="0"/>
              <a:t>. If the </a:t>
            </a:r>
            <a:r>
              <a:rPr lang="en-GB" dirty="0" err="1"/>
              <a:t>mutex</a:t>
            </a:r>
            <a:r>
              <a:rPr lang="en-GB" dirty="0"/>
              <a:t> is already locked by another thread, it will wait, until it acquires the lock</a:t>
            </a:r>
          </a:p>
          <a:p>
            <a:r>
              <a:rPr lang="en-GB" dirty="0" err="1"/>
              <a:t>pthread_mutex_unlock</a:t>
            </a:r>
            <a:r>
              <a:rPr lang="en-GB" dirty="0"/>
              <a:t> (</a:t>
            </a:r>
            <a:r>
              <a:rPr lang="en-GB" dirty="0" err="1"/>
              <a:t>mutex</a:t>
            </a:r>
            <a:r>
              <a:rPr lang="en-GB" dirty="0"/>
              <a:t>) </a:t>
            </a:r>
          </a:p>
          <a:p>
            <a:pPr lvl="1"/>
            <a:r>
              <a:rPr lang="en-GB" dirty="0"/>
              <a:t>Unlocks the </a:t>
            </a:r>
            <a:r>
              <a:rPr lang="en-GB" dirty="0" err="1"/>
              <a:t>mutex</a:t>
            </a:r>
            <a:r>
              <a:rPr lang="en-GB" dirty="0"/>
              <a:t>. If another thread is waiting to lock the </a:t>
            </a:r>
            <a:r>
              <a:rPr lang="en-GB" dirty="0" err="1"/>
              <a:t>mutex</a:t>
            </a:r>
            <a:r>
              <a:rPr lang="en-GB" dirty="0"/>
              <a:t>, the lock will be </a:t>
            </a:r>
            <a:r>
              <a:rPr lang="en-GB" dirty="0" err="1"/>
              <a:t>transfered</a:t>
            </a:r>
            <a:r>
              <a:rPr lang="en-GB" dirty="0"/>
              <a:t> to the waiting thread.</a:t>
            </a:r>
          </a:p>
          <a:p>
            <a:r>
              <a:rPr lang="en-GB" dirty="0" err="1"/>
              <a:t>pthread_mutex_t</a:t>
            </a:r>
            <a:endParaRPr lang="en-GB" dirty="0"/>
          </a:p>
          <a:p>
            <a:pPr lvl="1"/>
            <a:r>
              <a:rPr lang="en-GB" dirty="0"/>
              <a:t>This is the </a:t>
            </a:r>
            <a:r>
              <a:rPr lang="en-GB" dirty="0" err="1"/>
              <a:t>mutex</a:t>
            </a:r>
            <a:r>
              <a:rPr lang="en-GB" dirty="0"/>
              <a:t> </a:t>
            </a:r>
            <a:r>
              <a:rPr lang="en-GB" dirty="0" err="1"/>
              <a:t>datatype</a:t>
            </a:r>
            <a:r>
              <a:rPr lang="en-GB" dirty="0"/>
              <a:t>.</a:t>
            </a:r>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Deadlocks</a:t>
            </a:r>
          </a:p>
        </p:txBody>
      </p:sp>
      <p:sp>
        <p:nvSpPr>
          <p:cNvPr id="3" name="Content Placeholder 2"/>
          <p:cNvSpPr>
            <a:spLocks noGrp="1"/>
          </p:cNvSpPr>
          <p:nvPr>
            <p:ph idx="1"/>
          </p:nvPr>
        </p:nvSpPr>
        <p:spPr/>
        <p:txBody>
          <a:bodyPr/>
          <a:lstStyle/>
          <a:p>
            <a:r>
              <a:rPr lang="en-GB" dirty="0"/>
              <a:t>With mutex, there is the possibility of deadlocks.</a:t>
            </a:r>
          </a:p>
          <a:p>
            <a:r>
              <a:rPr lang="en-GB" dirty="0"/>
              <a:t>This is when all the threads are waiting for different mutexes which are locked by other threads. E.g.:</a:t>
            </a:r>
          </a:p>
          <a:p>
            <a:pPr lvl="1"/>
            <a:r>
              <a:rPr lang="en-GB" dirty="0"/>
              <a:t>Thread A locks </a:t>
            </a:r>
            <a:r>
              <a:rPr lang="en-GB" dirty="0" err="1"/>
              <a:t>Mutex</a:t>
            </a:r>
            <a:r>
              <a:rPr lang="en-GB" dirty="0"/>
              <a:t> 1</a:t>
            </a:r>
          </a:p>
          <a:p>
            <a:pPr lvl="1"/>
            <a:r>
              <a:rPr lang="en-GB" dirty="0"/>
              <a:t>Thread B locks </a:t>
            </a:r>
            <a:r>
              <a:rPr lang="en-GB" dirty="0" err="1"/>
              <a:t>Mutex</a:t>
            </a:r>
            <a:r>
              <a:rPr lang="en-GB" dirty="0"/>
              <a:t> 2</a:t>
            </a:r>
          </a:p>
          <a:p>
            <a:pPr lvl="1"/>
            <a:r>
              <a:rPr lang="en-GB" dirty="0"/>
              <a:t>Thread A attempts to lock </a:t>
            </a:r>
            <a:r>
              <a:rPr lang="en-GB" dirty="0" err="1"/>
              <a:t>Mutex</a:t>
            </a:r>
            <a:r>
              <a:rPr lang="en-GB" dirty="0"/>
              <a:t> 2</a:t>
            </a:r>
          </a:p>
          <a:p>
            <a:pPr lvl="1"/>
            <a:r>
              <a:rPr lang="en-GB" dirty="0"/>
              <a:t>Thread B attempts to lock </a:t>
            </a:r>
            <a:r>
              <a:rPr lang="en-GB" dirty="0" err="1"/>
              <a:t>Mutex</a:t>
            </a:r>
            <a:r>
              <a:rPr lang="en-GB" dirty="0"/>
              <a:t> 1</a:t>
            </a:r>
          </a:p>
          <a:p>
            <a:pPr lvl="1"/>
            <a:r>
              <a:rPr lang="en-GB" dirty="0"/>
              <a:t>Deadlock!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Avoiding deadlocks</a:t>
            </a:r>
          </a:p>
        </p:txBody>
      </p:sp>
      <p:sp>
        <p:nvSpPr>
          <p:cNvPr id="3" name="Content Placeholder 2"/>
          <p:cNvSpPr>
            <a:spLocks noGrp="1"/>
          </p:cNvSpPr>
          <p:nvPr>
            <p:ph idx="1"/>
          </p:nvPr>
        </p:nvSpPr>
        <p:spPr/>
        <p:txBody>
          <a:bodyPr/>
          <a:lstStyle/>
          <a:p>
            <a:r>
              <a:rPr lang="en-GB" sz="3600" dirty="0" err="1"/>
              <a:t>pthread_mutex_trylock</a:t>
            </a:r>
            <a:r>
              <a:rPr lang="en-GB" sz="3600" dirty="0"/>
              <a:t> (</a:t>
            </a:r>
            <a:r>
              <a:rPr lang="en-GB" sz="3600" dirty="0" err="1"/>
              <a:t>mutex</a:t>
            </a:r>
            <a:r>
              <a:rPr lang="en-GB" sz="3600" dirty="0"/>
              <a:t>) </a:t>
            </a:r>
          </a:p>
          <a:p>
            <a:pPr lvl="1"/>
            <a:r>
              <a:rPr lang="en-GB" sz="3200" dirty="0" err="1"/>
              <a:t>pthread_mutex_trylock</a:t>
            </a:r>
            <a:r>
              <a:rPr lang="en-GB" sz="3200" dirty="0"/>
              <a:t>() will attempt to lock a </a:t>
            </a:r>
            <a:r>
              <a:rPr lang="en-GB" sz="3200" dirty="0" err="1"/>
              <a:t>mutex</a:t>
            </a:r>
            <a:r>
              <a:rPr lang="en-GB" sz="3200" dirty="0"/>
              <a:t>. </a:t>
            </a:r>
          </a:p>
          <a:p>
            <a:pPr lvl="1"/>
            <a:r>
              <a:rPr lang="en-GB" sz="3200" dirty="0"/>
              <a:t>However, if the </a:t>
            </a:r>
            <a:r>
              <a:rPr lang="en-GB" sz="3200" dirty="0" err="1"/>
              <a:t>mutex</a:t>
            </a:r>
            <a:r>
              <a:rPr lang="en-GB" sz="3200" dirty="0"/>
              <a:t> is already locked, the routine will return immediately with a non-zero error code. </a:t>
            </a:r>
          </a:p>
          <a:p>
            <a:pPr lvl="1"/>
            <a:r>
              <a:rPr lang="en-GB" sz="3200" dirty="0"/>
              <a:t>This may be useful in preventing deadlock conditions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Semaphores</a:t>
            </a:r>
          </a:p>
        </p:txBody>
      </p:sp>
      <p:sp>
        <p:nvSpPr>
          <p:cNvPr id="3" name="Content Placeholder 2"/>
          <p:cNvSpPr>
            <a:spLocks noGrp="1"/>
          </p:cNvSpPr>
          <p:nvPr>
            <p:ph idx="1"/>
          </p:nvPr>
        </p:nvSpPr>
        <p:spPr/>
        <p:txBody>
          <a:bodyPr/>
          <a:lstStyle/>
          <a:p>
            <a:r>
              <a:rPr lang="en-GB" dirty="0"/>
              <a:t>Mutexes allow only one thread to enter a critical section at a time. </a:t>
            </a:r>
          </a:p>
          <a:p>
            <a:r>
              <a:rPr lang="en-GB" dirty="0"/>
              <a:t>This can have a significant performance impact when there are lots of threads</a:t>
            </a:r>
          </a:p>
          <a:p>
            <a:r>
              <a:rPr lang="en-GB" b="1" dirty="0"/>
              <a:t>Semaphores</a:t>
            </a:r>
            <a:r>
              <a:rPr lang="en-GB" dirty="0"/>
              <a:t> are an alternative method of synchronizing multiple threads</a:t>
            </a:r>
          </a:p>
          <a:p>
            <a:r>
              <a:rPr lang="en-GB" dirty="0"/>
              <a:t>This can allow multiple threads to access a "pool" of resources at the same time without interfering with each other.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Semaphore functions</a:t>
            </a:r>
          </a:p>
        </p:txBody>
      </p:sp>
      <p:sp>
        <p:nvSpPr>
          <p:cNvPr id="3" name="Content Placeholder 2"/>
          <p:cNvSpPr>
            <a:spLocks noGrp="1"/>
          </p:cNvSpPr>
          <p:nvPr>
            <p:ph idx="1"/>
          </p:nvPr>
        </p:nvSpPr>
        <p:spPr/>
        <p:txBody>
          <a:bodyPr>
            <a:normAutofit fontScale="92500" lnSpcReduction="10000"/>
          </a:bodyPr>
          <a:lstStyle/>
          <a:p>
            <a:r>
              <a:rPr lang="en-GB" dirty="0" err="1"/>
              <a:t>int</a:t>
            </a:r>
            <a:r>
              <a:rPr lang="en-GB" dirty="0"/>
              <a:t> </a:t>
            </a:r>
            <a:r>
              <a:rPr lang="en-GB" dirty="0" err="1"/>
              <a:t>sem_init</a:t>
            </a:r>
            <a:r>
              <a:rPr lang="en-GB" dirty="0"/>
              <a:t> (</a:t>
            </a:r>
            <a:r>
              <a:rPr lang="en-GB" dirty="0" err="1"/>
              <a:t>sem_t</a:t>
            </a:r>
            <a:r>
              <a:rPr lang="en-GB" dirty="0"/>
              <a:t> *</a:t>
            </a:r>
            <a:r>
              <a:rPr lang="en-GB" dirty="0" err="1"/>
              <a:t>sem</a:t>
            </a:r>
            <a:r>
              <a:rPr lang="en-GB" dirty="0"/>
              <a:t>, </a:t>
            </a:r>
            <a:r>
              <a:rPr lang="en-GB" dirty="0" err="1"/>
              <a:t>int</a:t>
            </a:r>
            <a:r>
              <a:rPr lang="en-GB" dirty="0"/>
              <a:t> </a:t>
            </a:r>
            <a:r>
              <a:rPr lang="en-GB" dirty="0" err="1"/>
              <a:t>pshared</a:t>
            </a:r>
            <a:r>
              <a:rPr lang="en-GB" dirty="0"/>
              <a:t>, unsigned </a:t>
            </a:r>
            <a:r>
              <a:rPr lang="en-GB" dirty="0" err="1"/>
              <a:t>int</a:t>
            </a:r>
            <a:r>
              <a:rPr lang="en-GB" dirty="0"/>
              <a:t> value) </a:t>
            </a:r>
          </a:p>
          <a:p>
            <a:pPr lvl="1"/>
            <a:r>
              <a:rPr lang="en-GB" dirty="0" err="1"/>
              <a:t>sem_init</a:t>
            </a:r>
            <a:r>
              <a:rPr lang="en-GB" dirty="0"/>
              <a:t> initializes the semaphore. The </a:t>
            </a:r>
            <a:r>
              <a:rPr lang="en-GB" dirty="0" err="1"/>
              <a:t>pshared</a:t>
            </a:r>
            <a:r>
              <a:rPr lang="en-GB" dirty="0"/>
              <a:t>  indicates whether the semaphore is local to the current process (0) or is to be shared between several processes (not zero)., The value is the initial count value of the semaphore.</a:t>
            </a:r>
          </a:p>
          <a:p>
            <a:r>
              <a:rPr lang="en-GB" dirty="0" err="1"/>
              <a:t>int</a:t>
            </a:r>
            <a:r>
              <a:rPr lang="en-GB" dirty="0"/>
              <a:t> </a:t>
            </a:r>
            <a:r>
              <a:rPr lang="en-GB" dirty="0" err="1"/>
              <a:t>sem_destroy</a:t>
            </a:r>
            <a:r>
              <a:rPr lang="en-GB" dirty="0"/>
              <a:t> (</a:t>
            </a:r>
            <a:r>
              <a:rPr lang="en-GB" dirty="0" err="1"/>
              <a:t>sem_t</a:t>
            </a:r>
            <a:r>
              <a:rPr lang="en-GB" dirty="0"/>
              <a:t> * </a:t>
            </a:r>
            <a:r>
              <a:rPr lang="en-GB" dirty="0" err="1"/>
              <a:t>sem</a:t>
            </a:r>
            <a:r>
              <a:rPr lang="en-GB" dirty="0"/>
              <a:t>) </a:t>
            </a:r>
          </a:p>
          <a:p>
            <a:pPr lvl="1"/>
            <a:r>
              <a:rPr lang="en-GB" dirty="0" err="1"/>
              <a:t>sem_destroy</a:t>
            </a:r>
            <a:r>
              <a:rPr lang="en-GB" dirty="0"/>
              <a:t> frees the resources held by the semaphore..</a:t>
            </a:r>
          </a:p>
          <a:p>
            <a:r>
              <a:rPr lang="en-GB" dirty="0" err="1"/>
              <a:t>int</a:t>
            </a:r>
            <a:r>
              <a:rPr lang="en-GB" dirty="0"/>
              <a:t> </a:t>
            </a:r>
            <a:r>
              <a:rPr lang="en-GB" dirty="0" err="1"/>
              <a:t>sem_wait</a:t>
            </a:r>
            <a:r>
              <a:rPr lang="en-GB" dirty="0"/>
              <a:t> (</a:t>
            </a:r>
            <a:r>
              <a:rPr lang="en-GB" dirty="0" err="1"/>
              <a:t>sem_t</a:t>
            </a:r>
            <a:r>
              <a:rPr lang="en-GB" dirty="0"/>
              <a:t> * </a:t>
            </a:r>
            <a:r>
              <a:rPr lang="en-GB" dirty="0" err="1"/>
              <a:t>sem</a:t>
            </a:r>
            <a:r>
              <a:rPr lang="en-GB" dirty="0"/>
              <a:t>)</a:t>
            </a:r>
          </a:p>
          <a:p>
            <a:pPr lvl="1"/>
            <a:r>
              <a:rPr lang="en-GB" dirty="0" err="1"/>
              <a:t>sem_wait</a:t>
            </a:r>
            <a:r>
              <a:rPr lang="en-GB" dirty="0"/>
              <a:t> suspends the calling thread until the semaphore pointed to by </a:t>
            </a:r>
            <a:r>
              <a:rPr lang="en-GB" dirty="0" err="1"/>
              <a:t>sem</a:t>
            </a:r>
            <a:r>
              <a:rPr lang="en-GB" dirty="0"/>
              <a:t> has non-zero count. It then  decreases the semaphore count.</a:t>
            </a:r>
          </a:p>
          <a:p>
            <a:r>
              <a:rPr lang="en-GB" dirty="0" err="1"/>
              <a:t>int</a:t>
            </a:r>
            <a:r>
              <a:rPr lang="en-GB" dirty="0"/>
              <a:t> </a:t>
            </a:r>
            <a:r>
              <a:rPr lang="en-GB" dirty="0" err="1"/>
              <a:t>sem_post</a:t>
            </a:r>
            <a:r>
              <a:rPr lang="en-GB" dirty="0"/>
              <a:t> (</a:t>
            </a:r>
            <a:r>
              <a:rPr lang="en-GB" dirty="0" err="1"/>
              <a:t>sem_t</a:t>
            </a:r>
            <a:r>
              <a:rPr lang="en-GB" dirty="0"/>
              <a:t> * </a:t>
            </a:r>
            <a:r>
              <a:rPr lang="en-GB" dirty="0" err="1"/>
              <a:t>sem</a:t>
            </a:r>
            <a:r>
              <a:rPr lang="en-GB" dirty="0"/>
              <a:t>) </a:t>
            </a:r>
          </a:p>
          <a:p>
            <a:pPr lvl="1"/>
            <a:r>
              <a:rPr lang="en-GB" dirty="0" err="1"/>
              <a:t>sem_post</a:t>
            </a:r>
            <a:r>
              <a:rPr lang="en-GB" dirty="0"/>
              <a:t> increases the count of the semaphore pointed to by sem. This function never blocks.</a:t>
            </a:r>
          </a:p>
        </p:txBody>
      </p:sp>
    </p:spTree>
    <p:extLst>
      <p:ext uri="{BB962C8B-B14F-4D97-AF65-F5344CB8AC3E}">
        <p14:creationId xmlns:p14="http://schemas.microsoft.com/office/powerpoint/2010/main" val="23154794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Simple Semaphore example</a:t>
            </a:r>
          </a:p>
        </p:txBody>
      </p:sp>
      <p:sp>
        <p:nvSpPr>
          <p:cNvPr id="3" name="Content Placeholder 2"/>
          <p:cNvSpPr>
            <a:spLocks noGrp="1"/>
          </p:cNvSpPr>
          <p:nvPr>
            <p:ph idx="1"/>
          </p:nvPr>
        </p:nvSpPr>
        <p:spPr/>
        <p:txBody>
          <a:bodyPr numCol="2">
            <a:normAutofit/>
          </a:bodyPr>
          <a:lstStyle/>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stdio.h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pthread.h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unistd.h</a:t>
            </a:r>
            <a:r>
              <a:rPr lang="en-GB" sz="1200" b="1" dirty="0">
                <a:latin typeface="Courier New" pitchFamily="49" charset="0"/>
                <a:cs typeface="Courier New" pitchFamily="49" charset="0"/>
              </a:rPr>
              <a:t>&gt;</a:t>
            </a:r>
          </a:p>
          <a:p>
            <a:pPr>
              <a:buNone/>
            </a:pPr>
            <a:r>
              <a:rPr lang="en-GB" sz="1200" b="1" dirty="0">
                <a:latin typeface="Courier New" pitchFamily="49" charset="0"/>
                <a:cs typeface="Courier New" pitchFamily="49" charset="0"/>
              </a:rPr>
              <a:t>#include &lt;</a:t>
            </a:r>
            <a:r>
              <a:rPr lang="en-GB" sz="1200" b="1" dirty="0" err="1">
                <a:latin typeface="Courier New" pitchFamily="49" charset="0"/>
                <a:cs typeface="Courier New" pitchFamily="49" charset="0"/>
              </a:rPr>
              <a:t>semaphore.h</a:t>
            </a:r>
            <a:r>
              <a:rPr lang="en-GB" sz="1200" b="1" dirty="0">
                <a:latin typeface="Courier New" pitchFamily="49" charset="0"/>
                <a:cs typeface="Courier New" pitchFamily="49" charset="0"/>
              </a:rPr>
              <a:t>&gt; </a:t>
            </a:r>
          </a:p>
          <a:p>
            <a:pPr>
              <a:buNone/>
            </a:pPr>
            <a:endParaRPr lang="en-GB" sz="1200" b="1" dirty="0">
              <a:latin typeface="Courier New" pitchFamily="49" charset="0"/>
              <a:cs typeface="Courier New" pitchFamily="49" charset="0"/>
            </a:endParaRPr>
          </a:p>
          <a:p>
            <a:pPr>
              <a:buNone/>
            </a:pPr>
            <a:r>
              <a:rPr lang="en-GB" sz="1200" b="1" dirty="0" err="1">
                <a:latin typeface="Courier New" pitchFamily="49" charset="0"/>
                <a:cs typeface="Courier New" pitchFamily="49" charset="0"/>
              </a:rPr>
              <a:t>sem_t</a:t>
            </a: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a:t>
            </a:r>
          </a:p>
          <a:p>
            <a:pPr>
              <a:buNone/>
            </a:pPr>
            <a:r>
              <a:rPr lang="en-GB" sz="1200" b="1" dirty="0">
                <a:latin typeface="Courier New" pitchFamily="49" charset="0"/>
                <a:cs typeface="Courier New" pitchFamily="49" charset="0"/>
              </a:rPr>
              <a:t>int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 3;</a:t>
            </a:r>
          </a:p>
          <a:p>
            <a:pPr>
              <a:buNone/>
            </a:pPr>
            <a:endParaRPr lang="en-GB" sz="1200" b="1" dirty="0">
              <a:latin typeface="Courier New" pitchFamily="49" charset="0"/>
              <a:cs typeface="Courier New" pitchFamily="49" charset="0"/>
            </a:endParaRPr>
          </a:p>
          <a:p>
            <a:pPr>
              <a:buNone/>
            </a:pPr>
            <a:r>
              <a:rPr lang="en-GB" sz="1200" b="1" dirty="0">
                <a:latin typeface="Courier New" pitchFamily="49" charset="0"/>
                <a:cs typeface="Courier New" pitchFamily="49" charset="0"/>
              </a:rPr>
              <a:t>void *borrower(void *p)</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for(int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 = 0;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&lt;=10; </a:t>
            </a:r>
            <a:r>
              <a:rPr lang="en-GB" sz="1200" b="1" dirty="0" err="1">
                <a:latin typeface="Courier New" pitchFamily="49" charset="0"/>
                <a:cs typeface="Courier New" pitchFamily="49" charset="0"/>
              </a:rPr>
              <a:t>i</a:t>
            </a:r>
            <a:r>
              <a:rPr lang="en-GB" sz="1200" b="1" dirty="0">
                <a:latin typeface="Courier New" pitchFamily="49" charset="0"/>
                <a:cs typeface="Courier New" pitchFamily="49" charset="0"/>
              </a:rPr>
              <a:t>++){</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wants to borrow a book. ",(int)p);</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sem_wait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//Borrowing a book</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gets a book. ", (int)p);</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usleep</a:t>
            </a:r>
            <a:r>
              <a:rPr lang="en-GB" sz="1200" b="1" dirty="0">
                <a:latin typeface="Courier New" pitchFamily="49" charset="0"/>
                <a:cs typeface="Courier New" pitchFamily="49" charset="0"/>
              </a:rPr>
              <a:t>(10000); //reading book</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("Borrower %d is returning a book. ", (int)p);</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booksAvailable</a:t>
            </a:r>
            <a:r>
              <a:rPr lang="en-GB" sz="1200" b="1" dirty="0">
                <a:latin typeface="Courier New" pitchFamily="49" charset="0"/>
                <a:cs typeface="Courier New" pitchFamily="49" charset="0"/>
              </a:rPr>
              <a:t>++; </a:t>
            </a:r>
          </a:p>
          <a:p>
            <a:pPr>
              <a:buNone/>
            </a:pPr>
            <a:r>
              <a:rPr lang="en-GB" sz="1200" b="1" dirty="0">
                <a:solidFill>
                  <a:schemeClr val="bg1">
                    <a:lumMod val="50000"/>
                  </a:schemeClr>
                </a:solidFill>
                <a:latin typeface="Courier New" pitchFamily="49" charset="0"/>
                <a:cs typeface="Courier New" pitchFamily="49" charset="0"/>
              </a:rPr>
              <a:t>    </a:t>
            </a:r>
            <a:r>
              <a:rPr lang="en-GB" sz="1200" b="1" dirty="0" err="1">
                <a:solidFill>
                  <a:schemeClr val="bg1">
                    <a:lumMod val="50000"/>
                  </a:schemeClr>
                </a:solidFill>
                <a:latin typeface="Courier New" pitchFamily="49" charset="0"/>
                <a:cs typeface="Courier New" pitchFamily="49" charset="0"/>
              </a:rPr>
              <a:t>printf</a:t>
            </a:r>
            <a:r>
              <a:rPr lang="en-GB" sz="1200" b="1" dirty="0">
                <a:solidFill>
                  <a:schemeClr val="bg1">
                    <a:lumMod val="50000"/>
                  </a:schemeClr>
                </a:solidFill>
                <a:latin typeface="Courier New" pitchFamily="49" charset="0"/>
                <a:cs typeface="Courier New" pitchFamily="49" charset="0"/>
              </a:rPr>
              <a:t>("Books available = %d\n",</a:t>
            </a:r>
            <a:r>
              <a:rPr lang="en-GB" sz="1200" b="1" dirty="0" err="1">
                <a:solidFill>
                  <a:schemeClr val="bg1">
                    <a:lumMod val="50000"/>
                  </a:schemeClr>
                </a:solidFill>
                <a:latin typeface="Courier New" pitchFamily="49" charset="0"/>
                <a:cs typeface="Courier New" pitchFamily="49" charset="0"/>
              </a:rPr>
              <a:t>booksAvailable</a:t>
            </a:r>
            <a:r>
              <a:rPr lang="en-GB" sz="1200" b="1" dirty="0">
                <a:solidFill>
                  <a:schemeClr val="bg1">
                    <a:lumMod val="50000"/>
                  </a:schemeClr>
                </a:solidFill>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sem_post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//Returning a book</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return NULL;</a:t>
            </a:r>
          </a:p>
          <a:p>
            <a:pPr>
              <a:buNone/>
            </a:pPr>
            <a:r>
              <a:rPr lang="en-GB" sz="1200" b="1">
                <a:latin typeface="Courier New" pitchFamily="49" charset="0"/>
                <a:cs typeface="Courier New" pitchFamily="49" charset="0"/>
              </a:rPr>
              <a:t>}</a:t>
            </a:r>
          </a:p>
          <a:p>
            <a:pPr>
              <a:buNone/>
            </a:pPr>
            <a:r>
              <a:rPr lang="en-GB" sz="1200" b="1">
                <a:latin typeface="Courier New" pitchFamily="49" charset="0"/>
                <a:cs typeface="Courier New" pitchFamily="49" charset="0"/>
              </a:rPr>
              <a:t>void </a:t>
            </a:r>
            <a:r>
              <a:rPr lang="en-GB" sz="1200" b="1" dirty="0">
                <a:latin typeface="Courier New" pitchFamily="49" charset="0"/>
                <a:cs typeface="Courier New" pitchFamily="49" charset="0"/>
              </a:rPr>
              <a:t>main()</a:t>
            </a:r>
          </a:p>
          <a:p>
            <a:pPr>
              <a:buNone/>
            </a:pP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pthread_t</a:t>
            </a:r>
            <a:r>
              <a:rPr lang="en-GB" sz="1200" b="1" dirty="0">
                <a:latin typeface="Courier New" pitchFamily="49" charset="0"/>
                <a:cs typeface="Courier New" pitchFamily="49" charset="0"/>
              </a:rPr>
              <a:t> thrID1, thrID2, thrID3;</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pthread_t</a:t>
            </a:r>
            <a:r>
              <a:rPr lang="en-GB" sz="1200" b="1" dirty="0">
                <a:latin typeface="Courier New" pitchFamily="49" charset="0"/>
                <a:cs typeface="Courier New" pitchFamily="49" charset="0"/>
              </a:rPr>
              <a:t> thrID4, thrID5, thrID6;</a:t>
            </a:r>
          </a:p>
          <a:p>
            <a:pPr>
              <a:buNone/>
            </a:pPr>
            <a:endParaRPr lang="en-GB" sz="1200" b="1" dirty="0">
              <a:latin typeface="Courier New" pitchFamily="49" charset="0"/>
              <a:cs typeface="Courier New" pitchFamily="49" charset="0"/>
            </a:endParaRP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sem_init</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 0, 3 ); </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(&amp;thrID1, NULL, borrower, (void *)1);</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(&amp;thrID2, NULL, borrower, (void *)2);</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(&amp;thrID3, NULL, borrower, (void *)3);</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(&amp;thrID4, NULL, borrower, (void *)4);</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(&amp;thrID5, NULL, borrower, (void *)5);</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pthread_create</a:t>
            </a:r>
            <a:r>
              <a:rPr lang="en-GB" sz="1200" b="1" dirty="0">
                <a:latin typeface="Courier New" pitchFamily="49" charset="0"/>
                <a:cs typeface="Courier New" pitchFamily="49" charset="0"/>
              </a:rPr>
              <a:t>(&amp;thrID6, NULL, borrower, (void *)6);</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(thrID1,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(thrID2,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(thrID3,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(thrID4,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(thrID5,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pthread_join</a:t>
            </a:r>
            <a:r>
              <a:rPr lang="en-GB" sz="1200" b="1" dirty="0">
                <a:latin typeface="Courier New" pitchFamily="49" charset="0"/>
                <a:cs typeface="Courier New" pitchFamily="49" charset="0"/>
              </a:rPr>
              <a:t>(thrID6, NULL);</a:t>
            </a:r>
          </a:p>
          <a:p>
            <a:pPr>
              <a:buNone/>
            </a:pPr>
            <a:r>
              <a:rPr lang="en-GB" sz="1200" b="1" dirty="0">
                <a:latin typeface="Courier New" pitchFamily="49" charset="0"/>
                <a:cs typeface="Courier New" pitchFamily="49" charset="0"/>
              </a:rPr>
              <a:t>  </a:t>
            </a:r>
            <a:r>
              <a:rPr lang="en-GB" sz="1200" b="1" dirty="0" err="1">
                <a:latin typeface="Courier New" pitchFamily="49" charset="0"/>
                <a:cs typeface="Courier New" pitchFamily="49" charset="0"/>
              </a:rPr>
              <a:t>sem_destroy</a:t>
            </a:r>
            <a:r>
              <a:rPr lang="en-GB" sz="1200" b="1" dirty="0">
                <a:latin typeface="Courier New" pitchFamily="49" charset="0"/>
                <a:cs typeface="Courier New" pitchFamily="49" charset="0"/>
              </a:rPr>
              <a:t>(&amp;</a:t>
            </a:r>
            <a:r>
              <a:rPr lang="en-GB" sz="1200" b="1" dirty="0" err="1">
                <a:latin typeface="Courier New" pitchFamily="49" charset="0"/>
                <a:cs typeface="Courier New" pitchFamily="49" charset="0"/>
              </a:rPr>
              <a:t>semaBooks</a:t>
            </a:r>
            <a:r>
              <a:rPr lang="en-GB" sz="1200" b="1" dirty="0">
                <a:latin typeface="Courier New" pitchFamily="49" charset="0"/>
                <a:cs typeface="Courier New" pitchFamily="49" charset="0"/>
              </a:rPr>
              <a:t>);</a:t>
            </a:r>
          </a:p>
          <a:p>
            <a:pPr>
              <a:buNone/>
            </a:pPr>
            <a:r>
              <a:rPr lang="en-GB" sz="1200" b="1" dirty="0">
                <a:latin typeface="Courier New" pitchFamily="49" charset="0"/>
                <a:cs typeface="Courier New" pitchFamily="49" charset="0"/>
              </a:rPr>
              <a:t>}</a:t>
            </a: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a:p>
            <a:pPr>
              <a:buNone/>
            </a:pPr>
            <a:endParaRPr lang="en-GB" sz="1000" b="1" dirty="0">
              <a:latin typeface="Courier New" pitchFamily="49" charset="0"/>
              <a:cs typeface="Courier New" pitchFamily="49" charset="0"/>
            </a:endParaRPr>
          </a:p>
        </p:txBody>
      </p:sp>
    </p:spTree>
    <p:extLst>
      <p:ext uri="{BB962C8B-B14F-4D97-AF65-F5344CB8AC3E}">
        <p14:creationId xmlns:p14="http://schemas.microsoft.com/office/powerpoint/2010/main" val="4281668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2691FF-2F06-4AE6-9F21-6ED76FA9AC47}"/>
              </a:ext>
            </a:extLst>
          </p:cNvPr>
          <p:cNvSpPr>
            <a:spLocks noGrp="1"/>
          </p:cNvSpPr>
          <p:nvPr>
            <p:ph type="ctrTitle"/>
          </p:nvPr>
        </p:nvSpPr>
        <p:spPr/>
        <p:txBody>
          <a:bodyPr/>
          <a:lstStyle/>
          <a:p>
            <a:r>
              <a:rPr lang="en-GB" dirty="0"/>
              <a:t>End of </a:t>
            </a:r>
            <a:r>
              <a:rPr lang="en-GB"/>
              <a:t>Lecture </a:t>
            </a:r>
            <a:endParaRPr lang="en-GB" dirty="0"/>
          </a:p>
        </p:txBody>
      </p:sp>
      <p:sp>
        <p:nvSpPr>
          <p:cNvPr id="5" name="Subtitle 4">
            <a:extLst>
              <a:ext uri="{FF2B5EF4-FFF2-40B4-BE49-F238E27FC236}">
                <a16:creationId xmlns:a16="http://schemas.microsoft.com/office/drawing/2014/main" id="{3B9D748A-B42E-4284-B700-E323C8A0F3CC}"/>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36244208"/>
      </p:ext>
    </p:extLst>
  </p:cSld>
  <p:clrMapOvr>
    <a:masterClrMapping/>
  </p:clrMapOvr>
</p:sld>
</file>

<file path=ppt/theme/theme1.xml><?xml version="1.0" encoding="utf-8"?>
<a:theme xmlns:a="http://schemas.openxmlformats.org/drawingml/2006/main" name="University Standard">
  <a:themeElements>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ow2">
      <a:majorFont>
        <a:latin typeface="Rockwel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uow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ow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ow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ow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ow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ow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ow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ow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ow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ow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ow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ow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3708</Words>
  <Application>Microsoft Office PowerPoint</Application>
  <PresentationFormat>Widescreen</PresentationFormat>
  <Paragraphs>465</Paragraphs>
  <Slides>40</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Arial Black</vt:lpstr>
      <vt:lpstr>Arial Regular</vt:lpstr>
      <vt:lpstr>Courier New</vt:lpstr>
      <vt:lpstr>Helvetica</vt:lpstr>
      <vt:lpstr>Rockwell</vt:lpstr>
      <vt:lpstr>University Standard</vt:lpstr>
      <vt:lpstr>6CS005 High Performance Computing</vt:lpstr>
      <vt:lpstr>What is Multitasking?</vt:lpstr>
      <vt:lpstr>Process States</vt:lpstr>
      <vt:lpstr>Flynn’s Taxonomy on Parallelism</vt:lpstr>
      <vt:lpstr>Single Instruction, Single Data (SISD)</vt:lpstr>
      <vt:lpstr>Multiple Instruction, Single Data (MISD)</vt:lpstr>
      <vt:lpstr>Single Instruction, Multiple Data (SIMD)</vt:lpstr>
      <vt:lpstr>Multiple Instruction, Multiple Data (MIMD)</vt:lpstr>
      <vt:lpstr>Concurrency and Parallelism</vt:lpstr>
      <vt:lpstr>What is Multithreading?</vt:lpstr>
      <vt:lpstr>Multitasking</vt:lpstr>
      <vt:lpstr>Distributed Computing</vt:lpstr>
      <vt:lpstr>Multithreading</vt:lpstr>
      <vt:lpstr>Why not Multithreading Everywhere?</vt:lpstr>
      <vt:lpstr>How to use threading in C?</vt:lpstr>
      <vt:lpstr>Pthreads Example</vt:lpstr>
      <vt:lpstr>Converting Single Thread to Multithreaded</vt:lpstr>
      <vt:lpstr>Multithreaded Version - 2 threads</vt:lpstr>
      <vt:lpstr>Any-Threaded Version</vt:lpstr>
      <vt:lpstr>pthread_create()</vt:lpstr>
      <vt:lpstr>pthread_join()</vt:lpstr>
      <vt:lpstr>Ending and returning results from a thread</vt:lpstr>
      <vt:lpstr>pthread_exit()</vt:lpstr>
      <vt:lpstr>Returning an int value</vt:lpstr>
      <vt:lpstr>Return dynamic memory</vt:lpstr>
      <vt:lpstr>Return dynamic memory</vt:lpstr>
      <vt:lpstr>Cancelling a running thread</vt:lpstr>
      <vt:lpstr>Cancelling a running thread</vt:lpstr>
      <vt:lpstr>Cancelling a run-away thread</vt:lpstr>
      <vt:lpstr>Critical Sections</vt:lpstr>
      <vt:lpstr>Thread interference</vt:lpstr>
      <vt:lpstr>Critical Section</vt:lpstr>
      <vt:lpstr>Protecting Critical Sections</vt:lpstr>
      <vt:lpstr>Pthread Mutex Functions</vt:lpstr>
      <vt:lpstr>Deadlocks</vt:lpstr>
      <vt:lpstr>Avoiding deadlocks</vt:lpstr>
      <vt:lpstr>Semaphores</vt:lpstr>
      <vt:lpstr>Semaphore functions</vt:lpstr>
      <vt:lpstr>Simple Semaphore example</vt:lpstr>
      <vt:lpstr>End of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Kasun Kosala</cp:lastModifiedBy>
  <cp:revision>2</cp:revision>
  <dcterms:created xsi:type="dcterms:W3CDTF">2020-10-05T23:43:52Z</dcterms:created>
  <dcterms:modified xsi:type="dcterms:W3CDTF">2026-06-21T00:45:21Z</dcterms:modified>
</cp:coreProperties>
</file>